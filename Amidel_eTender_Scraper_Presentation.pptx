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00800"/>
            <a:ext cx="12188952" cy="4572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079992" y="0"/>
            <a:ext cx="3108960" cy="6400800"/>
          </a:xfrm>
          <a:prstGeom prst="rect">
            <a:avLst/>
          </a:prstGeom>
          <a:solidFill>
            <a:srgbClr val="2544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79992" y="0"/>
            <a:ext cx="50292" cy="64008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2926080" cy="365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572768"/>
            <a:ext cx="2926080" cy="347472"/>
          </a:xfrm>
          <a:prstGeom prst="rect">
            <a:avLst/>
          </a:prstGeom>
          <a:noFill/>
        </p:spPr>
        <p:txBody>
          <a:bodyPr wrap="square">
            <a:spAutoFit/>
          </a:bodyPr>
          <a:lstStyle/>
          <a:p>
            <a:pPr algn="ctr"/>
            <a:r>
              <a:rPr sz="1000" b="1" i="0">
                <a:solidFill>
                  <a:srgbClr val="FFFFFF"/>
                </a:solidFill>
                <a:latin typeface="Segoe UI"/>
              </a:rPr>
              <a:t>PROCUREMENT INTELLIGENCE  ·  SOUTH AFRICA</a:t>
            </a:r>
          </a:p>
        </p:txBody>
      </p:sp>
      <p:sp>
        <p:nvSpPr>
          <p:cNvPr id="8" name="TextBox 7"/>
          <p:cNvSpPr txBox="1"/>
          <p:nvPr/>
        </p:nvSpPr>
        <p:spPr>
          <a:xfrm>
            <a:off x="640080" y="2011680"/>
            <a:ext cx="8686800" cy="1828800"/>
          </a:xfrm>
          <a:prstGeom prst="rect">
            <a:avLst/>
          </a:prstGeom>
          <a:noFill/>
        </p:spPr>
        <p:txBody>
          <a:bodyPr wrap="square">
            <a:spAutoFit/>
          </a:bodyPr>
          <a:lstStyle/>
          <a:p>
            <a:pPr algn="l"/>
            <a:r>
              <a:rPr sz="5200" b="1" i="0">
                <a:solidFill>
                  <a:srgbClr val="FFFFFF"/>
                </a:solidFill>
                <a:latin typeface="Segoe UI"/>
              </a:rPr>
              <a:t>Amidel
eTender Scraper</a:t>
            </a:r>
          </a:p>
        </p:txBody>
      </p:sp>
      <p:sp>
        <p:nvSpPr>
          <p:cNvPr id="9" name="TextBox 8"/>
          <p:cNvSpPr txBox="1"/>
          <p:nvPr/>
        </p:nvSpPr>
        <p:spPr>
          <a:xfrm>
            <a:off x="640080" y="3886200"/>
            <a:ext cx="8229600" cy="457200"/>
          </a:xfrm>
          <a:prstGeom prst="rect">
            <a:avLst/>
          </a:prstGeom>
          <a:noFill/>
        </p:spPr>
        <p:txBody>
          <a:bodyPr wrap="square">
            <a:spAutoFit/>
          </a:bodyPr>
          <a:lstStyle/>
          <a:p>
            <a:pPr algn="l"/>
            <a:r>
              <a:rPr sz="2000" b="0" i="1">
                <a:solidFill>
                  <a:srgbClr val="F5A000"/>
                </a:solidFill>
                <a:latin typeface="Segoe UI"/>
              </a:rPr>
              <a:t>Never miss a government tender again.</a:t>
            </a:r>
          </a:p>
        </p:txBody>
      </p:sp>
      <p:sp>
        <p:nvSpPr>
          <p:cNvPr id="10" name="TextBox 9"/>
          <p:cNvSpPr txBox="1"/>
          <p:nvPr/>
        </p:nvSpPr>
        <p:spPr>
          <a:xfrm>
            <a:off x="640080" y="4462272"/>
            <a:ext cx="8229600" cy="1280160"/>
          </a:xfrm>
          <a:prstGeom prst="rect">
            <a:avLst/>
          </a:prstGeom>
          <a:noFill/>
        </p:spPr>
        <p:txBody>
          <a:bodyPr wrap="square">
            <a:spAutoFit/>
          </a:bodyPr>
          <a:lstStyle/>
          <a:p>
            <a:pPr algn="l"/>
            <a:r>
              <a:rPr sz="1300" b="0" i="0">
                <a:solidFill>
                  <a:srgbClr val="E0E4EE"/>
                </a:solidFill>
                <a:latin typeface="Segoe UI"/>
              </a:rPr>
              <a:t>Automated daily monitoring of etenders.gov.za — structured reports, department-level breakdowns, and actionable tender intelligence delivered to your team without lifting a finger.</a:t>
            </a:r>
          </a:p>
        </p:txBody>
      </p:sp>
      <p:sp>
        <p:nvSpPr>
          <p:cNvPr id="11" name="TextBox 10"/>
          <p:cNvSpPr txBox="1"/>
          <p:nvPr/>
        </p:nvSpPr>
        <p:spPr>
          <a:xfrm>
            <a:off x="9262872" y="2560320"/>
            <a:ext cx="2743200" cy="1097280"/>
          </a:xfrm>
          <a:prstGeom prst="rect">
            <a:avLst/>
          </a:prstGeom>
          <a:noFill/>
        </p:spPr>
        <p:txBody>
          <a:bodyPr wrap="square">
            <a:spAutoFit/>
          </a:bodyPr>
          <a:lstStyle/>
          <a:p>
            <a:pPr algn="ctr"/>
            <a:r>
              <a:rPr sz="2200" b="1" i="0">
                <a:solidFill>
                  <a:srgbClr val="FFFFFF"/>
                </a:solidFill>
                <a:latin typeface="Segoe UI"/>
              </a:rPr>
              <a:t>Beyond
Technology</a:t>
            </a:r>
          </a:p>
        </p:txBody>
      </p:sp>
      <p:sp>
        <p:nvSpPr>
          <p:cNvPr id="12" name="TextBox 11"/>
          <p:cNvSpPr txBox="1"/>
          <p:nvPr/>
        </p:nvSpPr>
        <p:spPr>
          <a:xfrm>
            <a:off x="9262872" y="3749039"/>
            <a:ext cx="2743200" cy="365760"/>
          </a:xfrm>
          <a:prstGeom prst="rect">
            <a:avLst/>
          </a:prstGeom>
          <a:noFill/>
        </p:spPr>
        <p:txBody>
          <a:bodyPr wrap="square">
            <a:spAutoFit/>
          </a:bodyPr>
          <a:lstStyle/>
          <a:p>
            <a:pPr algn="ctr"/>
            <a:r>
              <a:rPr sz="1300" b="0" i="1">
                <a:solidFill>
                  <a:srgbClr val="F5A000"/>
                </a:solidFill>
                <a:latin typeface="Segoe UI"/>
              </a:rPr>
              <a:t>Amidel (Pty) Ltd</a:t>
            </a:r>
          </a:p>
        </p:txBody>
      </p:sp>
      <p:sp>
        <p:nvSpPr>
          <p:cNvPr id="13" name="TextBox 12"/>
          <p:cNvSpPr txBox="1"/>
          <p:nvPr/>
        </p:nvSpPr>
        <p:spPr>
          <a:xfrm>
            <a:off x="640080" y="6437376"/>
            <a:ext cx="8229600" cy="365760"/>
          </a:xfrm>
          <a:prstGeom prst="rect">
            <a:avLst/>
          </a:prstGeom>
          <a:noFill/>
        </p:spPr>
        <p:txBody>
          <a:bodyPr wrap="square">
            <a:spAutoFit/>
          </a:bodyPr>
          <a:lstStyle/>
          <a:p>
            <a:pPr algn="l"/>
            <a:r>
              <a:rPr sz="1000" b="0" i="0">
                <a:solidFill>
                  <a:srgbClr val="FFFFFF"/>
                </a:solidFill>
                <a:latin typeface="Segoe UI"/>
              </a:rPr>
              <a:t>Confidential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The Challenge</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Monitoring government tenders manually is unsustainable</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2 / 10</a:t>
            </a:r>
          </a:p>
        </p:txBody>
      </p:sp>
      <p:sp>
        <p:nvSpPr>
          <p:cNvPr id="9" name="Rectangle 8"/>
          <p:cNvSpPr/>
          <p:nvPr/>
        </p:nvSpPr>
        <p:spPr>
          <a:xfrm>
            <a:off x="411480" y="1508760"/>
            <a:ext cx="5394960" cy="141732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08760"/>
            <a:ext cx="50292" cy="141732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1636776"/>
            <a:ext cx="5193792" cy="1289304"/>
          </a:xfrm>
          <a:prstGeom prst="rect">
            <a:avLst/>
          </a:prstGeom>
          <a:noFill/>
        </p:spPr>
        <p:txBody>
          <a:bodyPr wrap="square">
            <a:spAutoFit/>
          </a:bodyPr>
          <a:lstStyle/>
          <a:p>
            <a:pPr algn="l"/>
            <a:r>
              <a:rPr sz="1400" b="1">
                <a:solidFill>
                  <a:srgbClr val="1C3880"/>
                </a:solidFill>
                <a:latin typeface="Segoe UI"/>
              </a:rPr>
              <a:t>Time-consuming</a:t>
            </a:r>
          </a:p>
          <a:p>
            <a:pPr algn="l"/>
            <a:r>
              <a:rPr sz="1200" b="0" i="0">
                <a:solidFill>
                  <a:srgbClr val="333344"/>
                </a:solidFill>
                <a:latin typeface="Segoe UI"/>
              </a:rPr>
              <a:t>• The eTenders portal must be checked every business day</a:t>
            </a:r>
          </a:p>
          <a:p>
            <a:pPr algn="l"/>
            <a:r>
              <a:rPr sz="1200" b="0" i="0">
                <a:solidFill>
                  <a:srgbClr val="333344"/>
                </a:solidFill>
                <a:latin typeface="Segoe UI"/>
              </a:rPr>
              <a:t>• Tenders span multiple pages — no bulk export available</a:t>
            </a:r>
          </a:p>
          <a:p>
            <a:pPr algn="l"/>
            <a:r>
              <a:rPr sz="1200" b="0" i="0">
                <a:solidFill>
                  <a:srgbClr val="333344"/>
                </a:solidFill>
                <a:latin typeface="Segoe UI"/>
              </a:rPr>
              <a:t>• Each listing must be opened individually to see full details</a:t>
            </a:r>
          </a:p>
        </p:txBody>
      </p:sp>
      <p:sp>
        <p:nvSpPr>
          <p:cNvPr id="12" name="Rectangle 11"/>
          <p:cNvSpPr/>
          <p:nvPr/>
        </p:nvSpPr>
        <p:spPr>
          <a:xfrm>
            <a:off x="6309360" y="1508760"/>
            <a:ext cx="5394960" cy="141732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508760"/>
            <a:ext cx="50292" cy="141732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636776"/>
            <a:ext cx="5193792" cy="1289304"/>
          </a:xfrm>
          <a:prstGeom prst="rect">
            <a:avLst/>
          </a:prstGeom>
          <a:noFill/>
        </p:spPr>
        <p:txBody>
          <a:bodyPr wrap="square">
            <a:spAutoFit/>
          </a:bodyPr>
          <a:lstStyle/>
          <a:p>
            <a:pPr algn="l"/>
            <a:r>
              <a:rPr sz="1400" b="1">
                <a:solidFill>
                  <a:srgbClr val="1C3880"/>
                </a:solidFill>
                <a:latin typeface="Segoe UI"/>
              </a:rPr>
              <a:t>Easy to miss opportunities</a:t>
            </a:r>
          </a:p>
          <a:p>
            <a:pPr algn="l"/>
            <a:r>
              <a:rPr sz="1200" b="0" i="0">
                <a:solidFill>
                  <a:srgbClr val="333344"/>
                </a:solidFill>
                <a:latin typeface="Segoe UI"/>
              </a:rPr>
              <a:t>• New tenders appear without notification</a:t>
            </a:r>
          </a:p>
          <a:p>
            <a:pPr algn="l"/>
            <a:r>
              <a:rPr sz="1200" b="0" i="0">
                <a:solidFill>
                  <a:srgbClr val="333344"/>
                </a:solidFill>
                <a:latin typeface="Segoe UI"/>
              </a:rPr>
              <a:t>• High-volume days mean relevant tenders get overlooked</a:t>
            </a:r>
          </a:p>
          <a:p>
            <a:pPr algn="l"/>
            <a:r>
              <a:rPr sz="1200" b="0" i="0">
                <a:solidFill>
                  <a:srgbClr val="333344"/>
                </a:solidFill>
                <a:latin typeface="Segoe UI"/>
              </a:rPr>
              <a:t>• Closing dates are easy to miss when checking manually</a:t>
            </a:r>
          </a:p>
        </p:txBody>
      </p:sp>
      <p:sp>
        <p:nvSpPr>
          <p:cNvPr id="15" name="Rectangle 14"/>
          <p:cNvSpPr/>
          <p:nvPr/>
        </p:nvSpPr>
        <p:spPr>
          <a:xfrm>
            <a:off x="411480" y="3090672"/>
            <a:ext cx="5394960" cy="141732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90672"/>
            <a:ext cx="50292" cy="141732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3218688"/>
            <a:ext cx="5193792" cy="1289304"/>
          </a:xfrm>
          <a:prstGeom prst="rect">
            <a:avLst/>
          </a:prstGeom>
          <a:noFill/>
        </p:spPr>
        <p:txBody>
          <a:bodyPr wrap="square">
            <a:spAutoFit/>
          </a:bodyPr>
          <a:lstStyle/>
          <a:p>
            <a:pPr algn="l"/>
            <a:r>
              <a:rPr sz="1400" b="1">
                <a:solidFill>
                  <a:srgbClr val="1C3880"/>
                </a:solidFill>
                <a:latin typeface="Segoe UI"/>
              </a:rPr>
              <a:t>No structured view</a:t>
            </a:r>
          </a:p>
          <a:p>
            <a:pPr algn="l"/>
            <a:r>
              <a:rPr sz="1200" b="0" i="0">
                <a:solidFill>
                  <a:srgbClr val="333344"/>
                </a:solidFill>
                <a:latin typeface="Segoe UI"/>
              </a:rPr>
              <a:t>• Website data is unstructured and inconsistent</a:t>
            </a:r>
          </a:p>
          <a:p>
            <a:pPr algn="l"/>
            <a:r>
              <a:rPr sz="1200" b="0" i="0">
                <a:solidFill>
                  <a:srgbClr val="333344"/>
                </a:solidFill>
                <a:latin typeface="Segoe UI"/>
              </a:rPr>
              <a:t>• ICT vs RFQ classification requires manual judgement</a:t>
            </a:r>
          </a:p>
          <a:p>
            <a:pPr algn="l"/>
            <a:r>
              <a:rPr sz="1200" b="0" i="0">
                <a:solidFill>
                  <a:srgbClr val="333344"/>
                </a:solidFill>
                <a:latin typeface="Segoe UI"/>
              </a:rPr>
              <a:t>• Briefing session details are buried inside each listing</a:t>
            </a:r>
          </a:p>
        </p:txBody>
      </p:sp>
      <p:sp>
        <p:nvSpPr>
          <p:cNvPr id="18" name="Rectangle 17"/>
          <p:cNvSpPr/>
          <p:nvPr/>
        </p:nvSpPr>
        <p:spPr>
          <a:xfrm>
            <a:off x="6309360" y="3090672"/>
            <a:ext cx="5394960" cy="141732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090672"/>
            <a:ext cx="50292" cy="141732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3218688"/>
            <a:ext cx="5193792" cy="1289304"/>
          </a:xfrm>
          <a:prstGeom prst="rect">
            <a:avLst/>
          </a:prstGeom>
          <a:noFill/>
        </p:spPr>
        <p:txBody>
          <a:bodyPr wrap="square">
            <a:spAutoFit/>
          </a:bodyPr>
          <a:lstStyle/>
          <a:p>
            <a:pPr algn="l"/>
            <a:r>
              <a:rPr sz="1400" b="1">
                <a:solidFill>
                  <a:srgbClr val="1C3880"/>
                </a:solidFill>
                <a:latin typeface="Segoe UI"/>
              </a:rPr>
              <a:t>No historical tracking</a:t>
            </a:r>
          </a:p>
          <a:p>
            <a:pPr algn="l"/>
            <a:r>
              <a:rPr sz="1200" b="0" i="0">
                <a:solidFill>
                  <a:srgbClr val="333344"/>
                </a:solidFill>
                <a:latin typeface="Segoe UI"/>
              </a:rPr>
              <a:t>• No built-in way to compare tender volumes across periods</a:t>
            </a:r>
          </a:p>
          <a:p>
            <a:pPr algn="l"/>
            <a:r>
              <a:rPr sz="1200" b="0" i="0">
                <a:solidFill>
                  <a:srgbClr val="333344"/>
                </a:solidFill>
                <a:latin typeface="Segoe UI"/>
              </a:rPr>
              <a:t>• Department-level counts must be compiled by hand</a:t>
            </a:r>
          </a:p>
          <a:p>
            <a:pPr algn="l"/>
            <a:r>
              <a:rPr sz="1200" b="0" i="0">
                <a:solidFill>
                  <a:srgbClr val="333344"/>
                </a:solidFill>
                <a:latin typeface="Segoe UI"/>
              </a:rPr>
              <a:t>• There is no audit trail of what was active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The Solution</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One click. Structured output. Every time.</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3 / 10</a:t>
            </a:r>
          </a:p>
        </p:txBody>
      </p:sp>
      <p:sp>
        <p:nvSpPr>
          <p:cNvPr id="9" name="TextBox 8"/>
          <p:cNvSpPr txBox="1"/>
          <p:nvPr/>
        </p:nvSpPr>
        <p:spPr>
          <a:xfrm>
            <a:off x="640080" y="1508760"/>
            <a:ext cx="10881360" cy="868680"/>
          </a:xfrm>
          <a:prstGeom prst="rect">
            <a:avLst/>
          </a:prstGeom>
          <a:noFill/>
        </p:spPr>
        <p:txBody>
          <a:bodyPr wrap="square">
            <a:spAutoFit/>
          </a:bodyPr>
          <a:lstStyle/>
          <a:p>
            <a:pPr algn="l"/>
            <a:r>
              <a:rPr sz="1500" b="0" i="0">
                <a:solidFill>
                  <a:srgbClr val="333344"/>
                </a:solidFill>
                <a:latin typeface="Segoe UI"/>
              </a:rPr>
              <a:t>The Amidel eTender Scraper automatically monitors etenders.gov.za on your behalf — collecting every relevant tender, classifying it, and delivering clean, structured reports directly to your team twice a week.</a:t>
            </a:r>
          </a:p>
        </p:txBody>
      </p:sp>
      <p:sp>
        <p:nvSpPr>
          <p:cNvPr id="10" name="Rectangle 9"/>
          <p:cNvSpPr/>
          <p:nvPr/>
        </p:nvSpPr>
        <p:spPr>
          <a:xfrm>
            <a:off x="502920" y="2514600"/>
            <a:ext cx="3291840" cy="347472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3291840" cy="6400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651760"/>
            <a:ext cx="3017520" cy="457200"/>
          </a:xfrm>
          <a:prstGeom prst="rect">
            <a:avLst/>
          </a:prstGeom>
          <a:noFill/>
        </p:spPr>
        <p:txBody>
          <a:bodyPr wrap="square">
            <a:spAutoFit/>
          </a:bodyPr>
          <a:lstStyle/>
          <a:p>
            <a:pPr algn="l"/>
            <a:r>
              <a:rPr sz="1800" b="1" i="0">
                <a:solidFill>
                  <a:srgbClr val="FFFFFF"/>
                </a:solidFill>
                <a:latin typeface="Segoe UI"/>
              </a:rPr>
              <a:t>Monitor</a:t>
            </a:r>
          </a:p>
        </p:txBody>
      </p:sp>
      <p:sp>
        <p:nvSpPr>
          <p:cNvPr id="13" name="TextBox 12"/>
          <p:cNvSpPr txBox="1"/>
          <p:nvPr/>
        </p:nvSpPr>
        <p:spPr>
          <a:xfrm>
            <a:off x="685800" y="3136392"/>
            <a:ext cx="3017520" cy="1005840"/>
          </a:xfrm>
          <a:prstGeom prst="rect">
            <a:avLst/>
          </a:prstGeom>
          <a:noFill/>
        </p:spPr>
        <p:txBody>
          <a:bodyPr wrap="square">
            <a:spAutoFit/>
          </a:bodyPr>
          <a:lstStyle/>
          <a:p>
            <a:pPr algn="l"/>
            <a:r>
              <a:rPr sz="1100" b="0" i="0">
                <a:solidFill>
                  <a:srgbClr val="E0E4EE"/>
                </a:solidFill>
                <a:latin typeface="Segoe UI"/>
              </a:rPr>
              <a:t>Automatically visits the eTenders portal for each day in the reporting period — no manual browsing required.</a:t>
            </a:r>
          </a:p>
        </p:txBody>
      </p:sp>
      <p:sp>
        <p:nvSpPr>
          <p:cNvPr id="14" name="TextBox 13"/>
          <p:cNvSpPr txBox="1"/>
          <p:nvPr/>
        </p:nvSpPr>
        <p:spPr>
          <a:xfrm>
            <a:off x="685800" y="4206240"/>
            <a:ext cx="3017520" cy="1645920"/>
          </a:xfrm>
          <a:prstGeom prst="rect">
            <a:avLst/>
          </a:prstGeom>
          <a:noFill/>
        </p:spPr>
        <p:txBody>
          <a:bodyPr wrap="square">
            <a:spAutoFit/>
          </a:bodyPr>
          <a:lstStyle/>
          <a:p>
            <a:pPr algn="l"/>
            <a:r>
              <a:rPr sz="1150">
                <a:solidFill>
                  <a:srgbClr val="F5A000"/>
                </a:solidFill>
                <a:latin typeface="Segoe UI"/>
              </a:rPr>
              <a:t>✓  Runs across Mon–Wed and Thu–Sun periods</a:t>
            </a:r>
          </a:p>
          <a:p>
            <a:pPr algn="l"/>
            <a:r>
              <a:rPr sz="1150">
                <a:solidFill>
                  <a:srgbClr val="F5A000"/>
                </a:solidFill>
                <a:latin typeface="Segoe UI"/>
              </a:rPr>
              <a:t>✓  Covers every tender listed, every day</a:t>
            </a:r>
          </a:p>
          <a:p>
            <a:pPr algn="l"/>
            <a:r>
              <a:rPr sz="1150">
                <a:solidFill>
                  <a:srgbClr val="F5A000"/>
                </a:solidFill>
                <a:latin typeface="Segoe UI"/>
              </a:rPr>
              <a:t>✓  Handles large volumes without errors</a:t>
            </a:r>
          </a:p>
          <a:p>
            <a:pPr algn="l"/>
            <a:r>
              <a:rPr sz="1150">
                <a:solidFill>
                  <a:srgbClr val="F5A000"/>
                </a:solidFill>
                <a:latin typeface="Segoe UI"/>
              </a:rPr>
              <a:t>✓  Duplicate detection built in</a:t>
            </a:r>
          </a:p>
        </p:txBody>
      </p:sp>
      <p:sp>
        <p:nvSpPr>
          <p:cNvPr id="15" name="Rectangle 14"/>
          <p:cNvSpPr/>
          <p:nvPr/>
        </p:nvSpPr>
        <p:spPr>
          <a:xfrm>
            <a:off x="4178808" y="2514600"/>
            <a:ext cx="3291840" cy="347472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78808" y="2514600"/>
            <a:ext cx="3291840" cy="6400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651760"/>
            <a:ext cx="3017520" cy="457200"/>
          </a:xfrm>
          <a:prstGeom prst="rect">
            <a:avLst/>
          </a:prstGeom>
          <a:noFill/>
        </p:spPr>
        <p:txBody>
          <a:bodyPr wrap="square">
            <a:spAutoFit/>
          </a:bodyPr>
          <a:lstStyle/>
          <a:p>
            <a:pPr algn="l"/>
            <a:r>
              <a:rPr sz="1800" b="1" i="0">
                <a:solidFill>
                  <a:srgbClr val="FFFFFF"/>
                </a:solidFill>
                <a:latin typeface="Segoe UI"/>
              </a:rPr>
              <a:t>Classify</a:t>
            </a:r>
          </a:p>
        </p:txBody>
      </p:sp>
      <p:sp>
        <p:nvSpPr>
          <p:cNvPr id="18" name="TextBox 17"/>
          <p:cNvSpPr txBox="1"/>
          <p:nvPr/>
        </p:nvSpPr>
        <p:spPr>
          <a:xfrm>
            <a:off x="4361688" y="3136392"/>
            <a:ext cx="3017520" cy="1005840"/>
          </a:xfrm>
          <a:prstGeom prst="rect">
            <a:avLst/>
          </a:prstGeom>
          <a:noFill/>
        </p:spPr>
        <p:txBody>
          <a:bodyPr wrap="square">
            <a:spAutoFit/>
          </a:bodyPr>
          <a:lstStyle/>
          <a:p>
            <a:pPr algn="l"/>
            <a:r>
              <a:rPr sz="1100" b="0" i="0">
                <a:solidFill>
                  <a:srgbClr val="E0E4EE"/>
                </a:solidFill>
                <a:latin typeface="Segoe UI"/>
              </a:rPr>
              <a:t>Every tender is categorised by type (RFQ, ICT, Open Tender) and matched to tracked departments automatically.</a:t>
            </a:r>
          </a:p>
        </p:txBody>
      </p:sp>
      <p:sp>
        <p:nvSpPr>
          <p:cNvPr id="19" name="TextBox 18"/>
          <p:cNvSpPr txBox="1"/>
          <p:nvPr/>
        </p:nvSpPr>
        <p:spPr>
          <a:xfrm>
            <a:off x="4361688" y="4206240"/>
            <a:ext cx="3017520" cy="1645920"/>
          </a:xfrm>
          <a:prstGeom prst="rect">
            <a:avLst/>
          </a:prstGeom>
          <a:noFill/>
        </p:spPr>
        <p:txBody>
          <a:bodyPr wrap="square">
            <a:spAutoFit/>
          </a:bodyPr>
          <a:lstStyle/>
          <a:p>
            <a:pPr algn="l"/>
            <a:r>
              <a:rPr sz="1150">
                <a:solidFill>
                  <a:srgbClr val="F5A000"/>
                </a:solidFill>
                <a:latin typeface="Segoe UI"/>
              </a:rPr>
              <a:t>✓  26 organs of state tracked</a:t>
            </a:r>
          </a:p>
          <a:p>
            <a:pPr algn="l"/>
            <a:r>
              <a:rPr sz="1150">
                <a:solidFill>
                  <a:srgbClr val="F5A000"/>
                </a:solidFill>
                <a:latin typeface="Segoe UI"/>
              </a:rPr>
              <a:t>✓  ICT and RFQ tenders flagged</a:t>
            </a:r>
          </a:p>
          <a:p>
            <a:pPr algn="l"/>
            <a:r>
              <a:rPr sz="1150">
                <a:solidFill>
                  <a:srgbClr val="F5A000"/>
                </a:solidFill>
                <a:latin typeface="Segoe UI"/>
              </a:rPr>
              <a:t>✓  Briefing session details captured</a:t>
            </a:r>
          </a:p>
          <a:p>
            <a:pPr algn="l"/>
            <a:r>
              <a:rPr sz="1150">
                <a:solidFill>
                  <a:srgbClr val="F5A000"/>
                </a:solidFill>
                <a:latin typeface="Segoe UI"/>
              </a:rPr>
              <a:t>✓  Department-level breakdowns produced</a:t>
            </a:r>
          </a:p>
        </p:txBody>
      </p:sp>
      <p:sp>
        <p:nvSpPr>
          <p:cNvPr id="20" name="Rectangle 19"/>
          <p:cNvSpPr/>
          <p:nvPr/>
        </p:nvSpPr>
        <p:spPr>
          <a:xfrm>
            <a:off x="7854696" y="2514600"/>
            <a:ext cx="3291840" cy="347472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54696" y="2514600"/>
            <a:ext cx="3291840" cy="6400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37576" y="2651760"/>
            <a:ext cx="3017520" cy="457200"/>
          </a:xfrm>
          <a:prstGeom prst="rect">
            <a:avLst/>
          </a:prstGeom>
          <a:noFill/>
        </p:spPr>
        <p:txBody>
          <a:bodyPr wrap="square">
            <a:spAutoFit/>
          </a:bodyPr>
          <a:lstStyle/>
          <a:p>
            <a:pPr algn="l"/>
            <a:r>
              <a:rPr sz="1800" b="1" i="0">
                <a:solidFill>
                  <a:srgbClr val="FFFFFF"/>
                </a:solidFill>
                <a:latin typeface="Segoe UI"/>
              </a:rPr>
              <a:t>Deliver</a:t>
            </a:r>
          </a:p>
        </p:txBody>
      </p:sp>
      <p:sp>
        <p:nvSpPr>
          <p:cNvPr id="23" name="TextBox 22"/>
          <p:cNvSpPr txBox="1"/>
          <p:nvPr/>
        </p:nvSpPr>
        <p:spPr>
          <a:xfrm>
            <a:off x="8037576" y="3136392"/>
            <a:ext cx="3017520" cy="1005840"/>
          </a:xfrm>
          <a:prstGeom prst="rect">
            <a:avLst/>
          </a:prstGeom>
          <a:noFill/>
        </p:spPr>
        <p:txBody>
          <a:bodyPr wrap="square">
            <a:spAutoFit/>
          </a:bodyPr>
          <a:lstStyle/>
          <a:p>
            <a:pPr algn="l"/>
            <a:r>
              <a:rPr sz="1100" b="0" i="0">
                <a:solidFill>
                  <a:srgbClr val="E0E4EE"/>
                </a:solidFill>
                <a:latin typeface="Segoe UI"/>
              </a:rPr>
              <a:t>Structured Excel reports are generated and saved immediately after each run — ready to share with your team.</a:t>
            </a:r>
          </a:p>
        </p:txBody>
      </p:sp>
      <p:sp>
        <p:nvSpPr>
          <p:cNvPr id="24" name="TextBox 23"/>
          <p:cNvSpPr txBox="1"/>
          <p:nvPr/>
        </p:nvSpPr>
        <p:spPr>
          <a:xfrm>
            <a:off x="8037576" y="4206240"/>
            <a:ext cx="3017520" cy="1645920"/>
          </a:xfrm>
          <a:prstGeom prst="rect">
            <a:avLst/>
          </a:prstGeom>
          <a:noFill/>
        </p:spPr>
        <p:txBody>
          <a:bodyPr wrap="square">
            <a:spAutoFit/>
          </a:bodyPr>
          <a:lstStyle/>
          <a:p>
            <a:pPr algn="l"/>
            <a:r>
              <a:rPr sz="1150">
                <a:solidFill>
                  <a:srgbClr val="F5A000"/>
                </a:solidFill>
                <a:latin typeface="Segoe UI"/>
              </a:rPr>
              <a:t>✓  Per-department Tender Summary</a:t>
            </a:r>
          </a:p>
          <a:p>
            <a:pPr algn="l"/>
            <a:r>
              <a:rPr sz="1150">
                <a:solidFill>
                  <a:srgbClr val="F5A000"/>
                </a:solidFill>
                <a:latin typeface="Segoe UI"/>
              </a:rPr>
              <a:t>✓  Combined RFQ &amp; ICT Checker file</a:t>
            </a:r>
          </a:p>
          <a:p>
            <a:pPr algn="l"/>
            <a:r>
              <a:rPr sz="1150">
                <a:solidFill>
                  <a:srgbClr val="F5A000"/>
                </a:solidFill>
                <a:latin typeface="Segoe UI"/>
              </a:rPr>
              <a:t>✓  Rolling 6-batch trend tracker</a:t>
            </a:r>
          </a:p>
          <a:p>
            <a:pPr algn="l"/>
            <a:r>
              <a:rPr sz="1150">
                <a:solidFill>
                  <a:srgbClr val="F5A000"/>
                </a:solidFill>
                <a:latin typeface="Segoe UI"/>
              </a:rPr>
              <a:t>✓  Clickable links to source documents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Who Benefits</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Any organisation that competes for — or tracks — government procurement</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4 / 10</a:t>
            </a:r>
          </a:p>
        </p:txBody>
      </p:sp>
      <p:sp>
        <p:nvSpPr>
          <p:cNvPr id="9" name="Rectangle 8"/>
          <p:cNvSpPr/>
          <p:nvPr/>
        </p:nvSpPr>
        <p:spPr>
          <a:xfrm>
            <a:off x="411480" y="150876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0876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1636776"/>
            <a:ext cx="5193792" cy="1380744"/>
          </a:xfrm>
          <a:prstGeom prst="rect">
            <a:avLst/>
          </a:prstGeom>
          <a:noFill/>
        </p:spPr>
        <p:txBody>
          <a:bodyPr wrap="square">
            <a:spAutoFit/>
          </a:bodyPr>
          <a:lstStyle/>
          <a:p>
            <a:pPr algn="l"/>
            <a:r>
              <a:rPr sz="1400" b="1">
                <a:solidFill>
                  <a:srgbClr val="1C3880"/>
                </a:solidFill>
                <a:latin typeface="Segoe UI"/>
              </a:rPr>
              <a:t>Sales &amp; Business Development</a:t>
            </a:r>
          </a:p>
          <a:p>
            <a:pPr algn="l"/>
            <a:r>
              <a:rPr sz="1200" b="0" i="0">
                <a:solidFill>
                  <a:srgbClr val="333344"/>
                </a:solidFill>
                <a:latin typeface="Segoe UI"/>
              </a:rPr>
              <a:t>• Never miss an RFQ or open tender in your sector</a:t>
            </a:r>
          </a:p>
          <a:p>
            <a:pPr algn="l"/>
            <a:r>
              <a:rPr sz="1200" b="0" i="0">
                <a:solidFill>
                  <a:srgbClr val="333344"/>
                </a:solidFill>
                <a:latin typeface="Segoe UI"/>
              </a:rPr>
              <a:t>• Get department-level counts delivered twice a week</a:t>
            </a:r>
          </a:p>
          <a:p>
            <a:pPr algn="l"/>
            <a:r>
              <a:rPr sz="1200" b="0" i="0">
                <a:solidFill>
                  <a:srgbClr val="333344"/>
                </a:solidFill>
                <a:latin typeface="Segoe UI"/>
              </a:rPr>
              <a:t>• Act on opportunities before competitors notice them</a:t>
            </a:r>
          </a:p>
          <a:p>
            <a:pPr algn="l"/>
            <a:r>
              <a:rPr sz="1200" b="0" i="0">
                <a:solidFill>
                  <a:srgbClr val="333344"/>
                </a:solidFill>
                <a:latin typeface="Segoe UI"/>
              </a:rPr>
              <a:t>• Briefing dates and compulsory attendance flagged upfront</a:t>
            </a:r>
          </a:p>
        </p:txBody>
      </p:sp>
      <p:sp>
        <p:nvSpPr>
          <p:cNvPr id="12" name="Rectangle 11"/>
          <p:cNvSpPr/>
          <p:nvPr/>
        </p:nvSpPr>
        <p:spPr>
          <a:xfrm>
            <a:off x="6309360" y="150876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50876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636776"/>
            <a:ext cx="5193792" cy="1380744"/>
          </a:xfrm>
          <a:prstGeom prst="rect">
            <a:avLst/>
          </a:prstGeom>
          <a:noFill/>
        </p:spPr>
        <p:txBody>
          <a:bodyPr wrap="square">
            <a:spAutoFit/>
          </a:bodyPr>
          <a:lstStyle/>
          <a:p>
            <a:pPr algn="l"/>
            <a:r>
              <a:rPr sz="1400" b="1">
                <a:solidFill>
                  <a:srgbClr val="1C3880"/>
                </a:solidFill>
                <a:latin typeface="Segoe UI"/>
              </a:rPr>
              <a:t>Procurement Intelligence Teams</a:t>
            </a:r>
          </a:p>
          <a:p>
            <a:pPr algn="l"/>
            <a:r>
              <a:rPr sz="1200" b="0" i="0">
                <a:solidFill>
                  <a:srgbClr val="333344"/>
                </a:solidFill>
                <a:latin typeface="Segoe UI"/>
              </a:rPr>
              <a:t>• Track tender volumes across 26 organs of state</a:t>
            </a:r>
          </a:p>
          <a:p>
            <a:pPr algn="l"/>
            <a:r>
              <a:rPr sz="1200" b="0" i="0">
                <a:solidFill>
                  <a:srgbClr val="333344"/>
                </a:solidFill>
                <a:latin typeface="Segoe UI"/>
              </a:rPr>
              <a:t>• Identify patterns — which departments are most active</a:t>
            </a:r>
          </a:p>
          <a:p>
            <a:pPr algn="l"/>
            <a:r>
              <a:rPr sz="1200" b="0" i="0">
                <a:solidFill>
                  <a:srgbClr val="333344"/>
                </a:solidFill>
                <a:latin typeface="Segoe UI"/>
              </a:rPr>
              <a:t>• Compare ICT vs RFQ ratios across reporting periods</a:t>
            </a:r>
          </a:p>
          <a:p>
            <a:pPr algn="l"/>
            <a:r>
              <a:rPr sz="1200" b="0" i="0">
                <a:solidFill>
                  <a:srgbClr val="333344"/>
                </a:solidFill>
                <a:latin typeface="Segoe UI"/>
              </a:rPr>
              <a:t>• Historical 6-batch rolling view for trend analysis</a:t>
            </a:r>
          </a:p>
        </p:txBody>
      </p:sp>
      <p:sp>
        <p:nvSpPr>
          <p:cNvPr id="15" name="Rectangle 14"/>
          <p:cNvSpPr/>
          <p:nvPr/>
        </p:nvSpPr>
        <p:spPr>
          <a:xfrm>
            <a:off x="411480" y="315468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5468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3282696"/>
            <a:ext cx="5193792" cy="1380744"/>
          </a:xfrm>
          <a:prstGeom prst="rect">
            <a:avLst/>
          </a:prstGeom>
          <a:noFill/>
        </p:spPr>
        <p:txBody>
          <a:bodyPr wrap="square">
            <a:spAutoFit/>
          </a:bodyPr>
          <a:lstStyle/>
          <a:p>
            <a:pPr algn="l"/>
            <a:r>
              <a:rPr sz="1400" b="1">
                <a:solidFill>
                  <a:srgbClr val="1C3880"/>
                </a:solidFill>
                <a:latin typeface="Segoe UI"/>
              </a:rPr>
              <a:t>Executive Reporting</a:t>
            </a:r>
          </a:p>
          <a:p>
            <a:pPr algn="l"/>
            <a:r>
              <a:rPr sz="1200" b="0" i="0">
                <a:solidFill>
                  <a:srgbClr val="333344"/>
                </a:solidFill>
                <a:latin typeface="Segoe UI"/>
              </a:rPr>
              <a:t>• Clean, audit-ready Excel reports every batch cycle</a:t>
            </a:r>
          </a:p>
          <a:p>
            <a:pPr algn="l"/>
            <a:r>
              <a:rPr sz="1200" b="0" i="0">
                <a:solidFill>
                  <a:srgbClr val="333344"/>
                </a:solidFill>
                <a:latin typeface="Segoe UI"/>
              </a:rPr>
              <a:t>• Summary counts ready to paste into board packs</a:t>
            </a:r>
          </a:p>
          <a:p>
            <a:pPr algn="l"/>
            <a:r>
              <a:rPr sz="1200" b="0" i="0">
                <a:solidFill>
                  <a:srgbClr val="333344"/>
                </a:solidFill>
                <a:latin typeface="Segoe UI"/>
              </a:rPr>
              <a:t>• Consistent format — same layout every time</a:t>
            </a:r>
          </a:p>
          <a:p>
            <a:pPr algn="l"/>
            <a:r>
              <a:rPr sz="1200" b="0" i="0">
                <a:solidFill>
                  <a:srgbClr val="333344"/>
                </a:solidFill>
                <a:latin typeface="Segoe UI"/>
              </a:rPr>
              <a:t>• No manual work between portal and report</a:t>
            </a:r>
          </a:p>
        </p:txBody>
      </p:sp>
      <p:sp>
        <p:nvSpPr>
          <p:cNvPr id="18" name="Rectangle 17"/>
          <p:cNvSpPr/>
          <p:nvPr/>
        </p:nvSpPr>
        <p:spPr>
          <a:xfrm>
            <a:off x="6309360" y="315468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5468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3282696"/>
            <a:ext cx="5193792" cy="1380744"/>
          </a:xfrm>
          <a:prstGeom prst="rect">
            <a:avLst/>
          </a:prstGeom>
          <a:noFill/>
        </p:spPr>
        <p:txBody>
          <a:bodyPr wrap="square">
            <a:spAutoFit/>
          </a:bodyPr>
          <a:lstStyle/>
          <a:p>
            <a:pPr algn="l"/>
            <a:r>
              <a:rPr sz="1400" b="1">
                <a:solidFill>
                  <a:srgbClr val="1C3880"/>
                </a:solidFill>
                <a:latin typeface="Segoe UI"/>
              </a:rPr>
              <a:t>Compliance &amp; Supplier Development</a:t>
            </a:r>
          </a:p>
          <a:p>
            <a:pPr algn="l"/>
            <a:r>
              <a:rPr sz="1200" b="0" i="0">
                <a:solidFill>
                  <a:srgbClr val="333344"/>
                </a:solidFill>
                <a:latin typeface="Segoe UI"/>
              </a:rPr>
              <a:t>• Monitor tenders from specific municipalities and SOEs</a:t>
            </a:r>
          </a:p>
          <a:p>
            <a:pPr algn="l"/>
            <a:r>
              <a:rPr sz="1200" b="0" i="0">
                <a:solidFill>
                  <a:srgbClr val="333344"/>
                </a:solidFill>
                <a:latin typeface="Segoe UI"/>
              </a:rPr>
              <a:t>• Track closing dates to ensure timely submissions</a:t>
            </a:r>
          </a:p>
          <a:p>
            <a:pPr algn="l"/>
            <a:r>
              <a:rPr sz="1200" b="0" i="0">
                <a:solidFill>
                  <a:srgbClr val="333344"/>
                </a:solidFill>
                <a:latin typeface="Segoe UI"/>
              </a:rPr>
              <a:t>• Identify compulsory briefing sessions in advance</a:t>
            </a:r>
          </a:p>
          <a:p>
            <a:pPr algn="l"/>
            <a:r>
              <a:rPr sz="1200" b="0" i="0">
                <a:solidFill>
                  <a:srgbClr val="333344"/>
                </a:solidFill>
                <a:latin typeface="Segoe UI"/>
              </a:rPr>
              <a:t>• Province-level visibility for targeted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How It Works</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From launch to ready-to-present output in minutes</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5 / 10</a:t>
            </a:r>
          </a:p>
        </p:txBody>
      </p:sp>
      <p:sp>
        <p:nvSpPr>
          <p:cNvPr id="9" name="Rectangle 8"/>
          <p:cNvSpPr/>
          <p:nvPr/>
        </p:nvSpPr>
        <p:spPr>
          <a:xfrm>
            <a:off x="772668" y="1783080"/>
            <a:ext cx="2011680" cy="329184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2668" y="1783080"/>
            <a:ext cx="2011680"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1947672"/>
            <a:ext cx="2011680" cy="731520"/>
          </a:xfrm>
          <a:prstGeom prst="rect">
            <a:avLst/>
          </a:prstGeom>
          <a:noFill/>
        </p:spPr>
        <p:txBody>
          <a:bodyPr wrap="square">
            <a:spAutoFit/>
          </a:bodyPr>
          <a:lstStyle/>
          <a:p>
            <a:pPr algn="ctr"/>
            <a:r>
              <a:rPr sz="3600" b="1" i="0">
                <a:solidFill>
                  <a:srgbClr val="F5A000"/>
                </a:solidFill>
                <a:latin typeface="Segoe UI"/>
              </a:rPr>
              <a:t>1</a:t>
            </a:r>
          </a:p>
        </p:txBody>
      </p:sp>
      <p:sp>
        <p:nvSpPr>
          <p:cNvPr id="12" name="TextBox 11"/>
          <p:cNvSpPr txBox="1"/>
          <p:nvPr/>
        </p:nvSpPr>
        <p:spPr>
          <a:xfrm>
            <a:off x="864108" y="2697480"/>
            <a:ext cx="1828800" cy="502920"/>
          </a:xfrm>
          <a:prstGeom prst="rect">
            <a:avLst/>
          </a:prstGeom>
          <a:noFill/>
        </p:spPr>
        <p:txBody>
          <a:bodyPr wrap="square">
            <a:spAutoFit/>
          </a:bodyPr>
          <a:lstStyle/>
          <a:p>
            <a:pPr algn="ctr"/>
            <a:r>
              <a:rPr sz="1400" b="1" i="0">
                <a:solidFill>
                  <a:srgbClr val="FFFFFF"/>
                </a:solidFill>
                <a:latin typeface="Segoe UI"/>
              </a:rPr>
              <a:t>Select Period</a:t>
            </a:r>
          </a:p>
        </p:txBody>
      </p:sp>
      <p:sp>
        <p:nvSpPr>
          <p:cNvPr id="13" name="TextBox 12"/>
          <p:cNvSpPr txBox="1"/>
          <p:nvPr/>
        </p:nvSpPr>
        <p:spPr>
          <a:xfrm>
            <a:off x="882396" y="3246120"/>
            <a:ext cx="1792224" cy="1645920"/>
          </a:xfrm>
          <a:prstGeom prst="rect">
            <a:avLst/>
          </a:prstGeom>
          <a:noFill/>
        </p:spPr>
        <p:txBody>
          <a:bodyPr wrap="square">
            <a:spAutoFit/>
          </a:bodyPr>
          <a:lstStyle/>
          <a:p>
            <a:pPr algn="ctr"/>
            <a:r>
              <a:rPr sz="1100" b="0" i="0">
                <a:solidFill>
                  <a:srgbClr val="E0E4EE"/>
                </a:solidFill>
                <a:latin typeface="Segoe UI"/>
              </a:rPr>
              <a:t>Choose the reporting period (Mon–Wed or Thu–Sun) using the calendar. The correct date range is set automatically.</a:t>
            </a:r>
          </a:p>
        </p:txBody>
      </p:sp>
      <p:sp>
        <p:nvSpPr>
          <p:cNvPr id="14" name="TextBox 13"/>
          <p:cNvSpPr txBox="1"/>
          <p:nvPr/>
        </p:nvSpPr>
        <p:spPr>
          <a:xfrm>
            <a:off x="2798978" y="3291840"/>
            <a:ext cx="117043" cy="274320"/>
          </a:xfrm>
          <a:prstGeom prst="rect">
            <a:avLst/>
          </a:prstGeom>
          <a:noFill/>
        </p:spPr>
        <p:txBody>
          <a:bodyPr wrap="square">
            <a:spAutoFit/>
          </a:bodyPr>
          <a:lstStyle/>
          <a:p>
            <a:pPr algn="ctr"/>
            <a:r>
              <a:rPr sz="1100" b="0" i="0">
                <a:solidFill>
                  <a:srgbClr val="F5A000"/>
                </a:solidFill>
                <a:latin typeface="Segoe UI"/>
              </a:rPr>
              <a:t>▶</a:t>
            </a:r>
          </a:p>
        </p:txBody>
      </p:sp>
      <p:sp>
        <p:nvSpPr>
          <p:cNvPr id="15" name="Rectangle 14"/>
          <p:cNvSpPr/>
          <p:nvPr/>
        </p:nvSpPr>
        <p:spPr>
          <a:xfrm>
            <a:off x="2930652" y="1783080"/>
            <a:ext cx="2011680" cy="329184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30652" y="1783080"/>
            <a:ext cx="2011680"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0652" y="1947672"/>
            <a:ext cx="2011680" cy="731520"/>
          </a:xfrm>
          <a:prstGeom prst="rect">
            <a:avLst/>
          </a:prstGeom>
          <a:noFill/>
        </p:spPr>
        <p:txBody>
          <a:bodyPr wrap="square">
            <a:spAutoFit/>
          </a:bodyPr>
          <a:lstStyle/>
          <a:p>
            <a:pPr algn="ctr"/>
            <a:r>
              <a:rPr sz="3600" b="1" i="0">
                <a:solidFill>
                  <a:srgbClr val="F5A000"/>
                </a:solidFill>
                <a:latin typeface="Segoe UI"/>
              </a:rPr>
              <a:t>2</a:t>
            </a:r>
          </a:p>
        </p:txBody>
      </p:sp>
      <p:sp>
        <p:nvSpPr>
          <p:cNvPr id="18" name="TextBox 17"/>
          <p:cNvSpPr txBox="1"/>
          <p:nvPr/>
        </p:nvSpPr>
        <p:spPr>
          <a:xfrm>
            <a:off x="3022092" y="2697480"/>
            <a:ext cx="1828800" cy="502920"/>
          </a:xfrm>
          <a:prstGeom prst="rect">
            <a:avLst/>
          </a:prstGeom>
          <a:noFill/>
        </p:spPr>
        <p:txBody>
          <a:bodyPr wrap="square">
            <a:spAutoFit/>
          </a:bodyPr>
          <a:lstStyle/>
          <a:p>
            <a:pPr algn="ctr"/>
            <a:r>
              <a:rPr sz="1400" b="1" i="0">
                <a:solidFill>
                  <a:srgbClr val="FFFFFF"/>
                </a:solidFill>
                <a:latin typeface="Segoe UI"/>
              </a:rPr>
              <a:t>Run</a:t>
            </a:r>
          </a:p>
        </p:txBody>
      </p:sp>
      <p:sp>
        <p:nvSpPr>
          <p:cNvPr id="19" name="TextBox 18"/>
          <p:cNvSpPr txBox="1"/>
          <p:nvPr/>
        </p:nvSpPr>
        <p:spPr>
          <a:xfrm>
            <a:off x="3040380" y="3246120"/>
            <a:ext cx="1792224" cy="1645920"/>
          </a:xfrm>
          <a:prstGeom prst="rect">
            <a:avLst/>
          </a:prstGeom>
          <a:noFill/>
        </p:spPr>
        <p:txBody>
          <a:bodyPr wrap="square">
            <a:spAutoFit/>
          </a:bodyPr>
          <a:lstStyle/>
          <a:p>
            <a:pPr algn="ctr"/>
            <a:r>
              <a:rPr sz="1100" b="0" i="0">
                <a:solidFill>
                  <a:srgbClr val="E0E4EE"/>
                </a:solidFill>
                <a:latin typeface="Segoe UI"/>
              </a:rPr>
              <a:t>Click Run. The scraper visits etenders.gov.za for each day in the period and collects all tender listings.</a:t>
            </a:r>
          </a:p>
        </p:txBody>
      </p:sp>
      <p:sp>
        <p:nvSpPr>
          <p:cNvPr id="20" name="TextBox 19"/>
          <p:cNvSpPr txBox="1"/>
          <p:nvPr/>
        </p:nvSpPr>
        <p:spPr>
          <a:xfrm>
            <a:off x="4956962" y="3291840"/>
            <a:ext cx="117043" cy="274320"/>
          </a:xfrm>
          <a:prstGeom prst="rect">
            <a:avLst/>
          </a:prstGeom>
          <a:noFill/>
        </p:spPr>
        <p:txBody>
          <a:bodyPr wrap="square">
            <a:spAutoFit/>
          </a:bodyPr>
          <a:lstStyle/>
          <a:p>
            <a:pPr algn="ctr"/>
            <a:r>
              <a:rPr sz="1100" b="0" i="0">
                <a:solidFill>
                  <a:srgbClr val="F5A000"/>
                </a:solidFill>
                <a:latin typeface="Segoe UI"/>
              </a:rPr>
              <a:t>▶</a:t>
            </a:r>
          </a:p>
        </p:txBody>
      </p:sp>
      <p:sp>
        <p:nvSpPr>
          <p:cNvPr id="21" name="Rectangle 20"/>
          <p:cNvSpPr/>
          <p:nvPr/>
        </p:nvSpPr>
        <p:spPr>
          <a:xfrm>
            <a:off x="5088636" y="1783080"/>
            <a:ext cx="2011680" cy="329184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8636" y="1783080"/>
            <a:ext cx="2011680"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88636" y="1947672"/>
            <a:ext cx="2011680" cy="731520"/>
          </a:xfrm>
          <a:prstGeom prst="rect">
            <a:avLst/>
          </a:prstGeom>
          <a:noFill/>
        </p:spPr>
        <p:txBody>
          <a:bodyPr wrap="square">
            <a:spAutoFit/>
          </a:bodyPr>
          <a:lstStyle/>
          <a:p>
            <a:pPr algn="ctr"/>
            <a:r>
              <a:rPr sz="3600" b="1" i="0">
                <a:solidFill>
                  <a:srgbClr val="F5A000"/>
                </a:solidFill>
                <a:latin typeface="Segoe UI"/>
              </a:rPr>
              <a:t>3</a:t>
            </a:r>
          </a:p>
        </p:txBody>
      </p:sp>
      <p:sp>
        <p:nvSpPr>
          <p:cNvPr id="24" name="TextBox 23"/>
          <p:cNvSpPr txBox="1"/>
          <p:nvPr/>
        </p:nvSpPr>
        <p:spPr>
          <a:xfrm>
            <a:off x="5180076" y="2697480"/>
            <a:ext cx="1828800" cy="502920"/>
          </a:xfrm>
          <a:prstGeom prst="rect">
            <a:avLst/>
          </a:prstGeom>
          <a:noFill/>
        </p:spPr>
        <p:txBody>
          <a:bodyPr wrap="square">
            <a:spAutoFit/>
          </a:bodyPr>
          <a:lstStyle/>
          <a:p>
            <a:pPr algn="ctr"/>
            <a:r>
              <a:rPr sz="1400" b="1" i="0">
                <a:solidFill>
                  <a:srgbClr val="FFFFFF"/>
                </a:solidFill>
                <a:latin typeface="Segoe UI"/>
              </a:rPr>
              <a:t>Extract</a:t>
            </a:r>
          </a:p>
        </p:txBody>
      </p:sp>
      <p:sp>
        <p:nvSpPr>
          <p:cNvPr id="25" name="TextBox 24"/>
          <p:cNvSpPr txBox="1"/>
          <p:nvPr/>
        </p:nvSpPr>
        <p:spPr>
          <a:xfrm>
            <a:off x="5198364" y="3246120"/>
            <a:ext cx="1792224" cy="1645920"/>
          </a:xfrm>
          <a:prstGeom prst="rect">
            <a:avLst/>
          </a:prstGeom>
          <a:noFill/>
        </p:spPr>
        <p:txBody>
          <a:bodyPr wrap="square">
            <a:spAutoFit/>
          </a:bodyPr>
          <a:lstStyle/>
          <a:p>
            <a:pPr algn="ctr"/>
            <a:r>
              <a:rPr sz="1100" b="0" i="0">
                <a:solidFill>
                  <a:srgbClr val="E0E4EE"/>
                </a:solidFill>
                <a:latin typeface="Segoe UI"/>
              </a:rPr>
              <a:t>Every tender's details are captured — description, department, type, closing date, briefing info, and more.</a:t>
            </a:r>
          </a:p>
        </p:txBody>
      </p:sp>
      <p:sp>
        <p:nvSpPr>
          <p:cNvPr id="26" name="TextBox 25"/>
          <p:cNvSpPr txBox="1"/>
          <p:nvPr/>
        </p:nvSpPr>
        <p:spPr>
          <a:xfrm>
            <a:off x="7114946" y="3291840"/>
            <a:ext cx="117043" cy="274320"/>
          </a:xfrm>
          <a:prstGeom prst="rect">
            <a:avLst/>
          </a:prstGeom>
          <a:noFill/>
        </p:spPr>
        <p:txBody>
          <a:bodyPr wrap="square">
            <a:spAutoFit/>
          </a:bodyPr>
          <a:lstStyle/>
          <a:p>
            <a:pPr algn="ctr"/>
            <a:r>
              <a:rPr sz="1100" b="0" i="0">
                <a:solidFill>
                  <a:srgbClr val="F5A000"/>
                </a:solidFill>
                <a:latin typeface="Segoe UI"/>
              </a:rPr>
              <a:t>▶</a:t>
            </a:r>
          </a:p>
        </p:txBody>
      </p:sp>
      <p:sp>
        <p:nvSpPr>
          <p:cNvPr id="27" name="Rectangle 26"/>
          <p:cNvSpPr/>
          <p:nvPr/>
        </p:nvSpPr>
        <p:spPr>
          <a:xfrm>
            <a:off x="7246620" y="1783080"/>
            <a:ext cx="2011680" cy="329184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46620" y="1783080"/>
            <a:ext cx="2011680"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6620" y="1947672"/>
            <a:ext cx="2011680" cy="731520"/>
          </a:xfrm>
          <a:prstGeom prst="rect">
            <a:avLst/>
          </a:prstGeom>
          <a:noFill/>
        </p:spPr>
        <p:txBody>
          <a:bodyPr wrap="square">
            <a:spAutoFit/>
          </a:bodyPr>
          <a:lstStyle/>
          <a:p>
            <a:pPr algn="ctr"/>
            <a:r>
              <a:rPr sz="3600" b="1" i="0">
                <a:solidFill>
                  <a:srgbClr val="F5A000"/>
                </a:solidFill>
                <a:latin typeface="Segoe UI"/>
              </a:rPr>
              <a:t>4</a:t>
            </a:r>
          </a:p>
        </p:txBody>
      </p:sp>
      <p:sp>
        <p:nvSpPr>
          <p:cNvPr id="30" name="TextBox 29"/>
          <p:cNvSpPr txBox="1"/>
          <p:nvPr/>
        </p:nvSpPr>
        <p:spPr>
          <a:xfrm>
            <a:off x="7338060" y="2697480"/>
            <a:ext cx="1828800" cy="502920"/>
          </a:xfrm>
          <a:prstGeom prst="rect">
            <a:avLst/>
          </a:prstGeom>
          <a:noFill/>
        </p:spPr>
        <p:txBody>
          <a:bodyPr wrap="square">
            <a:spAutoFit/>
          </a:bodyPr>
          <a:lstStyle/>
          <a:p>
            <a:pPr algn="ctr"/>
            <a:r>
              <a:rPr sz="1400" b="1" i="0">
                <a:solidFill>
                  <a:srgbClr val="FFFFFF"/>
                </a:solidFill>
                <a:latin typeface="Segoe UI"/>
              </a:rPr>
              <a:t>Report</a:t>
            </a:r>
          </a:p>
        </p:txBody>
      </p:sp>
      <p:sp>
        <p:nvSpPr>
          <p:cNvPr id="31" name="TextBox 30"/>
          <p:cNvSpPr txBox="1"/>
          <p:nvPr/>
        </p:nvSpPr>
        <p:spPr>
          <a:xfrm>
            <a:off x="7356348" y="3246120"/>
            <a:ext cx="1792224" cy="1645920"/>
          </a:xfrm>
          <a:prstGeom prst="rect">
            <a:avLst/>
          </a:prstGeom>
          <a:noFill/>
        </p:spPr>
        <p:txBody>
          <a:bodyPr wrap="square">
            <a:spAutoFit/>
          </a:bodyPr>
          <a:lstStyle/>
          <a:p>
            <a:pPr algn="ctr"/>
            <a:r>
              <a:rPr sz="1100" b="0" i="0">
                <a:solidFill>
                  <a:srgbClr val="E0E4EE"/>
                </a:solidFill>
                <a:latin typeface="Segoe UI"/>
              </a:rPr>
              <a:t>Per-day files are saved, then combined into the RFQ &amp; ICT Checker and the department Tender Summary.</a:t>
            </a:r>
          </a:p>
        </p:txBody>
      </p:sp>
      <p:sp>
        <p:nvSpPr>
          <p:cNvPr id="32" name="TextBox 31"/>
          <p:cNvSpPr txBox="1"/>
          <p:nvPr/>
        </p:nvSpPr>
        <p:spPr>
          <a:xfrm>
            <a:off x="9272930" y="3291840"/>
            <a:ext cx="117043" cy="274320"/>
          </a:xfrm>
          <a:prstGeom prst="rect">
            <a:avLst/>
          </a:prstGeom>
          <a:noFill/>
        </p:spPr>
        <p:txBody>
          <a:bodyPr wrap="square">
            <a:spAutoFit/>
          </a:bodyPr>
          <a:lstStyle/>
          <a:p>
            <a:pPr algn="ctr"/>
            <a:r>
              <a:rPr sz="1100" b="0" i="0">
                <a:solidFill>
                  <a:srgbClr val="F5A000"/>
                </a:solidFill>
                <a:latin typeface="Segoe UI"/>
              </a:rPr>
              <a:t>▶</a:t>
            </a:r>
          </a:p>
        </p:txBody>
      </p:sp>
      <p:sp>
        <p:nvSpPr>
          <p:cNvPr id="33" name="Rectangle 32"/>
          <p:cNvSpPr/>
          <p:nvPr/>
        </p:nvSpPr>
        <p:spPr>
          <a:xfrm>
            <a:off x="9404604" y="1783080"/>
            <a:ext cx="2011680" cy="329184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404604" y="1783080"/>
            <a:ext cx="2011680"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4604" y="1947672"/>
            <a:ext cx="2011680" cy="731520"/>
          </a:xfrm>
          <a:prstGeom prst="rect">
            <a:avLst/>
          </a:prstGeom>
          <a:noFill/>
        </p:spPr>
        <p:txBody>
          <a:bodyPr wrap="square">
            <a:spAutoFit/>
          </a:bodyPr>
          <a:lstStyle/>
          <a:p>
            <a:pPr algn="ctr"/>
            <a:r>
              <a:rPr sz="3600" b="1" i="0">
                <a:solidFill>
                  <a:srgbClr val="F5A000"/>
                </a:solidFill>
                <a:latin typeface="Segoe UI"/>
              </a:rPr>
              <a:t>5</a:t>
            </a:r>
          </a:p>
        </p:txBody>
      </p:sp>
      <p:sp>
        <p:nvSpPr>
          <p:cNvPr id="36" name="TextBox 35"/>
          <p:cNvSpPr txBox="1"/>
          <p:nvPr/>
        </p:nvSpPr>
        <p:spPr>
          <a:xfrm>
            <a:off x="9496044" y="2697480"/>
            <a:ext cx="1828800" cy="502920"/>
          </a:xfrm>
          <a:prstGeom prst="rect">
            <a:avLst/>
          </a:prstGeom>
          <a:noFill/>
        </p:spPr>
        <p:txBody>
          <a:bodyPr wrap="square">
            <a:spAutoFit/>
          </a:bodyPr>
          <a:lstStyle/>
          <a:p>
            <a:pPr algn="ctr"/>
            <a:r>
              <a:rPr sz="1400" b="1" i="0">
                <a:solidFill>
                  <a:srgbClr val="FFFFFF"/>
                </a:solidFill>
                <a:latin typeface="Segoe UI"/>
              </a:rPr>
              <a:t>Track</a:t>
            </a:r>
          </a:p>
        </p:txBody>
      </p:sp>
      <p:sp>
        <p:nvSpPr>
          <p:cNvPr id="37" name="TextBox 36"/>
          <p:cNvSpPr txBox="1"/>
          <p:nvPr/>
        </p:nvSpPr>
        <p:spPr>
          <a:xfrm>
            <a:off x="9514332" y="3246120"/>
            <a:ext cx="1792224" cy="1645920"/>
          </a:xfrm>
          <a:prstGeom prst="rect">
            <a:avLst/>
          </a:prstGeom>
          <a:noFill/>
        </p:spPr>
        <p:txBody>
          <a:bodyPr wrap="square">
            <a:spAutoFit/>
          </a:bodyPr>
          <a:lstStyle/>
          <a:p>
            <a:pPr algn="ctr"/>
            <a:r>
              <a:rPr sz="1100" b="0" i="0">
                <a:solidFill>
                  <a:srgbClr val="E0E4EE"/>
                </a:solidFill>
                <a:latin typeface="Segoe UI"/>
              </a:rPr>
              <a:t>The rolling tracker is updated with the new period's counts and saved — ready to share immediately.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What You Receive</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Structured, consistent reports delivered after every run</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6 / 10</a:t>
            </a:r>
          </a:p>
        </p:txBody>
      </p:sp>
      <p:sp>
        <p:nvSpPr>
          <p:cNvPr id="9" name="Rectangle 8"/>
          <p:cNvSpPr/>
          <p:nvPr/>
        </p:nvSpPr>
        <p:spPr>
          <a:xfrm>
            <a:off x="457200" y="1508760"/>
            <a:ext cx="11247120" cy="914400"/>
          </a:xfrm>
          <a:prstGeom prst="rect">
            <a:avLst/>
          </a:prstGeom>
          <a:solidFill>
            <a:srgbClr val="F4F6FA"/>
          </a:solidFill>
          <a:ln w="6350">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508760"/>
            <a:ext cx="45720" cy="9144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773936"/>
            <a:ext cx="329184" cy="329184"/>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764792"/>
            <a:ext cx="329184" cy="329184"/>
          </a:xfrm>
          <a:prstGeom prst="rect">
            <a:avLst/>
          </a:prstGeom>
          <a:noFill/>
        </p:spPr>
        <p:txBody>
          <a:bodyPr wrap="square">
            <a:spAutoFit/>
          </a:bodyPr>
          <a:lstStyle/>
          <a:p>
            <a:pPr algn="ctr"/>
            <a:r>
              <a:rPr sz="1200" b="1" i="0">
                <a:solidFill>
                  <a:srgbClr val="FFFFFF"/>
                </a:solidFill>
                <a:latin typeface="Segoe UI"/>
              </a:rPr>
              <a:t>1</a:t>
            </a:r>
          </a:p>
        </p:txBody>
      </p:sp>
      <p:sp>
        <p:nvSpPr>
          <p:cNvPr id="13" name="TextBox 12"/>
          <p:cNvSpPr txBox="1"/>
          <p:nvPr/>
        </p:nvSpPr>
        <p:spPr>
          <a:xfrm>
            <a:off x="1051560" y="1581912"/>
            <a:ext cx="2194560" cy="320040"/>
          </a:xfrm>
          <a:prstGeom prst="rect">
            <a:avLst/>
          </a:prstGeom>
          <a:noFill/>
        </p:spPr>
        <p:txBody>
          <a:bodyPr wrap="square">
            <a:spAutoFit/>
          </a:bodyPr>
          <a:lstStyle/>
          <a:p>
            <a:pPr algn="l"/>
            <a:r>
              <a:rPr sz="1200" b="1" i="0">
                <a:solidFill>
                  <a:srgbClr val="1C3880"/>
                </a:solidFill>
                <a:latin typeface="Segoe UI"/>
              </a:rPr>
              <a:t>RFQ &amp; ICT Checker</a:t>
            </a:r>
          </a:p>
        </p:txBody>
      </p:sp>
      <p:sp>
        <p:nvSpPr>
          <p:cNvPr id="14" name="TextBox 13"/>
          <p:cNvSpPr txBox="1"/>
          <p:nvPr/>
        </p:nvSpPr>
        <p:spPr>
          <a:xfrm>
            <a:off x="1051560" y="1892808"/>
            <a:ext cx="10561320" cy="457200"/>
          </a:xfrm>
          <a:prstGeom prst="rect">
            <a:avLst/>
          </a:prstGeom>
          <a:noFill/>
        </p:spPr>
        <p:txBody>
          <a:bodyPr wrap="square">
            <a:spAutoFit/>
          </a:bodyPr>
          <a:lstStyle/>
          <a:p>
            <a:pPr algn="l"/>
            <a:r>
              <a:rPr sz="1050" b="0" i="0">
                <a:solidFill>
                  <a:srgbClr val="333344"/>
                </a:solidFill>
                <a:latin typeface="Segoe UI"/>
              </a:rPr>
              <a:t>The primary report — all tenders for the period in one workbook. Includes a full data tab and a summary tab with counts broken down by department, ICT category, and tender type.</a:t>
            </a:r>
          </a:p>
        </p:txBody>
      </p:sp>
      <p:sp>
        <p:nvSpPr>
          <p:cNvPr id="15" name="Rectangle 14"/>
          <p:cNvSpPr/>
          <p:nvPr/>
        </p:nvSpPr>
        <p:spPr>
          <a:xfrm>
            <a:off x="457200" y="2532888"/>
            <a:ext cx="11247120" cy="914400"/>
          </a:xfrm>
          <a:prstGeom prst="rect">
            <a:avLst/>
          </a:prstGeom>
          <a:solidFill>
            <a:srgbClr val="F4F6FA"/>
          </a:solidFill>
          <a:ln w="6350">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532888"/>
            <a:ext cx="45720" cy="9144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2798064"/>
            <a:ext cx="329184" cy="329184"/>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2788920"/>
            <a:ext cx="329184" cy="329184"/>
          </a:xfrm>
          <a:prstGeom prst="rect">
            <a:avLst/>
          </a:prstGeom>
          <a:noFill/>
        </p:spPr>
        <p:txBody>
          <a:bodyPr wrap="square">
            <a:spAutoFit/>
          </a:bodyPr>
          <a:lstStyle/>
          <a:p>
            <a:pPr algn="ctr"/>
            <a:r>
              <a:rPr sz="1200" b="1" i="0">
                <a:solidFill>
                  <a:srgbClr val="FFFFFF"/>
                </a:solidFill>
                <a:latin typeface="Segoe UI"/>
              </a:rPr>
              <a:t>2</a:t>
            </a:r>
          </a:p>
        </p:txBody>
      </p:sp>
      <p:sp>
        <p:nvSpPr>
          <p:cNvPr id="19" name="TextBox 18"/>
          <p:cNvSpPr txBox="1"/>
          <p:nvPr/>
        </p:nvSpPr>
        <p:spPr>
          <a:xfrm>
            <a:off x="1051560" y="2606040"/>
            <a:ext cx="2194560" cy="320040"/>
          </a:xfrm>
          <a:prstGeom prst="rect">
            <a:avLst/>
          </a:prstGeom>
          <a:noFill/>
        </p:spPr>
        <p:txBody>
          <a:bodyPr wrap="square">
            <a:spAutoFit/>
          </a:bodyPr>
          <a:lstStyle/>
          <a:p>
            <a:pPr algn="l"/>
            <a:r>
              <a:rPr sz="1200" b="1" i="0">
                <a:solidFill>
                  <a:srgbClr val="1C3880"/>
                </a:solidFill>
                <a:latin typeface="Segoe UI"/>
              </a:rPr>
              <a:t>Tender Summary</a:t>
            </a:r>
          </a:p>
        </p:txBody>
      </p:sp>
      <p:sp>
        <p:nvSpPr>
          <p:cNvPr id="20" name="TextBox 19"/>
          <p:cNvSpPr txBox="1"/>
          <p:nvPr/>
        </p:nvSpPr>
        <p:spPr>
          <a:xfrm>
            <a:off x="1051560" y="2916936"/>
            <a:ext cx="10561320" cy="457200"/>
          </a:xfrm>
          <a:prstGeom prst="rect">
            <a:avLst/>
          </a:prstGeom>
          <a:noFill/>
        </p:spPr>
        <p:txBody>
          <a:bodyPr wrap="square">
            <a:spAutoFit/>
          </a:bodyPr>
          <a:lstStyle/>
          <a:p>
            <a:pPr algn="l"/>
            <a:r>
              <a:rPr sz="1050" b="0" i="0">
                <a:solidFill>
                  <a:srgbClr val="333344"/>
                </a:solidFill>
                <a:latin typeface="Segoe UI"/>
              </a:rPr>
              <a:t>One tab per tracked department that had tenders in the period. RFQs are sorted to the top of each tab, followed by all other tender types ordered by closing date. Includes briefing date and whether attendance is compulsory.</a:t>
            </a:r>
          </a:p>
        </p:txBody>
      </p:sp>
      <p:sp>
        <p:nvSpPr>
          <p:cNvPr id="21" name="Rectangle 20"/>
          <p:cNvSpPr/>
          <p:nvPr/>
        </p:nvSpPr>
        <p:spPr>
          <a:xfrm>
            <a:off x="457200" y="3557016"/>
            <a:ext cx="11247120" cy="914400"/>
          </a:xfrm>
          <a:prstGeom prst="rect">
            <a:avLst/>
          </a:prstGeom>
          <a:solidFill>
            <a:srgbClr val="F4F6FA"/>
          </a:solidFill>
          <a:ln w="6350">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557016"/>
            <a:ext cx="45720" cy="9144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3822192"/>
            <a:ext cx="329184" cy="329184"/>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3813048"/>
            <a:ext cx="329184" cy="329184"/>
          </a:xfrm>
          <a:prstGeom prst="rect">
            <a:avLst/>
          </a:prstGeom>
          <a:noFill/>
        </p:spPr>
        <p:txBody>
          <a:bodyPr wrap="square">
            <a:spAutoFit/>
          </a:bodyPr>
          <a:lstStyle/>
          <a:p>
            <a:pPr algn="ctr"/>
            <a:r>
              <a:rPr sz="1200" b="1" i="0">
                <a:solidFill>
                  <a:srgbClr val="FFFFFF"/>
                </a:solidFill>
                <a:latin typeface="Segoe UI"/>
              </a:rPr>
              <a:t>3</a:t>
            </a:r>
          </a:p>
        </p:txBody>
      </p:sp>
      <p:sp>
        <p:nvSpPr>
          <p:cNvPr id="25" name="TextBox 24"/>
          <p:cNvSpPr txBox="1"/>
          <p:nvPr/>
        </p:nvSpPr>
        <p:spPr>
          <a:xfrm>
            <a:off x="1051560" y="3630168"/>
            <a:ext cx="2194560" cy="320040"/>
          </a:xfrm>
          <a:prstGeom prst="rect">
            <a:avLst/>
          </a:prstGeom>
          <a:noFill/>
        </p:spPr>
        <p:txBody>
          <a:bodyPr wrap="square">
            <a:spAutoFit/>
          </a:bodyPr>
          <a:lstStyle/>
          <a:p>
            <a:pPr algn="l"/>
            <a:r>
              <a:rPr sz="1200" b="1" i="0">
                <a:solidFill>
                  <a:srgbClr val="1C3880"/>
                </a:solidFill>
                <a:latin typeface="Segoe UI"/>
              </a:rPr>
              <a:t>Per-Day Batch Files</a:t>
            </a:r>
          </a:p>
        </p:txBody>
      </p:sp>
      <p:sp>
        <p:nvSpPr>
          <p:cNvPr id="26" name="TextBox 25"/>
          <p:cNvSpPr txBox="1"/>
          <p:nvPr/>
        </p:nvSpPr>
        <p:spPr>
          <a:xfrm>
            <a:off x="1051560" y="3941064"/>
            <a:ext cx="10561320" cy="457200"/>
          </a:xfrm>
          <a:prstGeom prst="rect">
            <a:avLst/>
          </a:prstGeom>
          <a:noFill/>
        </p:spPr>
        <p:txBody>
          <a:bodyPr wrap="square">
            <a:spAutoFit/>
          </a:bodyPr>
          <a:lstStyle/>
          <a:p>
            <a:pPr algn="l"/>
            <a:r>
              <a:rPr sz="1050" b="0" i="0">
                <a:solidFill>
                  <a:srgbClr val="333344"/>
                </a:solidFill>
                <a:latin typeface="Segoe UI"/>
              </a:rPr>
              <a:t>Individual Excel files for each day in the reporting period. Useful for auditing or drilling into a specific day's activity without opening the combined file.</a:t>
            </a:r>
          </a:p>
        </p:txBody>
      </p:sp>
      <p:sp>
        <p:nvSpPr>
          <p:cNvPr id="27" name="Rectangle 26"/>
          <p:cNvSpPr/>
          <p:nvPr/>
        </p:nvSpPr>
        <p:spPr>
          <a:xfrm>
            <a:off x="457200" y="4581144"/>
            <a:ext cx="11247120" cy="914400"/>
          </a:xfrm>
          <a:prstGeom prst="rect">
            <a:avLst/>
          </a:prstGeom>
          <a:solidFill>
            <a:srgbClr val="F4F6FA"/>
          </a:solidFill>
          <a:ln w="6350">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581144"/>
            <a:ext cx="45720" cy="9144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 y="4846320"/>
            <a:ext cx="329184" cy="329184"/>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4837176"/>
            <a:ext cx="329184" cy="329184"/>
          </a:xfrm>
          <a:prstGeom prst="rect">
            <a:avLst/>
          </a:prstGeom>
          <a:noFill/>
        </p:spPr>
        <p:txBody>
          <a:bodyPr wrap="square">
            <a:spAutoFit/>
          </a:bodyPr>
          <a:lstStyle/>
          <a:p>
            <a:pPr algn="ctr"/>
            <a:r>
              <a:rPr sz="1200" b="1" i="0">
                <a:solidFill>
                  <a:srgbClr val="FFFFFF"/>
                </a:solidFill>
                <a:latin typeface="Segoe UI"/>
              </a:rPr>
              <a:t>4</a:t>
            </a:r>
          </a:p>
        </p:txBody>
      </p:sp>
      <p:sp>
        <p:nvSpPr>
          <p:cNvPr id="31" name="TextBox 30"/>
          <p:cNvSpPr txBox="1"/>
          <p:nvPr/>
        </p:nvSpPr>
        <p:spPr>
          <a:xfrm>
            <a:off x="1051560" y="4654296"/>
            <a:ext cx="2194560" cy="320040"/>
          </a:xfrm>
          <a:prstGeom prst="rect">
            <a:avLst/>
          </a:prstGeom>
          <a:noFill/>
        </p:spPr>
        <p:txBody>
          <a:bodyPr wrap="square">
            <a:spAutoFit/>
          </a:bodyPr>
          <a:lstStyle/>
          <a:p>
            <a:pPr algn="l"/>
            <a:r>
              <a:rPr sz="1200" b="1" i="0">
                <a:solidFill>
                  <a:srgbClr val="1C3880"/>
                </a:solidFill>
                <a:latin typeface="Segoe UI"/>
              </a:rPr>
              <a:t>Rolling Tracker</a:t>
            </a:r>
          </a:p>
        </p:txBody>
      </p:sp>
      <p:sp>
        <p:nvSpPr>
          <p:cNvPr id="32" name="TextBox 31"/>
          <p:cNvSpPr txBox="1"/>
          <p:nvPr/>
        </p:nvSpPr>
        <p:spPr>
          <a:xfrm>
            <a:off x="1051560" y="4965192"/>
            <a:ext cx="10561320" cy="457200"/>
          </a:xfrm>
          <a:prstGeom prst="rect">
            <a:avLst/>
          </a:prstGeom>
          <a:noFill/>
        </p:spPr>
        <p:txBody>
          <a:bodyPr wrap="square">
            <a:spAutoFit/>
          </a:bodyPr>
          <a:lstStyle/>
          <a:p>
            <a:pPr algn="l"/>
            <a:r>
              <a:rPr sz="1050" b="0" i="0">
                <a:solidFill>
                  <a:srgbClr val="333344"/>
                </a:solidFill>
                <a:latin typeface="Segoe UI"/>
              </a:rPr>
              <a:t>A running comparison of NNT, ICT, and RFQ counts across the last six reporting periods — one column per batch, newest on the left. Automatically maintained and shared via OneDrive.</a:t>
            </a:r>
          </a:p>
        </p:txBody>
      </p:sp>
      <p:sp>
        <p:nvSpPr>
          <p:cNvPr id="33" name="Rectangle 32"/>
          <p:cNvSpPr/>
          <p:nvPr/>
        </p:nvSpPr>
        <p:spPr>
          <a:xfrm>
            <a:off x="457200" y="5605272"/>
            <a:ext cx="11247120" cy="914400"/>
          </a:xfrm>
          <a:prstGeom prst="rect">
            <a:avLst/>
          </a:prstGeom>
          <a:solidFill>
            <a:srgbClr val="F4F6FA"/>
          </a:solidFill>
          <a:ln w="6350">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605272"/>
            <a:ext cx="45720" cy="9144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5870448"/>
            <a:ext cx="329184" cy="329184"/>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4360" y="5861304"/>
            <a:ext cx="329184" cy="329184"/>
          </a:xfrm>
          <a:prstGeom prst="rect">
            <a:avLst/>
          </a:prstGeom>
          <a:noFill/>
        </p:spPr>
        <p:txBody>
          <a:bodyPr wrap="square">
            <a:spAutoFit/>
          </a:bodyPr>
          <a:lstStyle/>
          <a:p>
            <a:pPr algn="ctr"/>
            <a:r>
              <a:rPr sz="1200" b="1" i="0">
                <a:solidFill>
                  <a:srgbClr val="FFFFFF"/>
                </a:solidFill>
                <a:latin typeface="Segoe UI"/>
              </a:rPr>
              <a:t>5</a:t>
            </a:r>
          </a:p>
        </p:txBody>
      </p:sp>
      <p:sp>
        <p:nvSpPr>
          <p:cNvPr id="37" name="TextBox 36"/>
          <p:cNvSpPr txBox="1"/>
          <p:nvPr/>
        </p:nvSpPr>
        <p:spPr>
          <a:xfrm>
            <a:off x="1051560" y="5678424"/>
            <a:ext cx="2194560" cy="320040"/>
          </a:xfrm>
          <a:prstGeom prst="rect">
            <a:avLst/>
          </a:prstGeom>
          <a:noFill/>
        </p:spPr>
        <p:txBody>
          <a:bodyPr wrap="square">
            <a:spAutoFit/>
          </a:bodyPr>
          <a:lstStyle/>
          <a:p>
            <a:pPr algn="l"/>
            <a:r>
              <a:rPr sz="1200" b="1" i="0">
                <a:solidFill>
                  <a:srgbClr val="1C3880"/>
                </a:solidFill>
                <a:latin typeface="Segoe UI"/>
              </a:rPr>
              <a:t>Clickable Source Links</a:t>
            </a:r>
          </a:p>
        </p:txBody>
      </p:sp>
      <p:sp>
        <p:nvSpPr>
          <p:cNvPr id="38" name="TextBox 37"/>
          <p:cNvSpPr txBox="1"/>
          <p:nvPr/>
        </p:nvSpPr>
        <p:spPr>
          <a:xfrm>
            <a:off x="1051560" y="5989320"/>
            <a:ext cx="10561320" cy="457200"/>
          </a:xfrm>
          <a:prstGeom prst="rect">
            <a:avLst/>
          </a:prstGeom>
          <a:noFill/>
        </p:spPr>
        <p:txBody>
          <a:bodyPr wrap="square">
            <a:spAutoFit/>
          </a:bodyPr>
          <a:lstStyle/>
          <a:p>
            <a:pPr algn="l"/>
            <a:r>
              <a:rPr sz="1050" b="0" i="0">
                <a:solidFill>
                  <a:srgbClr val="333344"/>
                </a:solidFill>
                <a:latin typeface="Segoe UI"/>
              </a:rPr>
              <a:t>Every tender row contains a hyperlink directly to the official listing on etenders.gov.za — one click to access the full tender document and submission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Data Captured</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Every tender record contains up to 23 fields of structured information</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7 / 10</a:t>
            </a:r>
          </a:p>
        </p:txBody>
      </p:sp>
      <p:sp>
        <p:nvSpPr>
          <p:cNvPr id="9" name="Rectangle 8"/>
          <p:cNvSpPr/>
          <p:nvPr/>
        </p:nvSpPr>
        <p:spPr>
          <a:xfrm>
            <a:off x="411480" y="153619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36192"/>
            <a:ext cx="2194560" cy="219456"/>
          </a:xfrm>
          <a:prstGeom prst="rect">
            <a:avLst/>
          </a:prstGeom>
          <a:noFill/>
        </p:spPr>
        <p:txBody>
          <a:bodyPr wrap="square">
            <a:spAutoFit/>
          </a:bodyPr>
          <a:lstStyle/>
          <a:p>
            <a:pPr algn="l"/>
            <a:r>
              <a:rPr sz="900" b="1" i="0">
                <a:solidFill>
                  <a:srgbClr val="FFFFFF"/>
                </a:solidFill>
                <a:latin typeface="Segoe UI"/>
              </a:rPr>
              <a:t>Report Date</a:t>
            </a:r>
          </a:p>
        </p:txBody>
      </p:sp>
      <p:sp>
        <p:nvSpPr>
          <p:cNvPr id="11" name="TextBox 10"/>
          <p:cNvSpPr txBox="1"/>
          <p:nvPr/>
        </p:nvSpPr>
        <p:spPr>
          <a:xfrm>
            <a:off x="2788920" y="1536192"/>
            <a:ext cx="2788920" cy="219456"/>
          </a:xfrm>
          <a:prstGeom prst="rect">
            <a:avLst/>
          </a:prstGeom>
          <a:noFill/>
        </p:spPr>
        <p:txBody>
          <a:bodyPr wrap="square">
            <a:spAutoFit/>
          </a:bodyPr>
          <a:lstStyle/>
          <a:p>
            <a:pPr algn="l"/>
            <a:r>
              <a:rPr sz="950" b="0" i="0">
                <a:solidFill>
                  <a:srgbClr val="333344"/>
                </a:solidFill>
                <a:latin typeface="Segoe UI"/>
              </a:rPr>
              <a:t>The reporting period this tender belongs to</a:t>
            </a:r>
          </a:p>
        </p:txBody>
      </p:sp>
      <p:sp>
        <p:nvSpPr>
          <p:cNvPr id="12" name="Rectangle 11"/>
          <p:cNvSpPr/>
          <p:nvPr/>
        </p:nvSpPr>
        <p:spPr>
          <a:xfrm>
            <a:off x="411480" y="181051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10512"/>
            <a:ext cx="2194560" cy="219456"/>
          </a:xfrm>
          <a:prstGeom prst="rect">
            <a:avLst/>
          </a:prstGeom>
          <a:noFill/>
        </p:spPr>
        <p:txBody>
          <a:bodyPr wrap="square">
            <a:spAutoFit/>
          </a:bodyPr>
          <a:lstStyle/>
          <a:p>
            <a:pPr algn="l"/>
            <a:r>
              <a:rPr sz="900" b="1" i="0">
                <a:solidFill>
                  <a:srgbClr val="FFFFFF"/>
                </a:solidFill>
                <a:latin typeface="Segoe UI"/>
              </a:rPr>
              <a:t>Tender ID</a:t>
            </a:r>
          </a:p>
        </p:txBody>
      </p:sp>
      <p:sp>
        <p:nvSpPr>
          <p:cNvPr id="14" name="TextBox 13"/>
          <p:cNvSpPr txBox="1"/>
          <p:nvPr/>
        </p:nvSpPr>
        <p:spPr>
          <a:xfrm>
            <a:off x="2788920" y="1810512"/>
            <a:ext cx="2788920" cy="219456"/>
          </a:xfrm>
          <a:prstGeom prst="rect">
            <a:avLst/>
          </a:prstGeom>
          <a:noFill/>
        </p:spPr>
        <p:txBody>
          <a:bodyPr wrap="square">
            <a:spAutoFit/>
          </a:bodyPr>
          <a:lstStyle/>
          <a:p>
            <a:pPr algn="l"/>
            <a:r>
              <a:rPr sz="950" b="0" i="0">
                <a:solidFill>
                  <a:srgbClr val="333344"/>
                </a:solidFill>
                <a:latin typeface="Segoe UI"/>
              </a:rPr>
              <a:t>Official government tender reference number</a:t>
            </a:r>
          </a:p>
        </p:txBody>
      </p:sp>
      <p:sp>
        <p:nvSpPr>
          <p:cNvPr id="15" name="Rectangle 14"/>
          <p:cNvSpPr/>
          <p:nvPr/>
        </p:nvSpPr>
        <p:spPr>
          <a:xfrm>
            <a:off x="411480" y="208483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084832"/>
            <a:ext cx="2194560" cy="219456"/>
          </a:xfrm>
          <a:prstGeom prst="rect">
            <a:avLst/>
          </a:prstGeom>
          <a:noFill/>
        </p:spPr>
        <p:txBody>
          <a:bodyPr wrap="square">
            <a:spAutoFit/>
          </a:bodyPr>
          <a:lstStyle/>
          <a:p>
            <a:pPr algn="l"/>
            <a:r>
              <a:rPr sz="900" b="1" i="0">
                <a:solidFill>
                  <a:srgbClr val="FFFFFF"/>
                </a:solidFill>
                <a:latin typeface="Segoe UI"/>
              </a:rPr>
              <a:t>Publication Date</a:t>
            </a:r>
          </a:p>
        </p:txBody>
      </p:sp>
      <p:sp>
        <p:nvSpPr>
          <p:cNvPr id="17" name="TextBox 16"/>
          <p:cNvSpPr txBox="1"/>
          <p:nvPr/>
        </p:nvSpPr>
        <p:spPr>
          <a:xfrm>
            <a:off x="2788920" y="2084832"/>
            <a:ext cx="2788920" cy="219456"/>
          </a:xfrm>
          <a:prstGeom prst="rect">
            <a:avLst/>
          </a:prstGeom>
          <a:noFill/>
        </p:spPr>
        <p:txBody>
          <a:bodyPr wrap="square">
            <a:spAutoFit/>
          </a:bodyPr>
          <a:lstStyle/>
          <a:p>
            <a:pPr algn="l"/>
            <a:r>
              <a:rPr sz="950" b="0" i="0">
                <a:solidFill>
                  <a:srgbClr val="333344"/>
                </a:solidFill>
                <a:latin typeface="Segoe UI"/>
              </a:rPr>
              <a:t>When the tender was published on eTenders</a:t>
            </a:r>
          </a:p>
        </p:txBody>
      </p:sp>
      <p:sp>
        <p:nvSpPr>
          <p:cNvPr id="18" name="Rectangle 17"/>
          <p:cNvSpPr/>
          <p:nvPr/>
        </p:nvSpPr>
        <p:spPr>
          <a:xfrm>
            <a:off x="411480" y="235915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359152"/>
            <a:ext cx="2194560" cy="219456"/>
          </a:xfrm>
          <a:prstGeom prst="rect">
            <a:avLst/>
          </a:prstGeom>
          <a:noFill/>
        </p:spPr>
        <p:txBody>
          <a:bodyPr wrap="square">
            <a:spAutoFit/>
          </a:bodyPr>
          <a:lstStyle/>
          <a:p>
            <a:pPr algn="l"/>
            <a:r>
              <a:rPr sz="900" b="1" i="0">
                <a:solidFill>
                  <a:srgbClr val="FFFFFF"/>
                </a:solidFill>
                <a:latin typeface="Segoe UI"/>
              </a:rPr>
              <a:t>Closing Date &amp; Time</a:t>
            </a:r>
          </a:p>
        </p:txBody>
      </p:sp>
      <p:sp>
        <p:nvSpPr>
          <p:cNvPr id="20" name="TextBox 19"/>
          <p:cNvSpPr txBox="1"/>
          <p:nvPr/>
        </p:nvSpPr>
        <p:spPr>
          <a:xfrm>
            <a:off x="2788920" y="2359152"/>
            <a:ext cx="2788920" cy="219456"/>
          </a:xfrm>
          <a:prstGeom prst="rect">
            <a:avLst/>
          </a:prstGeom>
          <a:noFill/>
        </p:spPr>
        <p:txBody>
          <a:bodyPr wrap="square">
            <a:spAutoFit/>
          </a:bodyPr>
          <a:lstStyle/>
          <a:p>
            <a:pPr algn="l"/>
            <a:r>
              <a:rPr sz="950" b="0" i="0">
                <a:solidFill>
                  <a:srgbClr val="333344"/>
                </a:solidFill>
                <a:latin typeface="Segoe UI"/>
              </a:rPr>
              <a:t>Submission deadline — date and exact time</a:t>
            </a:r>
          </a:p>
        </p:txBody>
      </p:sp>
      <p:sp>
        <p:nvSpPr>
          <p:cNvPr id="21" name="Rectangle 20"/>
          <p:cNvSpPr/>
          <p:nvPr/>
        </p:nvSpPr>
        <p:spPr>
          <a:xfrm>
            <a:off x="411480" y="263347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633472"/>
            <a:ext cx="2194560" cy="219456"/>
          </a:xfrm>
          <a:prstGeom prst="rect">
            <a:avLst/>
          </a:prstGeom>
          <a:noFill/>
        </p:spPr>
        <p:txBody>
          <a:bodyPr wrap="square">
            <a:spAutoFit/>
          </a:bodyPr>
          <a:lstStyle/>
          <a:p>
            <a:pPr algn="l"/>
            <a:r>
              <a:rPr sz="900" b="1" i="0">
                <a:solidFill>
                  <a:srgbClr val="FFFFFF"/>
                </a:solidFill>
                <a:latin typeface="Segoe UI"/>
              </a:rPr>
              <a:t>Tender Type</a:t>
            </a:r>
          </a:p>
        </p:txBody>
      </p:sp>
      <p:sp>
        <p:nvSpPr>
          <p:cNvPr id="23" name="TextBox 22"/>
          <p:cNvSpPr txBox="1"/>
          <p:nvPr/>
        </p:nvSpPr>
        <p:spPr>
          <a:xfrm>
            <a:off x="2788920" y="2633472"/>
            <a:ext cx="2788920" cy="219456"/>
          </a:xfrm>
          <a:prstGeom prst="rect">
            <a:avLst/>
          </a:prstGeom>
          <a:noFill/>
        </p:spPr>
        <p:txBody>
          <a:bodyPr wrap="square">
            <a:spAutoFit/>
          </a:bodyPr>
          <a:lstStyle/>
          <a:p>
            <a:pPr algn="l"/>
            <a:r>
              <a:rPr sz="950" b="0" i="0">
                <a:solidFill>
                  <a:srgbClr val="333344"/>
                </a:solidFill>
                <a:latin typeface="Segoe UI"/>
              </a:rPr>
              <a:t>e.g. RFQ, Open Tender, Negotiation, etc.</a:t>
            </a:r>
          </a:p>
        </p:txBody>
      </p:sp>
      <p:sp>
        <p:nvSpPr>
          <p:cNvPr id="24" name="Rectangle 23"/>
          <p:cNvSpPr/>
          <p:nvPr/>
        </p:nvSpPr>
        <p:spPr>
          <a:xfrm>
            <a:off x="411480" y="290779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907792"/>
            <a:ext cx="2194560" cy="219456"/>
          </a:xfrm>
          <a:prstGeom prst="rect">
            <a:avLst/>
          </a:prstGeom>
          <a:noFill/>
        </p:spPr>
        <p:txBody>
          <a:bodyPr wrap="square">
            <a:spAutoFit/>
          </a:bodyPr>
          <a:lstStyle/>
          <a:p>
            <a:pPr algn="l"/>
            <a:r>
              <a:rPr sz="900" b="1" i="0">
                <a:solidFill>
                  <a:srgbClr val="FFFFFF"/>
                </a:solidFill>
                <a:latin typeface="Segoe UI"/>
              </a:rPr>
              <a:t>Tender Description</a:t>
            </a:r>
          </a:p>
        </p:txBody>
      </p:sp>
      <p:sp>
        <p:nvSpPr>
          <p:cNvPr id="26" name="TextBox 25"/>
          <p:cNvSpPr txBox="1"/>
          <p:nvPr/>
        </p:nvSpPr>
        <p:spPr>
          <a:xfrm>
            <a:off x="2788920" y="2907792"/>
            <a:ext cx="2788920" cy="219456"/>
          </a:xfrm>
          <a:prstGeom prst="rect">
            <a:avLst/>
          </a:prstGeom>
          <a:noFill/>
        </p:spPr>
        <p:txBody>
          <a:bodyPr wrap="square">
            <a:spAutoFit/>
          </a:bodyPr>
          <a:lstStyle/>
          <a:p>
            <a:pPr algn="l"/>
            <a:r>
              <a:rPr sz="950" b="0" i="0">
                <a:solidFill>
                  <a:srgbClr val="333344"/>
                </a:solidFill>
                <a:latin typeface="Segoe UI"/>
              </a:rPr>
              <a:t>Full title and description of the tender</a:t>
            </a:r>
          </a:p>
        </p:txBody>
      </p:sp>
      <p:sp>
        <p:nvSpPr>
          <p:cNvPr id="27" name="Rectangle 26"/>
          <p:cNvSpPr/>
          <p:nvPr/>
        </p:nvSpPr>
        <p:spPr>
          <a:xfrm>
            <a:off x="411480" y="318211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182112"/>
            <a:ext cx="2194560" cy="219456"/>
          </a:xfrm>
          <a:prstGeom prst="rect">
            <a:avLst/>
          </a:prstGeom>
          <a:noFill/>
        </p:spPr>
        <p:txBody>
          <a:bodyPr wrap="square">
            <a:spAutoFit/>
          </a:bodyPr>
          <a:lstStyle/>
          <a:p>
            <a:pPr algn="l"/>
            <a:r>
              <a:rPr sz="900" b="1" i="0">
                <a:solidFill>
                  <a:srgbClr val="FFFFFF"/>
                </a:solidFill>
                <a:latin typeface="Segoe UI"/>
              </a:rPr>
              <a:t>Department</a:t>
            </a:r>
          </a:p>
        </p:txBody>
      </p:sp>
      <p:sp>
        <p:nvSpPr>
          <p:cNvPr id="29" name="TextBox 28"/>
          <p:cNvSpPr txBox="1"/>
          <p:nvPr/>
        </p:nvSpPr>
        <p:spPr>
          <a:xfrm>
            <a:off x="2788920" y="3182112"/>
            <a:ext cx="2788920" cy="219456"/>
          </a:xfrm>
          <a:prstGeom prst="rect">
            <a:avLst/>
          </a:prstGeom>
          <a:noFill/>
        </p:spPr>
        <p:txBody>
          <a:bodyPr wrap="square">
            <a:spAutoFit/>
          </a:bodyPr>
          <a:lstStyle/>
          <a:p>
            <a:pPr algn="l"/>
            <a:r>
              <a:rPr sz="950" b="0" i="0">
                <a:solidFill>
                  <a:srgbClr val="333344"/>
                </a:solidFill>
                <a:latin typeface="Segoe UI"/>
              </a:rPr>
              <a:t>Organ of state advertising the tender</a:t>
            </a:r>
          </a:p>
        </p:txBody>
      </p:sp>
      <p:sp>
        <p:nvSpPr>
          <p:cNvPr id="30" name="Rectangle 29"/>
          <p:cNvSpPr/>
          <p:nvPr/>
        </p:nvSpPr>
        <p:spPr>
          <a:xfrm>
            <a:off x="411480" y="345643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456432"/>
            <a:ext cx="2194560" cy="219456"/>
          </a:xfrm>
          <a:prstGeom prst="rect">
            <a:avLst/>
          </a:prstGeom>
          <a:noFill/>
        </p:spPr>
        <p:txBody>
          <a:bodyPr wrap="square">
            <a:spAutoFit/>
          </a:bodyPr>
          <a:lstStyle/>
          <a:p>
            <a:pPr algn="l"/>
            <a:r>
              <a:rPr sz="900" b="1" i="0">
                <a:solidFill>
                  <a:srgbClr val="FFFFFF"/>
                </a:solidFill>
                <a:latin typeface="Segoe UI"/>
              </a:rPr>
              <a:t>Province</a:t>
            </a:r>
          </a:p>
        </p:txBody>
      </p:sp>
      <p:sp>
        <p:nvSpPr>
          <p:cNvPr id="32" name="TextBox 31"/>
          <p:cNvSpPr txBox="1"/>
          <p:nvPr/>
        </p:nvSpPr>
        <p:spPr>
          <a:xfrm>
            <a:off x="2788920" y="3456432"/>
            <a:ext cx="2788920" cy="219456"/>
          </a:xfrm>
          <a:prstGeom prst="rect">
            <a:avLst/>
          </a:prstGeom>
          <a:noFill/>
        </p:spPr>
        <p:txBody>
          <a:bodyPr wrap="square">
            <a:spAutoFit/>
          </a:bodyPr>
          <a:lstStyle/>
          <a:p>
            <a:pPr algn="l"/>
            <a:r>
              <a:rPr sz="950" b="0" i="0">
                <a:solidFill>
                  <a:srgbClr val="333344"/>
                </a:solidFill>
                <a:latin typeface="Segoe UI"/>
              </a:rPr>
              <a:t>Province the department falls under</a:t>
            </a:r>
          </a:p>
        </p:txBody>
      </p:sp>
      <p:sp>
        <p:nvSpPr>
          <p:cNvPr id="33" name="Rectangle 32"/>
          <p:cNvSpPr/>
          <p:nvPr/>
        </p:nvSpPr>
        <p:spPr>
          <a:xfrm>
            <a:off x="411480" y="373075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730752"/>
            <a:ext cx="2194560" cy="219456"/>
          </a:xfrm>
          <a:prstGeom prst="rect">
            <a:avLst/>
          </a:prstGeom>
          <a:noFill/>
        </p:spPr>
        <p:txBody>
          <a:bodyPr wrap="square">
            <a:spAutoFit/>
          </a:bodyPr>
          <a:lstStyle/>
          <a:p>
            <a:pPr algn="l"/>
            <a:r>
              <a:rPr sz="900" b="1" i="0">
                <a:solidFill>
                  <a:srgbClr val="FFFFFF"/>
                </a:solidFill>
                <a:latin typeface="Segoe UI"/>
              </a:rPr>
              <a:t>Category</a:t>
            </a:r>
          </a:p>
        </p:txBody>
      </p:sp>
      <p:sp>
        <p:nvSpPr>
          <p:cNvPr id="35" name="TextBox 34"/>
          <p:cNvSpPr txBox="1"/>
          <p:nvPr/>
        </p:nvSpPr>
        <p:spPr>
          <a:xfrm>
            <a:off x="2788920" y="3730752"/>
            <a:ext cx="2788920" cy="219456"/>
          </a:xfrm>
          <a:prstGeom prst="rect">
            <a:avLst/>
          </a:prstGeom>
          <a:noFill/>
        </p:spPr>
        <p:txBody>
          <a:bodyPr wrap="square">
            <a:spAutoFit/>
          </a:bodyPr>
          <a:lstStyle/>
          <a:p>
            <a:pPr algn="l"/>
            <a:r>
              <a:rPr sz="950" b="0" i="0">
                <a:solidFill>
                  <a:srgbClr val="333344"/>
                </a:solidFill>
                <a:latin typeface="Segoe UI"/>
              </a:rPr>
              <a:t>Sector category (e.g. ICT, Construction)</a:t>
            </a:r>
          </a:p>
        </p:txBody>
      </p:sp>
      <p:sp>
        <p:nvSpPr>
          <p:cNvPr id="36" name="Rectangle 35"/>
          <p:cNvSpPr/>
          <p:nvPr/>
        </p:nvSpPr>
        <p:spPr>
          <a:xfrm>
            <a:off x="411480" y="400507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005072"/>
            <a:ext cx="2194560" cy="219456"/>
          </a:xfrm>
          <a:prstGeom prst="rect">
            <a:avLst/>
          </a:prstGeom>
          <a:noFill/>
        </p:spPr>
        <p:txBody>
          <a:bodyPr wrap="square">
            <a:spAutoFit/>
          </a:bodyPr>
          <a:lstStyle/>
          <a:p>
            <a:pPr algn="l"/>
            <a:r>
              <a:rPr sz="900" b="1" i="0">
                <a:solidFill>
                  <a:srgbClr val="FFFFFF"/>
                </a:solidFill>
                <a:latin typeface="Segoe UI"/>
              </a:rPr>
              <a:t>eSubmission</a:t>
            </a:r>
          </a:p>
        </p:txBody>
      </p:sp>
      <p:sp>
        <p:nvSpPr>
          <p:cNvPr id="38" name="TextBox 37"/>
          <p:cNvSpPr txBox="1"/>
          <p:nvPr/>
        </p:nvSpPr>
        <p:spPr>
          <a:xfrm>
            <a:off x="2788920" y="4005072"/>
            <a:ext cx="2788920" cy="219456"/>
          </a:xfrm>
          <a:prstGeom prst="rect">
            <a:avLst/>
          </a:prstGeom>
          <a:noFill/>
        </p:spPr>
        <p:txBody>
          <a:bodyPr wrap="square">
            <a:spAutoFit/>
          </a:bodyPr>
          <a:lstStyle/>
          <a:p>
            <a:pPr algn="l"/>
            <a:r>
              <a:rPr sz="950" b="0" i="0">
                <a:solidFill>
                  <a:srgbClr val="333344"/>
                </a:solidFill>
                <a:latin typeface="Segoe UI"/>
              </a:rPr>
              <a:t>Whether electronic submission is available</a:t>
            </a:r>
          </a:p>
        </p:txBody>
      </p:sp>
      <p:sp>
        <p:nvSpPr>
          <p:cNvPr id="39" name="Rectangle 38"/>
          <p:cNvSpPr/>
          <p:nvPr/>
        </p:nvSpPr>
        <p:spPr>
          <a:xfrm>
            <a:off x="6126480" y="153619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72200" y="1536192"/>
            <a:ext cx="2194560" cy="219456"/>
          </a:xfrm>
          <a:prstGeom prst="rect">
            <a:avLst/>
          </a:prstGeom>
          <a:noFill/>
        </p:spPr>
        <p:txBody>
          <a:bodyPr wrap="square">
            <a:spAutoFit/>
          </a:bodyPr>
          <a:lstStyle/>
          <a:p>
            <a:pPr algn="l"/>
            <a:r>
              <a:rPr sz="900" b="1" i="0">
                <a:solidFill>
                  <a:srgbClr val="FFFFFF"/>
                </a:solidFill>
                <a:latin typeface="Segoe UI"/>
              </a:rPr>
              <a:t>Briefing Session</a:t>
            </a:r>
          </a:p>
        </p:txBody>
      </p:sp>
      <p:sp>
        <p:nvSpPr>
          <p:cNvPr id="41" name="TextBox 40"/>
          <p:cNvSpPr txBox="1"/>
          <p:nvPr/>
        </p:nvSpPr>
        <p:spPr>
          <a:xfrm>
            <a:off x="8503920" y="1536192"/>
            <a:ext cx="2788920" cy="219456"/>
          </a:xfrm>
          <a:prstGeom prst="rect">
            <a:avLst/>
          </a:prstGeom>
          <a:noFill/>
        </p:spPr>
        <p:txBody>
          <a:bodyPr wrap="square">
            <a:spAutoFit/>
          </a:bodyPr>
          <a:lstStyle/>
          <a:p>
            <a:pPr algn="l"/>
            <a:r>
              <a:rPr sz="950" b="0" i="0">
                <a:solidFill>
                  <a:srgbClr val="333344"/>
                </a:solidFill>
                <a:latin typeface="Segoe UI"/>
              </a:rPr>
              <a:t>Whether a briefing session has been scheduled</a:t>
            </a:r>
          </a:p>
        </p:txBody>
      </p:sp>
      <p:sp>
        <p:nvSpPr>
          <p:cNvPr id="42" name="Rectangle 41"/>
          <p:cNvSpPr/>
          <p:nvPr/>
        </p:nvSpPr>
        <p:spPr>
          <a:xfrm>
            <a:off x="6126480" y="181051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72200" y="1810512"/>
            <a:ext cx="2194560" cy="219456"/>
          </a:xfrm>
          <a:prstGeom prst="rect">
            <a:avLst/>
          </a:prstGeom>
          <a:noFill/>
        </p:spPr>
        <p:txBody>
          <a:bodyPr wrap="square">
            <a:spAutoFit/>
          </a:bodyPr>
          <a:lstStyle/>
          <a:p>
            <a:pPr algn="l"/>
            <a:r>
              <a:rPr sz="900" b="1" i="0">
                <a:solidFill>
                  <a:srgbClr val="FFFFFF"/>
                </a:solidFill>
                <a:latin typeface="Segoe UI"/>
              </a:rPr>
              <a:t>Briefing Date</a:t>
            </a:r>
          </a:p>
        </p:txBody>
      </p:sp>
      <p:sp>
        <p:nvSpPr>
          <p:cNvPr id="44" name="TextBox 43"/>
          <p:cNvSpPr txBox="1"/>
          <p:nvPr/>
        </p:nvSpPr>
        <p:spPr>
          <a:xfrm>
            <a:off x="8503920" y="1810512"/>
            <a:ext cx="2788920" cy="219456"/>
          </a:xfrm>
          <a:prstGeom prst="rect">
            <a:avLst/>
          </a:prstGeom>
          <a:noFill/>
        </p:spPr>
        <p:txBody>
          <a:bodyPr wrap="square">
            <a:spAutoFit/>
          </a:bodyPr>
          <a:lstStyle/>
          <a:p>
            <a:pPr algn="l"/>
            <a:r>
              <a:rPr sz="950" b="0" i="0">
                <a:solidFill>
                  <a:srgbClr val="333344"/>
                </a:solidFill>
                <a:latin typeface="Segoe UI"/>
              </a:rPr>
              <a:t>Date of the briefing session (Tender Summary only)</a:t>
            </a:r>
          </a:p>
        </p:txBody>
      </p:sp>
      <p:sp>
        <p:nvSpPr>
          <p:cNvPr id="45" name="Rectangle 44"/>
          <p:cNvSpPr/>
          <p:nvPr/>
        </p:nvSpPr>
        <p:spPr>
          <a:xfrm>
            <a:off x="6126480" y="208483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72200" y="2084832"/>
            <a:ext cx="2194560" cy="219456"/>
          </a:xfrm>
          <a:prstGeom prst="rect">
            <a:avLst/>
          </a:prstGeom>
          <a:noFill/>
        </p:spPr>
        <p:txBody>
          <a:bodyPr wrap="square">
            <a:spAutoFit/>
          </a:bodyPr>
          <a:lstStyle/>
          <a:p>
            <a:pPr algn="l"/>
            <a:r>
              <a:rPr sz="900" b="1" i="0">
                <a:solidFill>
                  <a:srgbClr val="FFFFFF"/>
                </a:solidFill>
                <a:latin typeface="Segoe UI"/>
              </a:rPr>
              <a:t>Compulsory Briefing</a:t>
            </a:r>
          </a:p>
        </p:txBody>
      </p:sp>
      <p:sp>
        <p:nvSpPr>
          <p:cNvPr id="47" name="TextBox 46"/>
          <p:cNvSpPr txBox="1"/>
          <p:nvPr/>
        </p:nvSpPr>
        <p:spPr>
          <a:xfrm>
            <a:off x="8503920" y="2084832"/>
            <a:ext cx="2788920" cy="219456"/>
          </a:xfrm>
          <a:prstGeom prst="rect">
            <a:avLst/>
          </a:prstGeom>
          <a:noFill/>
        </p:spPr>
        <p:txBody>
          <a:bodyPr wrap="square">
            <a:spAutoFit/>
          </a:bodyPr>
          <a:lstStyle/>
          <a:p>
            <a:pPr algn="l"/>
            <a:r>
              <a:rPr sz="950" b="0" i="0">
                <a:solidFill>
                  <a:srgbClr val="333344"/>
                </a:solidFill>
                <a:latin typeface="Segoe UI"/>
              </a:rPr>
              <a:t>Whether attendance at briefing is mandatory</a:t>
            </a:r>
          </a:p>
        </p:txBody>
      </p:sp>
      <p:sp>
        <p:nvSpPr>
          <p:cNvPr id="48" name="Rectangle 47"/>
          <p:cNvSpPr/>
          <p:nvPr/>
        </p:nvSpPr>
        <p:spPr>
          <a:xfrm>
            <a:off x="6126480" y="235915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72200" y="2359152"/>
            <a:ext cx="2194560" cy="219456"/>
          </a:xfrm>
          <a:prstGeom prst="rect">
            <a:avLst/>
          </a:prstGeom>
          <a:noFill/>
        </p:spPr>
        <p:txBody>
          <a:bodyPr wrap="square">
            <a:spAutoFit/>
          </a:bodyPr>
          <a:lstStyle/>
          <a:p>
            <a:pPr algn="l"/>
            <a:r>
              <a:rPr sz="900" b="1" i="0">
                <a:solidFill>
                  <a:srgbClr val="FFFFFF"/>
                </a:solidFill>
                <a:latin typeface="Segoe UI"/>
              </a:rPr>
              <a:t>Briefing Venue</a:t>
            </a:r>
          </a:p>
        </p:txBody>
      </p:sp>
      <p:sp>
        <p:nvSpPr>
          <p:cNvPr id="50" name="TextBox 49"/>
          <p:cNvSpPr txBox="1"/>
          <p:nvPr/>
        </p:nvSpPr>
        <p:spPr>
          <a:xfrm>
            <a:off x="8503920" y="2359152"/>
            <a:ext cx="2788920" cy="219456"/>
          </a:xfrm>
          <a:prstGeom prst="rect">
            <a:avLst/>
          </a:prstGeom>
          <a:noFill/>
        </p:spPr>
        <p:txBody>
          <a:bodyPr wrap="square">
            <a:spAutoFit/>
          </a:bodyPr>
          <a:lstStyle/>
          <a:p>
            <a:pPr algn="l"/>
            <a:r>
              <a:rPr sz="950" b="0" i="0">
                <a:solidFill>
                  <a:srgbClr val="333344"/>
                </a:solidFill>
                <a:latin typeface="Segoe UI"/>
              </a:rPr>
              <a:t>Location or details of the briefing session</a:t>
            </a:r>
          </a:p>
        </p:txBody>
      </p:sp>
      <p:sp>
        <p:nvSpPr>
          <p:cNvPr id="51" name="Rectangle 50"/>
          <p:cNvSpPr/>
          <p:nvPr/>
        </p:nvSpPr>
        <p:spPr>
          <a:xfrm>
            <a:off x="6126480" y="263347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0" y="2633472"/>
            <a:ext cx="2194560" cy="219456"/>
          </a:xfrm>
          <a:prstGeom prst="rect">
            <a:avLst/>
          </a:prstGeom>
          <a:noFill/>
        </p:spPr>
        <p:txBody>
          <a:bodyPr wrap="square">
            <a:spAutoFit/>
          </a:bodyPr>
          <a:lstStyle/>
          <a:p>
            <a:pPr algn="l"/>
            <a:r>
              <a:rPr sz="900" b="1" i="0">
                <a:solidFill>
                  <a:srgbClr val="FFFFFF"/>
                </a:solidFill>
                <a:latin typeface="Segoe UI"/>
              </a:rPr>
              <a:t>Link</a:t>
            </a:r>
          </a:p>
        </p:txBody>
      </p:sp>
      <p:sp>
        <p:nvSpPr>
          <p:cNvPr id="53" name="TextBox 52"/>
          <p:cNvSpPr txBox="1"/>
          <p:nvPr/>
        </p:nvSpPr>
        <p:spPr>
          <a:xfrm>
            <a:off x="8503920" y="2633472"/>
            <a:ext cx="2788920" cy="219456"/>
          </a:xfrm>
          <a:prstGeom prst="rect">
            <a:avLst/>
          </a:prstGeom>
          <a:noFill/>
        </p:spPr>
        <p:txBody>
          <a:bodyPr wrap="square">
            <a:spAutoFit/>
          </a:bodyPr>
          <a:lstStyle/>
          <a:p>
            <a:pPr algn="l"/>
            <a:r>
              <a:rPr sz="950" b="0" i="0">
                <a:solidFill>
                  <a:srgbClr val="333344"/>
                </a:solidFill>
                <a:latin typeface="Segoe UI"/>
              </a:rPr>
              <a:t>Direct clickable link to the tender document</a:t>
            </a:r>
          </a:p>
        </p:txBody>
      </p:sp>
      <p:sp>
        <p:nvSpPr>
          <p:cNvPr id="54" name="Rectangle 53"/>
          <p:cNvSpPr/>
          <p:nvPr/>
        </p:nvSpPr>
        <p:spPr>
          <a:xfrm>
            <a:off x="6126480" y="290779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72200" y="2907792"/>
            <a:ext cx="2194560" cy="219456"/>
          </a:xfrm>
          <a:prstGeom prst="rect">
            <a:avLst/>
          </a:prstGeom>
          <a:noFill/>
        </p:spPr>
        <p:txBody>
          <a:bodyPr wrap="square">
            <a:spAutoFit/>
          </a:bodyPr>
          <a:lstStyle/>
          <a:p>
            <a:pPr algn="l"/>
            <a:r>
              <a:rPr sz="900" b="1" i="0">
                <a:solidFill>
                  <a:srgbClr val="FFFFFF"/>
                </a:solidFill>
                <a:latin typeface="Segoe UI"/>
              </a:rPr>
              <a:t>SOE Flag</a:t>
            </a:r>
          </a:p>
        </p:txBody>
      </p:sp>
      <p:sp>
        <p:nvSpPr>
          <p:cNvPr id="56" name="TextBox 55"/>
          <p:cNvSpPr txBox="1"/>
          <p:nvPr/>
        </p:nvSpPr>
        <p:spPr>
          <a:xfrm>
            <a:off x="8503920" y="2907792"/>
            <a:ext cx="2788920" cy="219456"/>
          </a:xfrm>
          <a:prstGeom prst="rect">
            <a:avLst/>
          </a:prstGeom>
          <a:noFill/>
        </p:spPr>
        <p:txBody>
          <a:bodyPr wrap="square">
            <a:spAutoFit/>
          </a:bodyPr>
          <a:lstStyle/>
          <a:p>
            <a:pPr algn="l"/>
            <a:r>
              <a:rPr sz="950" b="0" i="0">
                <a:solidFill>
                  <a:srgbClr val="333344"/>
                </a:solidFill>
                <a:latin typeface="Segoe UI"/>
              </a:rPr>
              <a:t>Whether the entity is a state-owned enterprise</a:t>
            </a:r>
          </a:p>
        </p:txBody>
      </p:sp>
      <p:sp>
        <p:nvSpPr>
          <p:cNvPr id="57" name="Rectangle 56"/>
          <p:cNvSpPr/>
          <p:nvPr/>
        </p:nvSpPr>
        <p:spPr>
          <a:xfrm>
            <a:off x="6126480" y="318211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72200" y="3182112"/>
            <a:ext cx="2194560" cy="219456"/>
          </a:xfrm>
          <a:prstGeom prst="rect">
            <a:avLst/>
          </a:prstGeom>
          <a:noFill/>
        </p:spPr>
        <p:txBody>
          <a:bodyPr wrap="square">
            <a:spAutoFit/>
          </a:bodyPr>
          <a:lstStyle/>
          <a:p>
            <a:pPr algn="l"/>
            <a:r>
              <a:rPr sz="900" b="1" i="0">
                <a:solidFill>
                  <a:srgbClr val="FFFFFF"/>
                </a:solidFill>
                <a:latin typeface="Segoe UI"/>
              </a:rPr>
              <a:t>Cost of Sales Estimate</a:t>
            </a:r>
          </a:p>
        </p:txBody>
      </p:sp>
      <p:sp>
        <p:nvSpPr>
          <p:cNvPr id="59" name="TextBox 58"/>
          <p:cNvSpPr txBox="1"/>
          <p:nvPr/>
        </p:nvSpPr>
        <p:spPr>
          <a:xfrm>
            <a:off x="8503920" y="3182112"/>
            <a:ext cx="2788920" cy="219456"/>
          </a:xfrm>
          <a:prstGeom prst="rect">
            <a:avLst/>
          </a:prstGeom>
          <a:noFill/>
        </p:spPr>
        <p:txBody>
          <a:bodyPr wrap="square">
            <a:spAutoFit/>
          </a:bodyPr>
          <a:lstStyle/>
          <a:p>
            <a:pPr algn="l"/>
            <a:r>
              <a:rPr sz="950" b="0" i="0">
                <a:solidFill>
                  <a:srgbClr val="333344"/>
                </a:solidFill>
                <a:latin typeface="Segoe UI"/>
              </a:rPr>
              <a:t>Estimated value or cost attached to the tender</a:t>
            </a:r>
          </a:p>
        </p:txBody>
      </p:sp>
      <p:sp>
        <p:nvSpPr>
          <p:cNvPr id="60" name="Rectangle 59"/>
          <p:cNvSpPr/>
          <p:nvPr/>
        </p:nvSpPr>
        <p:spPr>
          <a:xfrm>
            <a:off x="6126480" y="345643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72200" y="3456432"/>
            <a:ext cx="2194560" cy="219456"/>
          </a:xfrm>
          <a:prstGeom prst="rect">
            <a:avLst/>
          </a:prstGeom>
          <a:noFill/>
        </p:spPr>
        <p:txBody>
          <a:bodyPr wrap="square">
            <a:spAutoFit/>
          </a:bodyPr>
          <a:lstStyle/>
          <a:p>
            <a:pPr algn="l"/>
            <a:r>
              <a:rPr sz="900" b="1" i="0">
                <a:solidFill>
                  <a:srgbClr val="FFFFFF"/>
                </a:solidFill>
                <a:latin typeface="Segoe UI"/>
              </a:rPr>
              <a:t>Capability Available</a:t>
            </a:r>
          </a:p>
        </p:txBody>
      </p:sp>
      <p:sp>
        <p:nvSpPr>
          <p:cNvPr id="62" name="TextBox 61"/>
          <p:cNvSpPr txBox="1"/>
          <p:nvPr/>
        </p:nvSpPr>
        <p:spPr>
          <a:xfrm>
            <a:off x="8503920" y="3456432"/>
            <a:ext cx="2788920" cy="219456"/>
          </a:xfrm>
          <a:prstGeom prst="rect">
            <a:avLst/>
          </a:prstGeom>
          <a:noFill/>
        </p:spPr>
        <p:txBody>
          <a:bodyPr wrap="square">
            <a:spAutoFit/>
          </a:bodyPr>
          <a:lstStyle/>
          <a:p>
            <a:pPr algn="l"/>
            <a:r>
              <a:rPr sz="950" b="0" i="0">
                <a:solidFill>
                  <a:srgbClr val="333344"/>
                </a:solidFill>
                <a:latin typeface="Segoe UI"/>
              </a:rPr>
              <a:t>Internal capability classification</a:t>
            </a:r>
          </a:p>
        </p:txBody>
      </p:sp>
      <p:sp>
        <p:nvSpPr>
          <p:cNvPr id="63" name="Rectangle 62"/>
          <p:cNvSpPr/>
          <p:nvPr/>
        </p:nvSpPr>
        <p:spPr>
          <a:xfrm>
            <a:off x="6126480" y="3730752"/>
            <a:ext cx="2286000" cy="219456"/>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72200" y="3730752"/>
            <a:ext cx="2194560" cy="219456"/>
          </a:xfrm>
          <a:prstGeom prst="rect">
            <a:avLst/>
          </a:prstGeom>
          <a:noFill/>
        </p:spPr>
        <p:txBody>
          <a:bodyPr wrap="square">
            <a:spAutoFit/>
          </a:bodyPr>
          <a:lstStyle/>
          <a:p>
            <a:pPr algn="l"/>
            <a:r>
              <a:rPr sz="900" b="1" i="0">
                <a:solidFill>
                  <a:srgbClr val="FFFFFF"/>
                </a:solidFill>
                <a:latin typeface="Segoe UI"/>
              </a:rPr>
              <a:t>Requirements</a:t>
            </a:r>
          </a:p>
        </p:txBody>
      </p:sp>
      <p:sp>
        <p:nvSpPr>
          <p:cNvPr id="65" name="TextBox 64"/>
          <p:cNvSpPr txBox="1"/>
          <p:nvPr/>
        </p:nvSpPr>
        <p:spPr>
          <a:xfrm>
            <a:off x="8503920" y="3730752"/>
            <a:ext cx="2788920" cy="219456"/>
          </a:xfrm>
          <a:prstGeom prst="rect">
            <a:avLst/>
          </a:prstGeom>
          <a:noFill/>
        </p:spPr>
        <p:txBody>
          <a:bodyPr wrap="square">
            <a:spAutoFit/>
          </a:bodyPr>
          <a:lstStyle/>
          <a:p>
            <a:pPr algn="l"/>
            <a:r>
              <a:rPr sz="950" b="0" i="0">
                <a:solidFill>
                  <a:srgbClr val="333344"/>
                </a:solidFill>
                <a:latin typeface="Segoe UI"/>
              </a:rPr>
              <a:t>Any special requirements listed on the tender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Coverage</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26 organs of state monitored every reporting period</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8 / 10</a:t>
            </a:r>
          </a:p>
        </p:txBody>
      </p:sp>
      <p:sp>
        <p:nvSpPr>
          <p:cNvPr id="9" name="TextBox 8"/>
          <p:cNvSpPr txBox="1"/>
          <p:nvPr/>
        </p:nvSpPr>
        <p:spPr>
          <a:xfrm>
            <a:off x="457200" y="1508760"/>
            <a:ext cx="11247120" cy="594360"/>
          </a:xfrm>
          <a:prstGeom prst="rect">
            <a:avLst/>
          </a:prstGeom>
          <a:noFill/>
        </p:spPr>
        <p:txBody>
          <a:bodyPr wrap="square">
            <a:spAutoFit/>
          </a:bodyPr>
          <a:lstStyle/>
          <a:p>
            <a:pPr algn="l"/>
            <a:r>
              <a:rPr sz="1300" b="0" i="0">
                <a:solidFill>
                  <a:srgbClr val="333344"/>
                </a:solidFill>
                <a:latin typeface="Segoe UI"/>
              </a:rPr>
              <a:t>The following departments and organs of state are tracked each batch. For each one, the reports show the number of new tenders (NNT), ICT tenders, and RFQs. The list can be customised to match your pipeline.</a:t>
            </a:r>
          </a:p>
        </p:txBody>
      </p:sp>
      <p:sp>
        <p:nvSpPr>
          <p:cNvPr id="10" name="Rectangle 9"/>
          <p:cNvSpPr/>
          <p:nvPr/>
        </p:nvSpPr>
        <p:spPr>
          <a:xfrm>
            <a:off x="457200" y="2240280"/>
            <a:ext cx="2240280" cy="384048"/>
          </a:xfrm>
          <a:prstGeom prst="rect">
            <a:avLst/>
          </a:prstGeom>
          <a:solidFill>
            <a:srgbClr val="1C3880"/>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304288"/>
            <a:ext cx="2167128" cy="310896"/>
          </a:xfrm>
          <a:prstGeom prst="rect">
            <a:avLst/>
          </a:prstGeom>
          <a:noFill/>
        </p:spPr>
        <p:txBody>
          <a:bodyPr wrap="square">
            <a:spAutoFit/>
          </a:bodyPr>
          <a:lstStyle/>
          <a:p>
            <a:pPr algn="ctr"/>
            <a:r>
              <a:rPr sz="1100" b="1" i="0">
                <a:solidFill>
                  <a:srgbClr val="FFFFFF"/>
                </a:solidFill>
                <a:latin typeface="Segoe UI"/>
              </a:rPr>
              <a:t>eTenders (All)</a:t>
            </a:r>
          </a:p>
        </p:txBody>
      </p:sp>
      <p:sp>
        <p:nvSpPr>
          <p:cNvPr id="12" name="Rectangle 11"/>
          <p:cNvSpPr/>
          <p:nvPr/>
        </p:nvSpPr>
        <p:spPr>
          <a:xfrm>
            <a:off x="2862072" y="2240280"/>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62072" y="2240280"/>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5224" y="2304288"/>
            <a:ext cx="2167128" cy="310896"/>
          </a:xfrm>
          <a:prstGeom prst="rect">
            <a:avLst/>
          </a:prstGeom>
          <a:noFill/>
        </p:spPr>
        <p:txBody>
          <a:bodyPr wrap="square">
            <a:spAutoFit/>
          </a:bodyPr>
          <a:lstStyle/>
          <a:p>
            <a:pPr algn="l"/>
            <a:r>
              <a:rPr sz="1100" b="0" i="0">
                <a:solidFill>
                  <a:srgbClr val="1C3880"/>
                </a:solidFill>
                <a:latin typeface="Segoe UI"/>
              </a:rPr>
              <a:t>Eskom</a:t>
            </a:r>
          </a:p>
        </p:txBody>
      </p:sp>
      <p:sp>
        <p:nvSpPr>
          <p:cNvPr id="15" name="Rectangle 14"/>
          <p:cNvSpPr/>
          <p:nvPr/>
        </p:nvSpPr>
        <p:spPr>
          <a:xfrm>
            <a:off x="5266944" y="2240280"/>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66944" y="2240280"/>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0096" y="2304288"/>
            <a:ext cx="2167128" cy="310896"/>
          </a:xfrm>
          <a:prstGeom prst="rect">
            <a:avLst/>
          </a:prstGeom>
          <a:noFill/>
        </p:spPr>
        <p:txBody>
          <a:bodyPr wrap="square">
            <a:spAutoFit/>
          </a:bodyPr>
          <a:lstStyle/>
          <a:p>
            <a:pPr algn="l"/>
            <a:r>
              <a:rPr sz="1100" b="0" i="0">
                <a:solidFill>
                  <a:srgbClr val="1C3880"/>
                </a:solidFill>
                <a:latin typeface="Segoe UI"/>
              </a:rPr>
              <a:t>SITA</a:t>
            </a:r>
          </a:p>
        </p:txBody>
      </p:sp>
      <p:sp>
        <p:nvSpPr>
          <p:cNvPr id="18" name="Rectangle 17"/>
          <p:cNvSpPr/>
          <p:nvPr/>
        </p:nvSpPr>
        <p:spPr>
          <a:xfrm>
            <a:off x="7671816" y="2240280"/>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71816" y="2240280"/>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44968" y="2304288"/>
            <a:ext cx="2167128" cy="310896"/>
          </a:xfrm>
          <a:prstGeom prst="rect">
            <a:avLst/>
          </a:prstGeom>
          <a:noFill/>
        </p:spPr>
        <p:txBody>
          <a:bodyPr wrap="square">
            <a:spAutoFit/>
          </a:bodyPr>
          <a:lstStyle/>
          <a:p>
            <a:pPr algn="l"/>
            <a:r>
              <a:rPr sz="1100" b="0" i="0">
                <a:solidFill>
                  <a:srgbClr val="1C3880"/>
                </a:solidFill>
                <a:latin typeface="Segoe UI"/>
              </a:rPr>
              <a:t>Transnet</a:t>
            </a:r>
          </a:p>
        </p:txBody>
      </p:sp>
      <p:sp>
        <p:nvSpPr>
          <p:cNvPr id="21" name="Rectangle 20"/>
          <p:cNvSpPr/>
          <p:nvPr/>
        </p:nvSpPr>
        <p:spPr>
          <a:xfrm>
            <a:off x="10076688" y="2240280"/>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076688" y="2240280"/>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0" y="2304288"/>
            <a:ext cx="2167128" cy="310896"/>
          </a:xfrm>
          <a:prstGeom prst="rect">
            <a:avLst/>
          </a:prstGeom>
          <a:noFill/>
        </p:spPr>
        <p:txBody>
          <a:bodyPr wrap="square">
            <a:spAutoFit/>
          </a:bodyPr>
          <a:lstStyle/>
          <a:p>
            <a:pPr algn="l"/>
            <a:r>
              <a:rPr sz="1100" b="0" i="0">
                <a:solidFill>
                  <a:srgbClr val="1C3880"/>
                </a:solidFill>
                <a:latin typeface="Segoe UI"/>
              </a:rPr>
              <a:t>JPC</a:t>
            </a:r>
          </a:p>
        </p:txBody>
      </p:sp>
      <p:sp>
        <p:nvSpPr>
          <p:cNvPr id="24" name="Rectangle 23"/>
          <p:cNvSpPr/>
          <p:nvPr/>
        </p:nvSpPr>
        <p:spPr>
          <a:xfrm>
            <a:off x="457200" y="2752344"/>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2752344"/>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2816352"/>
            <a:ext cx="2167128" cy="310896"/>
          </a:xfrm>
          <a:prstGeom prst="rect">
            <a:avLst/>
          </a:prstGeom>
          <a:noFill/>
        </p:spPr>
        <p:txBody>
          <a:bodyPr wrap="square">
            <a:spAutoFit/>
          </a:bodyPr>
          <a:lstStyle/>
          <a:p>
            <a:pPr algn="l"/>
            <a:r>
              <a:rPr sz="1100" b="0" i="0">
                <a:solidFill>
                  <a:srgbClr val="1C3880"/>
                </a:solidFill>
                <a:latin typeface="Segoe UI"/>
              </a:rPr>
              <a:t>Matatiele LM</a:t>
            </a:r>
          </a:p>
        </p:txBody>
      </p:sp>
      <p:sp>
        <p:nvSpPr>
          <p:cNvPr id="27" name="Rectangle 26"/>
          <p:cNvSpPr/>
          <p:nvPr/>
        </p:nvSpPr>
        <p:spPr>
          <a:xfrm>
            <a:off x="2862072" y="2752344"/>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62072" y="2752344"/>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35224" y="2816352"/>
            <a:ext cx="2167128" cy="310896"/>
          </a:xfrm>
          <a:prstGeom prst="rect">
            <a:avLst/>
          </a:prstGeom>
          <a:noFill/>
        </p:spPr>
        <p:txBody>
          <a:bodyPr wrap="square">
            <a:spAutoFit/>
          </a:bodyPr>
          <a:lstStyle/>
          <a:p>
            <a:pPr algn="l"/>
            <a:r>
              <a:rPr sz="1100" b="0" i="0">
                <a:solidFill>
                  <a:srgbClr val="1C3880"/>
                </a:solidFill>
                <a:latin typeface="Segoe UI"/>
              </a:rPr>
              <a:t>Ntabankulu LM</a:t>
            </a:r>
          </a:p>
        </p:txBody>
      </p:sp>
      <p:sp>
        <p:nvSpPr>
          <p:cNvPr id="30" name="Rectangle 29"/>
          <p:cNvSpPr/>
          <p:nvPr/>
        </p:nvSpPr>
        <p:spPr>
          <a:xfrm>
            <a:off x="5266944" y="2752344"/>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66944" y="2752344"/>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40096" y="2816352"/>
            <a:ext cx="2167128" cy="310896"/>
          </a:xfrm>
          <a:prstGeom prst="rect">
            <a:avLst/>
          </a:prstGeom>
          <a:noFill/>
        </p:spPr>
        <p:txBody>
          <a:bodyPr wrap="square">
            <a:spAutoFit/>
          </a:bodyPr>
          <a:lstStyle/>
          <a:p>
            <a:pPr algn="l"/>
            <a:r>
              <a:rPr sz="1100" b="0" i="0">
                <a:solidFill>
                  <a:srgbClr val="1C3880"/>
                </a:solidFill>
                <a:latin typeface="Segoe UI"/>
              </a:rPr>
              <a:t>Umzimvubu LM</a:t>
            </a:r>
          </a:p>
        </p:txBody>
      </p:sp>
      <p:sp>
        <p:nvSpPr>
          <p:cNvPr id="33" name="Rectangle 32"/>
          <p:cNvSpPr/>
          <p:nvPr/>
        </p:nvSpPr>
        <p:spPr>
          <a:xfrm>
            <a:off x="7671816" y="2752344"/>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71816" y="2752344"/>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44968" y="2816352"/>
            <a:ext cx="2167128" cy="310896"/>
          </a:xfrm>
          <a:prstGeom prst="rect">
            <a:avLst/>
          </a:prstGeom>
          <a:noFill/>
        </p:spPr>
        <p:txBody>
          <a:bodyPr wrap="square">
            <a:spAutoFit/>
          </a:bodyPr>
          <a:lstStyle/>
          <a:p>
            <a:pPr algn="l"/>
            <a:r>
              <a:rPr sz="1100" b="0" i="0">
                <a:solidFill>
                  <a:srgbClr val="1C3880"/>
                </a:solidFill>
                <a:latin typeface="Segoe UI"/>
              </a:rPr>
              <a:t>Winnie Mandela LM</a:t>
            </a:r>
          </a:p>
        </p:txBody>
      </p:sp>
      <p:sp>
        <p:nvSpPr>
          <p:cNvPr id="36" name="Rectangle 35"/>
          <p:cNvSpPr/>
          <p:nvPr/>
        </p:nvSpPr>
        <p:spPr>
          <a:xfrm>
            <a:off x="10076688" y="2752344"/>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76688" y="2752344"/>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0" y="2816352"/>
            <a:ext cx="2167128" cy="310896"/>
          </a:xfrm>
          <a:prstGeom prst="rect">
            <a:avLst/>
          </a:prstGeom>
          <a:noFill/>
        </p:spPr>
        <p:txBody>
          <a:bodyPr wrap="square">
            <a:spAutoFit/>
          </a:bodyPr>
          <a:lstStyle/>
          <a:p>
            <a:pPr algn="l"/>
            <a:r>
              <a:rPr sz="1100" b="0" i="0">
                <a:solidFill>
                  <a:srgbClr val="1C3880"/>
                </a:solidFill>
                <a:latin typeface="Segoe UI"/>
              </a:rPr>
              <a:t>Mnquma LM</a:t>
            </a:r>
          </a:p>
        </p:txBody>
      </p:sp>
      <p:sp>
        <p:nvSpPr>
          <p:cNvPr id="39" name="Rectangle 38"/>
          <p:cNvSpPr/>
          <p:nvPr/>
        </p:nvSpPr>
        <p:spPr>
          <a:xfrm>
            <a:off x="457200" y="3264408"/>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3264408"/>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 y="3328416"/>
            <a:ext cx="2167128" cy="310896"/>
          </a:xfrm>
          <a:prstGeom prst="rect">
            <a:avLst/>
          </a:prstGeom>
          <a:noFill/>
        </p:spPr>
        <p:txBody>
          <a:bodyPr wrap="square">
            <a:spAutoFit/>
          </a:bodyPr>
          <a:lstStyle/>
          <a:p>
            <a:pPr algn="l"/>
            <a:r>
              <a:rPr sz="1100" b="0" i="0">
                <a:solidFill>
                  <a:srgbClr val="1C3880"/>
                </a:solidFill>
                <a:latin typeface="Segoe UI"/>
              </a:rPr>
              <a:t>Great Kei LM</a:t>
            </a:r>
          </a:p>
        </p:txBody>
      </p:sp>
      <p:sp>
        <p:nvSpPr>
          <p:cNvPr id="42" name="Rectangle 41"/>
          <p:cNvSpPr/>
          <p:nvPr/>
        </p:nvSpPr>
        <p:spPr>
          <a:xfrm>
            <a:off x="2862072" y="3264408"/>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862072" y="3264408"/>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35224" y="3328416"/>
            <a:ext cx="2167128" cy="310896"/>
          </a:xfrm>
          <a:prstGeom prst="rect">
            <a:avLst/>
          </a:prstGeom>
          <a:noFill/>
        </p:spPr>
        <p:txBody>
          <a:bodyPr wrap="square">
            <a:spAutoFit/>
          </a:bodyPr>
          <a:lstStyle/>
          <a:p>
            <a:pPr algn="l"/>
            <a:r>
              <a:rPr sz="1100" b="0" i="0">
                <a:solidFill>
                  <a:srgbClr val="1C3880"/>
                </a:solidFill>
                <a:latin typeface="Segoe UI"/>
              </a:rPr>
              <a:t>Amahlathi LM</a:t>
            </a:r>
          </a:p>
        </p:txBody>
      </p:sp>
      <p:sp>
        <p:nvSpPr>
          <p:cNvPr id="45" name="Rectangle 44"/>
          <p:cNvSpPr/>
          <p:nvPr/>
        </p:nvSpPr>
        <p:spPr>
          <a:xfrm>
            <a:off x="5266944" y="3264408"/>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266944" y="3264408"/>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340096" y="3328416"/>
            <a:ext cx="2167128" cy="310896"/>
          </a:xfrm>
          <a:prstGeom prst="rect">
            <a:avLst/>
          </a:prstGeom>
          <a:noFill/>
        </p:spPr>
        <p:txBody>
          <a:bodyPr wrap="square">
            <a:spAutoFit/>
          </a:bodyPr>
          <a:lstStyle/>
          <a:p>
            <a:pPr algn="l"/>
            <a:r>
              <a:rPr sz="1100" b="0" i="0">
                <a:solidFill>
                  <a:srgbClr val="1C3880"/>
                </a:solidFill>
                <a:latin typeface="Segoe UI"/>
              </a:rPr>
              <a:t>Raymond Mhlaba LM</a:t>
            </a:r>
          </a:p>
        </p:txBody>
      </p:sp>
      <p:sp>
        <p:nvSpPr>
          <p:cNvPr id="48" name="Rectangle 47"/>
          <p:cNvSpPr/>
          <p:nvPr/>
        </p:nvSpPr>
        <p:spPr>
          <a:xfrm>
            <a:off x="7671816" y="3264408"/>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71816" y="3264408"/>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44968" y="3328416"/>
            <a:ext cx="2167128" cy="310896"/>
          </a:xfrm>
          <a:prstGeom prst="rect">
            <a:avLst/>
          </a:prstGeom>
          <a:noFill/>
        </p:spPr>
        <p:txBody>
          <a:bodyPr wrap="square">
            <a:spAutoFit/>
          </a:bodyPr>
          <a:lstStyle/>
          <a:p>
            <a:pPr algn="l"/>
            <a:r>
              <a:rPr sz="1100" b="0" i="0">
                <a:solidFill>
                  <a:srgbClr val="1C3880"/>
                </a:solidFill>
                <a:latin typeface="Segoe UI"/>
              </a:rPr>
              <a:t>JOSHCO</a:t>
            </a:r>
          </a:p>
        </p:txBody>
      </p:sp>
      <p:sp>
        <p:nvSpPr>
          <p:cNvPr id="51" name="Rectangle 50"/>
          <p:cNvSpPr/>
          <p:nvPr/>
        </p:nvSpPr>
        <p:spPr>
          <a:xfrm>
            <a:off x="10076688" y="3264408"/>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76688" y="3264408"/>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149840" y="3328416"/>
            <a:ext cx="2167128" cy="310896"/>
          </a:xfrm>
          <a:prstGeom prst="rect">
            <a:avLst/>
          </a:prstGeom>
          <a:noFill/>
        </p:spPr>
        <p:txBody>
          <a:bodyPr wrap="square">
            <a:spAutoFit/>
          </a:bodyPr>
          <a:lstStyle/>
          <a:p>
            <a:pPr algn="l"/>
            <a:r>
              <a:rPr sz="1100" b="0" i="0">
                <a:solidFill>
                  <a:srgbClr val="1C3880"/>
                </a:solidFill>
                <a:latin typeface="Segoe UI"/>
              </a:rPr>
              <a:t>GPL</a:t>
            </a:r>
          </a:p>
        </p:txBody>
      </p:sp>
      <p:sp>
        <p:nvSpPr>
          <p:cNvPr id="54" name="Rectangle 53"/>
          <p:cNvSpPr/>
          <p:nvPr/>
        </p:nvSpPr>
        <p:spPr>
          <a:xfrm>
            <a:off x="457200" y="3776472"/>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3776472"/>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0352" y="3840480"/>
            <a:ext cx="2167128" cy="310896"/>
          </a:xfrm>
          <a:prstGeom prst="rect">
            <a:avLst/>
          </a:prstGeom>
          <a:noFill/>
        </p:spPr>
        <p:txBody>
          <a:bodyPr wrap="square">
            <a:spAutoFit/>
          </a:bodyPr>
          <a:lstStyle/>
          <a:p>
            <a:pPr algn="l"/>
            <a:r>
              <a:rPr sz="1100" b="0" i="0">
                <a:solidFill>
                  <a:srgbClr val="1C3880"/>
                </a:solidFill>
                <a:latin typeface="Segoe UI"/>
              </a:rPr>
              <a:t>RAF</a:t>
            </a:r>
          </a:p>
        </p:txBody>
      </p:sp>
      <p:sp>
        <p:nvSpPr>
          <p:cNvPr id="57" name="Rectangle 56"/>
          <p:cNvSpPr/>
          <p:nvPr/>
        </p:nvSpPr>
        <p:spPr>
          <a:xfrm>
            <a:off x="2862072" y="3776472"/>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862072" y="3776472"/>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935224" y="3840480"/>
            <a:ext cx="2167128" cy="310896"/>
          </a:xfrm>
          <a:prstGeom prst="rect">
            <a:avLst/>
          </a:prstGeom>
          <a:noFill/>
        </p:spPr>
        <p:txBody>
          <a:bodyPr wrap="square">
            <a:spAutoFit/>
          </a:bodyPr>
          <a:lstStyle/>
          <a:p>
            <a:pPr algn="l"/>
            <a:r>
              <a:rPr sz="1100" b="0" i="0">
                <a:solidFill>
                  <a:srgbClr val="1C3880"/>
                </a:solidFill>
                <a:latin typeface="Segoe UI"/>
              </a:rPr>
              <a:t>MM Trading Company</a:t>
            </a:r>
          </a:p>
        </p:txBody>
      </p:sp>
      <p:sp>
        <p:nvSpPr>
          <p:cNvPr id="60" name="Rectangle 59"/>
          <p:cNvSpPr/>
          <p:nvPr/>
        </p:nvSpPr>
        <p:spPr>
          <a:xfrm>
            <a:off x="5266944" y="3776472"/>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266944" y="3776472"/>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40096" y="3840480"/>
            <a:ext cx="2167128" cy="310896"/>
          </a:xfrm>
          <a:prstGeom prst="rect">
            <a:avLst/>
          </a:prstGeom>
          <a:noFill/>
        </p:spPr>
        <p:txBody>
          <a:bodyPr wrap="square">
            <a:spAutoFit/>
          </a:bodyPr>
          <a:lstStyle/>
          <a:p>
            <a:pPr algn="l"/>
            <a:r>
              <a:rPr sz="1100" b="0" i="0">
                <a:solidFill>
                  <a:srgbClr val="1C3880"/>
                </a:solidFill>
                <a:latin typeface="Segoe UI"/>
              </a:rPr>
              <a:t>Nelson Mandela Bay MM</a:t>
            </a:r>
          </a:p>
        </p:txBody>
      </p:sp>
      <p:sp>
        <p:nvSpPr>
          <p:cNvPr id="63" name="Rectangle 62"/>
          <p:cNvSpPr/>
          <p:nvPr/>
        </p:nvSpPr>
        <p:spPr>
          <a:xfrm>
            <a:off x="7671816" y="3776472"/>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3776472"/>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744968" y="3840480"/>
            <a:ext cx="2167128" cy="310896"/>
          </a:xfrm>
          <a:prstGeom prst="rect">
            <a:avLst/>
          </a:prstGeom>
          <a:noFill/>
        </p:spPr>
        <p:txBody>
          <a:bodyPr wrap="square">
            <a:spAutoFit/>
          </a:bodyPr>
          <a:lstStyle/>
          <a:p>
            <a:pPr algn="l"/>
            <a:r>
              <a:rPr sz="1100" b="0" i="0">
                <a:solidFill>
                  <a:srgbClr val="1C3880"/>
                </a:solidFill>
                <a:latin typeface="Segoe UI"/>
              </a:rPr>
              <a:t>Buffalo City MM</a:t>
            </a:r>
          </a:p>
        </p:txBody>
      </p:sp>
      <p:sp>
        <p:nvSpPr>
          <p:cNvPr id="66" name="Rectangle 65"/>
          <p:cNvSpPr/>
          <p:nvPr/>
        </p:nvSpPr>
        <p:spPr>
          <a:xfrm>
            <a:off x="10076688" y="3776472"/>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076688" y="3776472"/>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149840" y="3840480"/>
            <a:ext cx="2167128" cy="310896"/>
          </a:xfrm>
          <a:prstGeom prst="rect">
            <a:avLst/>
          </a:prstGeom>
          <a:noFill/>
        </p:spPr>
        <p:txBody>
          <a:bodyPr wrap="square">
            <a:spAutoFit/>
          </a:bodyPr>
          <a:lstStyle/>
          <a:p>
            <a:pPr algn="l"/>
            <a:r>
              <a:rPr sz="1100" b="0" i="0">
                <a:solidFill>
                  <a:srgbClr val="1C3880"/>
                </a:solidFill>
                <a:latin typeface="Segoe UI"/>
              </a:rPr>
              <a:t>EC DPW</a:t>
            </a:r>
          </a:p>
        </p:txBody>
      </p:sp>
      <p:sp>
        <p:nvSpPr>
          <p:cNvPr id="69" name="Rectangle 68"/>
          <p:cNvSpPr/>
          <p:nvPr/>
        </p:nvSpPr>
        <p:spPr>
          <a:xfrm>
            <a:off x="457200" y="4288536"/>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4288536"/>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30352" y="4352544"/>
            <a:ext cx="2167128" cy="310896"/>
          </a:xfrm>
          <a:prstGeom prst="rect">
            <a:avLst/>
          </a:prstGeom>
          <a:noFill/>
        </p:spPr>
        <p:txBody>
          <a:bodyPr wrap="square">
            <a:spAutoFit/>
          </a:bodyPr>
          <a:lstStyle/>
          <a:p>
            <a:pPr algn="l"/>
            <a:r>
              <a:rPr sz="1100" b="0" i="0">
                <a:solidFill>
                  <a:srgbClr val="1C3880"/>
                </a:solidFill>
                <a:latin typeface="Segoe UI"/>
              </a:rPr>
              <a:t>DEL</a:t>
            </a:r>
          </a:p>
        </p:txBody>
      </p:sp>
      <p:sp>
        <p:nvSpPr>
          <p:cNvPr id="72" name="Rectangle 71"/>
          <p:cNvSpPr/>
          <p:nvPr/>
        </p:nvSpPr>
        <p:spPr>
          <a:xfrm>
            <a:off x="2862072" y="4288536"/>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862072" y="4288536"/>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935224" y="4352544"/>
            <a:ext cx="2167128" cy="310896"/>
          </a:xfrm>
          <a:prstGeom prst="rect">
            <a:avLst/>
          </a:prstGeom>
          <a:noFill/>
        </p:spPr>
        <p:txBody>
          <a:bodyPr wrap="square">
            <a:spAutoFit/>
          </a:bodyPr>
          <a:lstStyle/>
          <a:p>
            <a:pPr algn="l"/>
            <a:r>
              <a:rPr sz="1100" b="0" i="0">
                <a:solidFill>
                  <a:srgbClr val="1C3880"/>
                </a:solidFill>
                <a:latin typeface="Segoe UI"/>
              </a:rPr>
              <a:t>SIU</a:t>
            </a:r>
          </a:p>
        </p:txBody>
      </p:sp>
      <p:sp>
        <p:nvSpPr>
          <p:cNvPr id="75" name="Rectangle 74"/>
          <p:cNvSpPr/>
          <p:nvPr/>
        </p:nvSpPr>
        <p:spPr>
          <a:xfrm>
            <a:off x="5266944" y="4288536"/>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266944" y="4288536"/>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340096" y="4352544"/>
            <a:ext cx="2167128" cy="310896"/>
          </a:xfrm>
          <a:prstGeom prst="rect">
            <a:avLst/>
          </a:prstGeom>
          <a:noFill/>
        </p:spPr>
        <p:txBody>
          <a:bodyPr wrap="square">
            <a:spAutoFit/>
          </a:bodyPr>
          <a:lstStyle/>
          <a:p>
            <a:pPr algn="l"/>
            <a:r>
              <a:rPr sz="1100" b="0" i="0">
                <a:solidFill>
                  <a:srgbClr val="1C3880"/>
                </a:solidFill>
                <a:latin typeface="Segoe UI"/>
              </a:rPr>
              <a:t>GDoH</a:t>
            </a:r>
          </a:p>
        </p:txBody>
      </p:sp>
      <p:sp>
        <p:nvSpPr>
          <p:cNvPr id="78" name="Rectangle 77"/>
          <p:cNvSpPr/>
          <p:nvPr/>
        </p:nvSpPr>
        <p:spPr>
          <a:xfrm>
            <a:off x="7671816" y="4288536"/>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671816" y="4288536"/>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744968" y="4352544"/>
            <a:ext cx="2167128" cy="310896"/>
          </a:xfrm>
          <a:prstGeom prst="rect">
            <a:avLst/>
          </a:prstGeom>
          <a:noFill/>
        </p:spPr>
        <p:txBody>
          <a:bodyPr wrap="square">
            <a:spAutoFit/>
          </a:bodyPr>
          <a:lstStyle/>
          <a:p>
            <a:pPr algn="l"/>
            <a:r>
              <a:rPr sz="1100" b="0" i="0">
                <a:solidFill>
                  <a:srgbClr val="1C3880"/>
                </a:solidFill>
                <a:latin typeface="Segoe UI"/>
              </a:rPr>
              <a:t>DIRCO</a:t>
            </a:r>
          </a:p>
        </p:txBody>
      </p:sp>
      <p:sp>
        <p:nvSpPr>
          <p:cNvPr id="81" name="Rectangle 80"/>
          <p:cNvSpPr/>
          <p:nvPr/>
        </p:nvSpPr>
        <p:spPr>
          <a:xfrm>
            <a:off x="10076688" y="4288536"/>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076688" y="4288536"/>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149840" y="4352544"/>
            <a:ext cx="2167128" cy="310896"/>
          </a:xfrm>
          <a:prstGeom prst="rect">
            <a:avLst/>
          </a:prstGeom>
          <a:noFill/>
        </p:spPr>
        <p:txBody>
          <a:bodyPr wrap="square">
            <a:spAutoFit/>
          </a:bodyPr>
          <a:lstStyle/>
          <a:p>
            <a:pPr algn="l"/>
            <a:r>
              <a:rPr sz="1100" b="0" i="0">
                <a:solidFill>
                  <a:srgbClr val="1C3880"/>
                </a:solidFill>
                <a:latin typeface="Segoe UI"/>
              </a:rPr>
              <a:t>CP JHB</a:t>
            </a:r>
          </a:p>
        </p:txBody>
      </p:sp>
      <p:sp>
        <p:nvSpPr>
          <p:cNvPr id="84" name="Rectangle 83"/>
          <p:cNvSpPr/>
          <p:nvPr/>
        </p:nvSpPr>
        <p:spPr>
          <a:xfrm>
            <a:off x="457200" y="4800600"/>
            <a:ext cx="2240280" cy="384048"/>
          </a:xfrm>
          <a:prstGeom prst="rect">
            <a:avLst/>
          </a:prstGeom>
          <a:solidFill>
            <a:srgbClr val="F4F6FA"/>
          </a:solidFill>
          <a:ln w="7620">
            <a:solidFill>
              <a:srgbClr val="2544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457200" y="4800600"/>
            <a:ext cx="36576" cy="384048"/>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30352" y="4864608"/>
            <a:ext cx="2167128" cy="310896"/>
          </a:xfrm>
          <a:prstGeom prst="rect">
            <a:avLst/>
          </a:prstGeom>
          <a:noFill/>
        </p:spPr>
        <p:txBody>
          <a:bodyPr wrap="square">
            <a:spAutoFit/>
          </a:bodyPr>
          <a:lstStyle/>
          <a:p>
            <a:pPr algn="l"/>
            <a:r>
              <a:rPr sz="1100" b="0" i="0">
                <a:solidFill>
                  <a:srgbClr val="1C3880"/>
                </a:solidFill>
                <a:latin typeface="Segoe UI"/>
              </a:rPr>
              <a:t>W JHB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2588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71016"/>
            <a:ext cx="12188952" cy="54864"/>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1155680" cy="640080"/>
          </a:xfrm>
          <a:prstGeom prst="rect">
            <a:avLst/>
          </a:prstGeom>
          <a:noFill/>
        </p:spPr>
        <p:txBody>
          <a:bodyPr wrap="square">
            <a:spAutoFit/>
          </a:bodyPr>
          <a:lstStyle/>
          <a:p>
            <a:pPr algn="l"/>
            <a:r>
              <a:rPr sz="2800" b="1" i="0">
                <a:solidFill>
                  <a:srgbClr val="FFFFFF"/>
                </a:solidFill>
                <a:latin typeface="Segoe UI"/>
              </a:rPr>
              <a:t>Why Amidel</a:t>
            </a:r>
          </a:p>
        </p:txBody>
      </p:sp>
      <p:sp>
        <p:nvSpPr>
          <p:cNvPr id="5" name="TextBox 4"/>
          <p:cNvSpPr txBox="1"/>
          <p:nvPr/>
        </p:nvSpPr>
        <p:spPr>
          <a:xfrm>
            <a:off x="502920" y="749808"/>
            <a:ext cx="11155680" cy="365760"/>
          </a:xfrm>
          <a:prstGeom prst="rect">
            <a:avLst/>
          </a:prstGeom>
          <a:noFill/>
        </p:spPr>
        <p:txBody>
          <a:bodyPr wrap="square">
            <a:spAutoFit/>
          </a:bodyPr>
          <a:lstStyle/>
          <a:p>
            <a:pPr algn="l"/>
            <a:r>
              <a:rPr sz="1400" b="0" i="1">
                <a:solidFill>
                  <a:srgbClr val="F5A000"/>
                </a:solidFill>
                <a:latin typeface="Segoe UI"/>
              </a:rPr>
              <a:t>Local expertise. Custom solutions. Real results.</a:t>
            </a:r>
          </a:p>
        </p:txBody>
      </p:sp>
      <p:sp>
        <p:nvSpPr>
          <p:cNvPr id="6" name="Rectangle 5"/>
          <p:cNvSpPr/>
          <p:nvPr/>
        </p:nvSpPr>
        <p:spPr>
          <a:xfrm>
            <a:off x="0" y="6565392"/>
            <a:ext cx="12188952" cy="292608"/>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spAutoFit/>
          </a:bodyPr>
          <a:lstStyle/>
          <a:p>
            <a:pPr algn="l"/>
            <a:r>
              <a:rPr sz="900" b="0" i="0">
                <a:solidFill>
                  <a:srgbClr val="F4F6FA"/>
                </a:solidFill>
                <a:latin typeface="Segoe UI"/>
              </a:rPr>
              <a:t>Amidel (Pty) Ltd  |  Beyond Technology  |  Tender Intelligence</a:t>
            </a:r>
          </a:p>
        </p:txBody>
      </p:sp>
      <p:sp>
        <p:nvSpPr>
          <p:cNvPr id="8" name="TextBox 7"/>
          <p:cNvSpPr txBox="1"/>
          <p:nvPr/>
        </p:nvSpPr>
        <p:spPr>
          <a:xfrm>
            <a:off x="11430000" y="6574536"/>
            <a:ext cx="640080" cy="274320"/>
          </a:xfrm>
          <a:prstGeom prst="rect">
            <a:avLst/>
          </a:prstGeom>
          <a:noFill/>
        </p:spPr>
        <p:txBody>
          <a:bodyPr wrap="square">
            <a:spAutoFit/>
          </a:bodyPr>
          <a:lstStyle/>
          <a:p>
            <a:pPr algn="r"/>
            <a:r>
              <a:rPr sz="900" b="0" i="0">
                <a:solidFill>
                  <a:srgbClr val="F5A000"/>
                </a:solidFill>
                <a:latin typeface="Segoe UI"/>
              </a:rPr>
              <a:t>9 / 10</a:t>
            </a:r>
          </a:p>
        </p:txBody>
      </p:sp>
      <p:sp>
        <p:nvSpPr>
          <p:cNvPr id="9" name="Rectangle 8"/>
          <p:cNvSpPr/>
          <p:nvPr/>
        </p:nvSpPr>
        <p:spPr>
          <a:xfrm>
            <a:off x="411480" y="150876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0876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1636776"/>
            <a:ext cx="5193792" cy="1380744"/>
          </a:xfrm>
          <a:prstGeom prst="rect">
            <a:avLst/>
          </a:prstGeom>
          <a:noFill/>
        </p:spPr>
        <p:txBody>
          <a:bodyPr wrap="square">
            <a:spAutoFit/>
          </a:bodyPr>
          <a:lstStyle/>
          <a:p>
            <a:pPr algn="l"/>
            <a:r>
              <a:rPr sz="1400" b="1">
                <a:solidFill>
                  <a:srgbClr val="1C3880"/>
                </a:solidFill>
                <a:latin typeface="Segoe UI"/>
              </a:rPr>
              <a:t>Built for South Africa</a:t>
            </a:r>
          </a:p>
          <a:p>
            <a:pPr algn="l"/>
            <a:r>
              <a:rPr sz="1200" b="0" i="0">
                <a:solidFill>
                  <a:srgbClr val="333344"/>
                </a:solidFill>
                <a:latin typeface="Segoe UI"/>
              </a:rPr>
              <a:t>• Designed specifically for etenders.gov.za</a:t>
            </a:r>
          </a:p>
          <a:p>
            <a:pPr algn="l"/>
            <a:r>
              <a:rPr sz="1200" b="0" i="0">
                <a:solidFill>
                  <a:srgbClr val="333344"/>
                </a:solidFill>
                <a:latin typeface="Segoe UI"/>
              </a:rPr>
              <a:t>• Understands the SA government procurement landscape</a:t>
            </a:r>
          </a:p>
          <a:p>
            <a:pPr algn="l"/>
            <a:r>
              <a:rPr sz="1200" b="0" i="0">
                <a:solidFill>
                  <a:srgbClr val="333344"/>
                </a:solidFill>
                <a:latin typeface="Segoe UI"/>
              </a:rPr>
              <a:t>• Tracks the organs of state relevant to your sector</a:t>
            </a:r>
          </a:p>
          <a:p>
            <a:pPr algn="l"/>
            <a:r>
              <a:rPr sz="1200" b="0" i="0">
                <a:solidFill>
                  <a:srgbClr val="333344"/>
                </a:solidFill>
                <a:latin typeface="Segoe UI"/>
              </a:rPr>
              <a:t>• Adapts to local tender formats and classifications</a:t>
            </a:r>
          </a:p>
        </p:txBody>
      </p:sp>
      <p:sp>
        <p:nvSpPr>
          <p:cNvPr id="12" name="Rectangle 11"/>
          <p:cNvSpPr/>
          <p:nvPr/>
        </p:nvSpPr>
        <p:spPr>
          <a:xfrm>
            <a:off x="6309360" y="150876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50876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636776"/>
            <a:ext cx="5193792" cy="1380744"/>
          </a:xfrm>
          <a:prstGeom prst="rect">
            <a:avLst/>
          </a:prstGeom>
          <a:noFill/>
        </p:spPr>
        <p:txBody>
          <a:bodyPr wrap="square">
            <a:spAutoFit/>
          </a:bodyPr>
          <a:lstStyle/>
          <a:p>
            <a:pPr algn="l"/>
            <a:r>
              <a:rPr sz="1400" b="1">
                <a:solidFill>
                  <a:srgbClr val="1C3880"/>
                </a:solidFill>
                <a:latin typeface="Segoe UI"/>
              </a:rPr>
              <a:t>Delivered, Not Just Built</a:t>
            </a:r>
          </a:p>
          <a:p>
            <a:pPr algn="l"/>
            <a:r>
              <a:rPr sz="1200" b="0" i="0">
                <a:solidFill>
                  <a:srgbClr val="333344"/>
                </a:solidFill>
                <a:latin typeface="Segoe UI"/>
              </a:rPr>
              <a:t>• Reports are generated and distributed automatically</a:t>
            </a:r>
          </a:p>
          <a:p>
            <a:pPr algn="l"/>
            <a:r>
              <a:rPr sz="1200" b="0" i="0">
                <a:solidFill>
                  <a:srgbClr val="333344"/>
                </a:solidFill>
                <a:latin typeface="Segoe UI"/>
              </a:rPr>
              <a:t>• Your team receives structured outputs — no setup required</a:t>
            </a:r>
          </a:p>
          <a:p>
            <a:pPr algn="l"/>
            <a:r>
              <a:rPr sz="1200" b="0" i="0">
                <a:solidFill>
                  <a:srgbClr val="333344"/>
                </a:solidFill>
                <a:latin typeface="Segoe UI"/>
              </a:rPr>
              <a:t>• OneDrive integration keeps everyone in sync</a:t>
            </a:r>
          </a:p>
          <a:p>
            <a:pPr algn="l"/>
            <a:r>
              <a:rPr sz="1200" b="0" i="0">
                <a:solidFill>
                  <a:srgbClr val="333344"/>
                </a:solidFill>
                <a:latin typeface="Segoe UI"/>
              </a:rPr>
              <a:t>• Consistent format every batch, without fail</a:t>
            </a:r>
          </a:p>
        </p:txBody>
      </p:sp>
      <p:sp>
        <p:nvSpPr>
          <p:cNvPr id="15" name="Rectangle 14"/>
          <p:cNvSpPr/>
          <p:nvPr/>
        </p:nvSpPr>
        <p:spPr>
          <a:xfrm>
            <a:off x="411480" y="315468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5468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3282696"/>
            <a:ext cx="5193792" cy="1380744"/>
          </a:xfrm>
          <a:prstGeom prst="rect">
            <a:avLst/>
          </a:prstGeom>
          <a:noFill/>
        </p:spPr>
        <p:txBody>
          <a:bodyPr wrap="square">
            <a:spAutoFit/>
          </a:bodyPr>
          <a:lstStyle/>
          <a:p>
            <a:pPr algn="l"/>
            <a:r>
              <a:rPr sz="1400" b="1">
                <a:solidFill>
                  <a:srgbClr val="1C3880"/>
                </a:solidFill>
                <a:latin typeface="Segoe UI"/>
              </a:rPr>
              <a:t>Customisable to Your Needs</a:t>
            </a:r>
          </a:p>
          <a:p>
            <a:pPr algn="l"/>
            <a:r>
              <a:rPr sz="1200" b="0" i="0">
                <a:solidFill>
                  <a:srgbClr val="333344"/>
                </a:solidFill>
                <a:latin typeface="Segoe UI"/>
              </a:rPr>
              <a:t>• Department watchlist tailored to your pipeline</a:t>
            </a:r>
          </a:p>
          <a:p>
            <a:pPr algn="l"/>
            <a:r>
              <a:rPr sz="1200" b="0" i="0">
                <a:solidFill>
                  <a:srgbClr val="333344"/>
                </a:solidFill>
                <a:latin typeface="Segoe UI"/>
              </a:rPr>
              <a:t>• Additional classification fields can be added</a:t>
            </a:r>
          </a:p>
          <a:p>
            <a:pPr algn="l"/>
            <a:r>
              <a:rPr sz="1200" b="0" i="0">
                <a:solidFill>
                  <a:srgbClr val="333344"/>
                </a:solidFill>
                <a:latin typeface="Segoe UI"/>
              </a:rPr>
              <a:t>• Reporting cadence matches your business rhythm</a:t>
            </a:r>
          </a:p>
          <a:p>
            <a:pPr algn="l"/>
            <a:r>
              <a:rPr sz="1200" b="0" i="0">
                <a:solidFill>
                  <a:srgbClr val="333344"/>
                </a:solidFill>
                <a:latin typeface="Segoe UI"/>
              </a:rPr>
              <a:t>• Future modules: email delivery, dashboard views</a:t>
            </a:r>
          </a:p>
        </p:txBody>
      </p:sp>
      <p:sp>
        <p:nvSpPr>
          <p:cNvPr id="18" name="Rectangle 17"/>
          <p:cNvSpPr/>
          <p:nvPr/>
        </p:nvSpPr>
        <p:spPr>
          <a:xfrm>
            <a:off x="6309360" y="3154680"/>
            <a:ext cx="5394960" cy="1508760"/>
          </a:xfrm>
          <a:prstGeom prst="rect">
            <a:avLst/>
          </a:prstGeom>
          <a:solidFill>
            <a:srgbClr val="F4F6FA"/>
          </a:solidFill>
          <a:ln w="9525">
            <a:solidFill>
              <a:srgbClr val="E0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54680"/>
            <a:ext cx="50292" cy="150876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3282696"/>
            <a:ext cx="5193792" cy="1380744"/>
          </a:xfrm>
          <a:prstGeom prst="rect">
            <a:avLst/>
          </a:prstGeom>
          <a:noFill/>
        </p:spPr>
        <p:txBody>
          <a:bodyPr wrap="square">
            <a:spAutoFit/>
          </a:bodyPr>
          <a:lstStyle/>
          <a:p>
            <a:pPr algn="l"/>
            <a:r>
              <a:rPr sz="1400" b="1">
                <a:solidFill>
                  <a:srgbClr val="1C3880"/>
                </a:solidFill>
                <a:latin typeface="Segoe UI"/>
              </a:rPr>
              <a:t>Proven &amp; Actively Maintained</a:t>
            </a:r>
          </a:p>
          <a:p>
            <a:pPr algn="l"/>
            <a:r>
              <a:rPr sz="1200" b="0" i="0">
                <a:solidFill>
                  <a:srgbClr val="333344"/>
                </a:solidFill>
                <a:latin typeface="Segoe UI"/>
              </a:rPr>
              <a:t>• Used internally at Amidel for live procurement tracking</a:t>
            </a:r>
          </a:p>
          <a:p>
            <a:pPr algn="l"/>
            <a:r>
              <a:rPr sz="1200" b="0" i="0">
                <a:solidFill>
                  <a:srgbClr val="333344"/>
                </a:solidFill>
                <a:latin typeface="Segoe UI"/>
              </a:rPr>
              <a:t>• Refined through real-world batch cycles</a:t>
            </a:r>
          </a:p>
          <a:p>
            <a:pPr algn="l"/>
            <a:r>
              <a:rPr sz="1200" b="0" i="0">
                <a:solidFill>
                  <a:srgbClr val="333344"/>
                </a:solidFill>
                <a:latin typeface="Segoe UI"/>
              </a:rPr>
              <a:t>• Robust retry logic handles network and portal issues</a:t>
            </a:r>
          </a:p>
          <a:p>
            <a:pPr algn="l"/>
            <a:r>
              <a:rPr sz="1200" b="0" i="0">
                <a:solidFill>
                  <a:srgbClr val="333344"/>
                </a:solidFill>
                <a:latin typeface="Segoe UI"/>
              </a:rPr>
              <a:t>• Continuously improved based on team feedback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00800"/>
            <a:ext cx="12188952" cy="4572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079992" y="0"/>
            <a:ext cx="3108960" cy="6400800"/>
          </a:xfrm>
          <a:prstGeom prst="rect">
            <a:avLst/>
          </a:prstGeom>
          <a:solidFill>
            <a:srgbClr val="2544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79992" y="0"/>
            <a:ext cx="50292" cy="6400800"/>
          </a:xfrm>
          <a:prstGeom prst="rect">
            <a:avLst/>
          </a:prstGeom>
          <a:solidFill>
            <a:srgbClr val="F5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822960"/>
            <a:ext cx="7772400" cy="640080"/>
          </a:xfrm>
          <a:prstGeom prst="rect">
            <a:avLst/>
          </a:prstGeom>
          <a:noFill/>
        </p:spPr>
        <p:txBody>
          <a:bodyPr wrap="square">
            <a:spAutoFit/>
          </a:bodyPr>
          <a:lstStyle/>
          <a:p>
            <a:pPr algn="l"/>
            <a:r>
              <a:rPr sz="4000" b="1" i="0">
                <a:solidFill>
                  <a:srgbClr val="FFFFFF"/>
                </a:solidFill>
                <a:latin typeface="Segoe UI"/>
              </a:rPr>
              <a:t>Let's Get Started</a:t>
            </a:r>
          </a:p>
        </p:txBody>
      </p:sp>
      <p:sp>
        <p:nvSpPr>
          <p:cNvPr id="7" name="TextBox 6"/>
          <p:cNvSpPr txBox="1"/>
          <p:nvPr/>
        </p:nvSpPr>
        <p:spPr>
          <a:xfrm>
            <a:off x="640080" y="1463040"/>
            <a:ext cx="7772400" cy="365760"/>
          </a:xfrm>
          <a:prstGeom prst="rect">
            <a:avLst/>
          </a:prstGeom>
          <a:noFill/>
        </p:spPr>
        <p:txBody>
          <a:bodyPr wrap="square">
            <a:spAutoFit/>
          </a:bodyPr>
          <a:lstStyle/>
          <a:p>
            <a:pPr algn="l"/>
            <a:r>
              <a:rPr sz="1500" b="0" i="1">
                <a:solidFill>
                  <a:srgbClr val="F5A000"/>
                </a:solidFill>
                <a:latin typeface="Segoe UI"/>
              </a:rPr>
              <a:t>What the Amidel eTender Scraper delivers for your organisation</a:t>
            </a:r>
          </a:p>
        </p:txBody>
      </p:sp>
      <p:sp>
        <p:nvSpPr>
          <p:cNvPr id="8" name="TextBox 7"/>
          <p:cNvSpPr txBox="1"/>
          <p:nvPr/>
        </p:nvSpPr>
        <p:spPr>
          <a:xfrm>
            <a:off x="777240" y="2057400"/>
            <a:ext cx="7772400" cy="502920"/>
          </a:xfrm>
          <a:prstGeom prst="rect">
            <a:avLst/>
          </a:prstGeom>
          <a:noFill/>
        </p:spPr>
        <p:txBody>
          <a:bodyPr wrap="square">
            <a:spAutoFit/>
          </a:bodyPr>
          <a:lstStyle/>
          <a:p>
            <a:pPr algn="l"/>
            <a:r>
              <a:rPr sz="1400" b="0" i="0">
                <a:solidFill>
                  <a:srgbClr val="FFFFFF"/>
                </a:solidFill>
                <a:latin typeface="Segoe UI"/>
              </a:rPr>
              <a:t>✓  Automated monitoring of 26 government departments — twice a week</a:t>
            </a:r>
          </a:p>
        </p:txBody>
      </p:sp>
      <p:sp>
        <p:nvSpPr>
          <p:cNvPr id="9" name="TextBox 8"/>
          <p:cNvSpPr txBox="1"/>
          <p:nvPr/>
        </p:nvSpPr>
        <p:spPr>
          <a:xfrm>
            <a:off x="777240" y="2624328"/>
            <a:ext cx="7772400" cy="502920"/>
          </a:xfrm>
          <a:prstGeom prst="rect">
            <a:avLst/>
          </a:prstGeom>
          <a:noFill/>
        </p:spPr>
        <p:txBody>
          <a:bodyPr wrap="square">
            <a:spAutoFit/>
          </a:bodyPr>
          <a:lstStyle/>
          <a:p>
            <a:pPr algn="l"/>
            <a:r>
              <a:rPr sz="1400" b="0" i="0">
                <a:solidFill>
                  <a:srgbClr val="FFFFFF"/>
                </a:solidFill>
                <a:latin typeface="Segoe UI"/>
              </a:rPr>
              <a:t>✓  Clean, structured Excel reports ready to act on immediately</a:t>
            </a:r>
          </a:p>
        </p:txBody>
      </p:sp>
      <p:sp>
        <p:nvSpPr>
          <p:cNvPr id="10" name="TextBox 9"/>
          <p:cNvSpPr txBox="1"/>
          <p:nvPr/>
        </p:nvSpPr>
        <p:spPr>
          <a:xfrm>
            <a:off x="777240" y="3191256"/>
            <a:ext cx="7772400" cy="502920"/>
          </a:xfrm>
          <a:prstGeom prst="rect">
            <a:avLst/>
          </a:prstGeom>
          <a:noFill/>
        </p:spPr>
        <p:txBody>
          <a:bodyPr wrap="square">
            <a:spAutoFit/>
          </a:bodyPr>
          <a:lstStyle/>
          <a:p>
            <a:pPr algn="l"/>
            <a:r>
              <a:rPr sz="1400" b="0" i="0">
                <a:solidFill>
                  <a:srgbClr val="FFFFFF"/>
                </a:solidFill>
                <a:latin typeface="Segoe UI"/>
              </a:rPr>
              <a:t>✓  Department-level tender counts with ICT and RFQ breakdowns</a:t>
            </a:r>
          </a:p>
        </p:txBody>
      </p:sp>
      <p:sp>
        <p:nvSpPr>
          <p:cNvPr id="11" name="TextBox 10"/>
          <p:cNvSpPr txBox="1"/>
          <p:nvPr/>
        </p:nvSpPr>
        <p:spPr>
          <a:xfrm>
            <a:off x="777240" y="3758184"/>
            <a:ext cx="7772400" cy="502920"/>
          </a:xfrm>
          <a:prstGeom prst="rect">
            <a:avLst/>
          </a:prstGeom>
          <a:noFill/>
        </p:spPr>
        <p:txBody>
          <a:bodyPr wrap="square">
            <a:spAutoFit/>
          </a:bodyPr>
          <a:lstStyle/>
          <a:p>
            <a:pPr algn="l"/>
            <a:r>
              <a:rPr sz="1400" b="0" i="0">
                <a:solidFill>
                  <a:srgbClr val="FFFFFF"/>
                </a:solidFill>
                <a:latin typeface="Segoe UI"/>
              </a:rPr>
              <a:t>✓  Briefing session dates and compulsory attendance flagged upfront</a:t>
            </a:r>
          </a:p>
        </p:txBody>
      </p:sp>
      <p:sp>
        <p:nvSpPr>
          <p:cNvPr id="12" name="TextBox 11"/>
          <p:cNvSpPr txBox="1"/>
          <p:nvPr/>
        </p:nvSpPr>
        <p:spPr>
          <a:xfrm>
            <a:off x="777240" y="4325112"/>
            <a:ext cx="7772400" cy="502920"/>
          </a:xfrm>
          <a:prstGeom prst="rect">
            <a:avLst/>
          </a:prstGeom>
          <a:noFill/>
        </p:spPr>
        <p:txBody>
          <a:bodyPr wrap="square">
            <a:spAutoFit/>
          </a:bodyPr>
          <a:lstStyle/>
          <a:p>
            <a:pPr algn="l"/>
            <a:r>
              <a:rPr sz="1400" b="0" i="0">
                <a:solidFill>
                  <a:srgbClr val="FFFFFF"/>
                </a:solidFill>
                <a:latin typeface="Segoe UI"/>
              </a:rPr>
              <a:t>✓  Rolling 6-period trend tracker — always up to date</a:t>
            </a:r>
          </a:p>
        </p:txBody>
      </p:sp>
      <p:sp>
        <p:nvSpPr>
          <p:cNvPr id="13" name="TextBox 12"/>
          <p:cNvSpPr txBox="1"/>
          <p:nvPr/>
        </p:nvSpPr>
        <p:spPr>
          <a:xfrm>
            <a:off x="777240" y="4892040"/>
            <a:ext cx="7772400" cy="502920"/>
          </a:xfrm>
          <a:prstGeom prst="rect">
            <a:avLst/>
          </a:prstGeom>
          <a:noFill/>
        </p:spPr>
        <p:txBody>
          <a:bodyPr wrap="square">
            <a:spAutoFit/>
          </a:bodyPr>
          <a:lstStyle/>
          <a:p>
            <a:pPr algn="l"/>
            <a:r>
              <a:rPr sz="1400" b="0" i="0">
                <a:solidFill>
                  <a:srgbClr val="FFFFFF"/>
                </a:solidFill>
                <a:latin typeface="Segoe UI"/>
              </a:rPr>
              <a:t>✓  Customisable to your department watchlist and reporting needs</a:t>
            </a:r>
          </a:p>
        </p:txBody>
      </p:sp>
      <p:sp>
        <p:nvSpPr>
          <p:cNvPr id="14" name="TextBox 13"/>
          <p:cNvSpPr txBox="1"/>
          <p:nvPr/>
        </p:nvSpPr>
        <p:spPr>
          <a:xfrm>
            <a:off x="9262872" y="1280160"/>
            <a:ext cx="2743200" cy="1005840"/>
          </a:xfrm>
          <a:prstGeom prst="rect">
            <a:avLst/>
          </a:prstGeom>
          <a:noFill/>
        </p:spPr>
        <p:txBody>
          <a:bodyPr wrap="square">
            <a:spAutoFit/>
          </a:bodyPr>
          <a:lstStyle/>
          <a:p>
            <a:pPr algn="ctr"/>
            <a:r>
              <a:rPr sz="2200" b="1" i="0">
                <a:solidFill>
                  <a:srgbClr val="FFFFFF"/>
                </a:solidFill>
                <a:latin typeface="Segoe UI"/>
              </a:rPr>
              <a:t>Contact
Amidel</a:t>
            </a:r>
          </a:p>
        </p:txBody>
      </p:sp>
      <p:sp>
        <p:nvSpPr>
          <p:cNvPr id="15" name="TextBox 14"/>
          <p:cNvSpPr txBox="1"/>
          <p:nvPr/>
        </p:nvSpPr>
        <p:spPr>
          <a:xfrm>
            <a:off x="9308592" y="2423160"/>
            <a:ext cx="2651760" cy="2926080"/>
          </a:xfrm>
          <a:prstGeom prst="rect">
            <a:avLst/>
          </a:prstGeom>
          <a:noFill/>
        </p:spPr>
        <p:txBody>
          <a:bodyPr wrap="square">
            <a:spAutoFit/>
          </a:bodyPr>
          <a:lstStyle/>
          <a:p>
            <a:pPr algn="ctr">
              <a:spcBef>
                <a:spcPts val="400"/>
              </a:spcBef>
            </a:pPr>
            <a:r>
              <a:rPr sz="1200" b="1" i="0">
                <a:solidFill>
                  <a:srgbClr val="F5A000"/>
                </a:solidFill>
                <a:latin typeface="Segoe UI"/>
              </a:rPr>
              <a:t>amidel.co.za</a:t>
            </a:r>
          </a:p>
          <a:p>
            <a:pPr algn="ctr">
              <a:spcBef>
                <a:spcPts val="400"/>
              </a:spcBef>
            </a:pPr>
            <a:r>
              <a:rPr sz="1200" b="0" i="0">
                <a:solidFill>
                  <a:srgbClr val="FFFFFF"/>
                </a:solidFill>
                <a:latin typeface="Segoe UI"/>
              </a:rPr>
              <a:t> </a:t>
            </a:r>
          </a:p>
          <a:p>
            <a:pPr algn="ctr">
              <a:spcBef>
                <a:spcPts val="400"/>
              </a:spcBef>
            </a:pPr>
            <a:r>
              <a:rPr sz="1100" b="0" i="0">
                <a:solidFill>
                  <a:srgbClr val="FFFFFF"/>
                </a:solidFill>
                <a:latin typeface="Segoe UI"/>
              </a:rPr>
              <a:t>Request a demo</a:t>
            </a:r>
          </a:p>
          <a:p>
            <a:pPr algn="ctr">
              <a:spcBef>
                <a:spcPts val="400"/>
              </a:spcBef>
            </a:pPr>
            <a:r>
              <a:rPr sz="1100" b="0" i="0">
                <a:solidFill>
                  <a:srgbClr val="FFFFFF"/>
                </a:solidFill>
                <a:latin typeface="Segoe UI"/>
              </a:rPr>
              <a:t>or tailored setup</a:t>
            </a:r>
          </a:p>
          <a:p>
            <a:pPr algn="ctr">
              <a:spcBef>
                <a:spcPts val="400"/>
              </a:spcBef>
            </a:pPr>
            <a:r>
              <a:rPr sz="1200" b="0" i="0">
                <a:solidFill>
                  <a:srgbClr val="FFFFFF"/>
                </a:solidFill>
                <a:latin typeface="Segoe UI"/>
              </a:rPr>
              <a:t> </a:t>
            </a:r>
          </a:p>
          <a:p>
            <a:pPr algn="ctr">
              <a:spcBef>
                <a:spcPts val="400"/>
              </a:spcBef>
            </a:pPr>
            <a:r>
              <a:rPr sz="1200" b="0" i="1">
                <a:solidFill>
                  <a:srgbClr val="E0E4EE"/>
                </a:solidFill>
                <a:latin typeface="Segoe UI"/>
              </a:rPr>
              <a:t>Beyond Technology</a:t>
            </a:r>
          </a:p>
        </p:txBody>
      </p:sp>
      <p:sp>
        <p:nvSpPr>
          <p:cNvPr id="16" name="TextBox 15"/>
          <p:cNvSpPr txBox="1"/>
          <p:nvPr/>
        </p:nvSpPr>
        <p:spPr>
          <a:xfrm>
            <a:off x="640080" y="6437376"/>
            <a:ext cx="8229600" cy="365760"/>
          </a:xfrm>
          <a:prstGeom prst="rect">
            <a:avLst/>
          </a:prstGeom>
          <a:noFill/>
        </p:spPr>
        <p:txBody>
          <a:bodyPr wrap="square">
            <a:spAutoFit/>
          </a:bodyPr>
          <a:lstStyle/>
          <a:p>
            <a:pPr algn="l"/>
            <a:r>
              <a:rPr sz="1000" b="0" i="0">
                <a:solidFill>
                  <a:srgbClr val="FFFFFF"/>
                </a:solidFill>
                <a:latin typeface="Segoe UI"/>
              </a:rPr>
              <a:t>Amidel (Pty) Ltd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