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88952" cy="45720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079992" y="0"/>
            <a:ext cx="3108960" cy="6400800"/>
          </a:xfrm>
          <a:prstGeom prst="rect">
            <a:avLst/>
          </a:prstGeom>
          <a:solidFill>
            <a:srgbClr val="254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79992" y="0"/>
            <a:ext cx="50292" cy="640080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2560320" cy="36576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72768"/>
            <a:ext cx="2560320" cy="347472"/>
          </a:xfrm>
          <a:prstGeom prst="rect">
            <a:avLst/>
          </a:prstGeom>
          <a:noFill/>
        </p:spPr>
        <p:txBody>
          <a:bodyPr wrap="square">
            <a:spAutoFit/>
          </a:bodyPr>
          <a:lstStyle/>
          <a:p>
            <a:pPr algn="ctr"/>
            <a:r>
              <a:rPr sz="1000" b="1" i="0">
                <a:solidFill>
                  <a:srgbClr val="FFFFFF"/>
                </a:solidFill>
                <a:latin typeface="Segoe UI"/>
              </a:rPr>
              <a:t>INTERNAL TOOL  ·  v2.0</a:t>
            </a:r>
          </a:p>
        </p:txBody>
      </p:sp>
      <p:sp>
        <p:nvSpPr>
          <p:cNvPr id="8" name="TextBox 7"/>
          <p:cNvSpPr txBox="1"/>
          <p:nvPr/>
        </p:nvSpPr>
        <p:spPr>
          <a:xfrm>
            <a:off x="640080" y="2011680"/>
            <a:ext cx="8686800" cy="1828800"/>
          </a:xfrm>
          <a:prstGeom prst="rect">
            <a:avLst/>
          </a:prstGeom>
          <a:noFill/>
        </p:spPr>
        <p:txBody>
          <a:bodyPr wrap="square">
            <a:spAutoFit/>
          </a:bodyPr>
          <a:lstStyle/>
          <a:p>
            <a:pPr algn="l"/>
            <a:r>
              <a:rPr sz="5200" b="1" i="0">
                <a:solidFill>
                  <a:srgbClr val="FFFFFF"/>
                </a:solidFill>
                <a:latin typeface="Segoe UI"/>
              </a:rPr>
              <a:t>Amidel
eTender Scraper</a:t>
            </a:r>
          </a:p>
        </p:txBody>
      </p:sp>
      <p:sp>
        <p:nvSpPr>
          <p:cNvPr id="9" name="TextBox 8"/>
          <p:cNvSpPr txBox="1"/>
          <p:nvPr/>
        </p:nvSpPr>
        <p:spPr>
          <a:xfrm>
            <a:off x="640080" y="3886200"/>
            <a:ext cx="8229600" cy="457200"/>
          </a:xfrm>
          <a:prstGeom prst="rect">
            <a:avLst/>
          </a:prstGeom>
          <a:noFill/>
        </p:spPr>
        <p:txBody>
          <a:bodyPr wrap="square">
            <a:spAutoFit/>
          </a:bodyPr>
          <a:lstStyle/>
          <a:p>
            <a:pPr algn="l"/>
            <a:r>
              <a:rPr sz="2000" b="0" i="1">
                <a:solidFill>
                  <a:srgbClr val="F5A000"/>
                </a:solidFill>
                <a:latin typeface="Segoe UI"/>
              </a:rPr>
              <a:t>Automate. Aggregate. Act.</a:t>
            </a:r>
          </a:p>
        </p:txBody>
      </p:sp>
      <p:sp>
        <p:nvSpPr>
          <p:cNvPr id="10" name="TextBox 9"/>
          <p:cNvSpPr txBox="1"/>
          <p:nvPr/>
        </p:nvSpPr>
        <p:spPr>
          <a:xfrm>
            <a:off x="640080" y="4462272"/>
            <a:ext cx="8229600" cy="1280160"/>
          </a:xfrm>
          <a:prstGeom prst="rect">
            <a:avLst/>
          </a:prstGeom>
          <a:noFill/>
        </p:spPr>
        <p:txBody>
          <a:bodyPr wrap="square">
            <a:spAutoFit/>
          </a:bodyPr>
          <a:lstStyle/>
          <a:p>
            <a:pPr algn="l"/>
            <a:r>
              <a:rPr sz="1300" b="0" i="0">
                <a:solidFill>
                  <a:srgbClr val="E0E4EE"/>
                </a:solidFill>
                <a:latin typeface="Segoe UI"/>
              </a:rPr>
              <a:t>A branded desktop application that scrapes South African government tender listings from etenders.gov.za, organises them into structured Excel outputs, and keeps the team's equation tracker up to date — all with a single click.</a:t>
            </a:r>
          </a:p>
        </p:txBody>
      </p:sp>
      <p:sp>
        <p:nvSpPr>
          <p:cNvPr id="11" name="TextBox 10"/>
          <p:cNvSpPr txBox="1"/>
          <p:nvPr/>
        </p:nvSpPr>
        <p:spPr>
          <a:xfrm>
            <a:off x="9262872" y="2560320"/>
            <a:ext cx="2743200" cy="1097280"/>
          </a:xfrm>
          <a:prstGeom prst="rect">
            <a:avLst/>
          </a:prstGeom>
          <a:noFill/>
        </p:spPr>
        <p:txBody>
          <a:bodyPr wrap="square">
            <a:spAutoFit/>
          </a:bodyPr>
          <a:lstStyle/>
          <a:p>
            <a:pPr algn="ctr"/>
            <a:r>
              <a:rPr sz="2200" b="1" i="0">
                <a:solidFill>
                  <a:srgbClr val="FFFFFF"/>
                </a:solidFill>
                <a:latin typeface="Segoe UI"/>
              </a:rPr>
              <a:t>Beyond
Technology</a:t>
            </a:r>
          </a:p>
        </p:txBody>
      </p:sp>
      <p:sp>
        <p:nvSpPr>
          <p:cNvPr id="12" name="TextBox 11"/>
          <p:cNvSpPr txBox="1"/>
          <p:nvPr/>
        </p:nvSpPr>
        <p:spPr>
          <a:xfrm>
            <a:off x="9262872" y="3749039"/>
            <a:ext cx="2743200" cy="365760"/>
          </a:xfrm>
          <a:prstGeom prst="rect">
            <a:avLst/>
          </a:prstGeom>
          <a:noFill/>
        </p:spPr>
        <p:txBody>
          <a:bodyPr wrap="square">
            <a:spAutoFit/>
          </a:bodyPr>
          <a:lstStyle/>
          <a:p>
            <a:pPr algn="ctr"/>
            <a:r>
              <a:rPr sz="1300" b="0" i="1">
                <a:solidFill>
                  <a:srgbClr val="F5A000"/>
                </a:solidFill>
                <a:latin typeface="Segoe UI"/>
              </a:rPr>
              <a:t>Amidel (Pty) Ltd</a:t>
            </a:r>
          </a:p>
        </p:txBody>
      </p:sp>
      <p:sp>
        <p:nvSpPr>
          <p:cNvPr id="13" name="TextBox 12"/>
          <p:cNvSpPr txBox="1"/>
          <p:nvPr/>
        </p:nvSpPr>
        <p:spPr>
          <a:xfrm>
            <a:off x="640080" y="6437376"/>
            <a:ext cx="8229600" cy="365760"/>
          </a:xfrm>
          <a:prstGeom prst="rect">
            <a:avLst/>
          </a:prstGeom>
          <a:noFill/>
        </p:spPr>
        <p:txBody>
          <a:bodyPr wrap="square">
            <a:spAutoFit/>
          </a:bodyPr>
          <a:lstStyle/>
          <a:p>
            <a:pPr algn="l"/>
            <a:r>
              <a:rPr sz="1000" b="0" i="0">
                <a:solidFill>
                  <a:srgbClr val="FFFFFF"/>
                </a:solidFill>
                <a:latin typeface="Segoe UI"/>
              </a:rPr>
              <a:t>Confidential  ·  Internal Use Only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1016"/>
            <a:ext cx="12188952"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640080"/>
          </a:xfrm>
          <a:prstGeom prst="rect">
            <a:avLst/>
          </a:prstGeom>
          <a:noFill/>
        </p:spPr>
        <p:txBody>
          <a:bodyPr wrap="square">
            <a:spAutoFit/>
          </a:bodyPr>
          <a:lstStyle/>
          <a:p>
            <a:pPr algn="l"/>
            <a:r>
              <a:rPr sz="2800" b="1" i="0">
                <a:solidFill>
                  <a:srgbClr val="FFFFFF"/>
                </a:solidFill>
                <a:latin typeface="Segoe UI"/>
              </a:rPr>
              <a:t>The Problem</a:t>
            </a:r>
          </a:p>
        </p:txBody>
      </p:sp>
      <p:sp>
        <p:nvSpPr>
          <p:cNvPr id="5" name="TextBox 4"/>
          <p:cNvSpPr txBox="1"/>
          <p:nvPr/>
        </p:nvSpPr>
        <p:spPr>
          <a:xfrm>
            <a:off x="502920" y="749808"/>
            <a:ext cx="11155680" cy="365760"/>
          </a:xfrm>
          <a:prstGeom prst="rect">
            <a:avLst/>
          </a:prstGeom>
          <a:noFill/>
        </p:spPr>
        <p:txBody>
          <a:bodyPr wrap="square">
            <a:spAutoFit/>
          </a:bodyPr>
          <a:lstStyle/>
          <a:p>
            <a:pPr algn="l"/>
            <a:r>
              <a:rPr sz="1400" b="0" i="1">
                <a:solidFill>
                  <a:srgbClr val="F5A000"/>
                </a:solidFill>
                <a:latin typeface="Segoe UI"/>
              </a:rPr>
              <a:t>Why manual tender tracking doesn't scale</a:t>
            </a:r>
          </a:p>
        </p:txBody>
      </p:sp>
      <p:sp>
        <p:nvSpPr>
          <p:cNvPr id="6" name="Rectangle 5"/>
          <p:cNvSpPr/>
          <p:nvPr/>
        </p:nvSpPr>
        <p:spPr>
          <a:xfrm>
            <a:off x="0" y="6565392"/>
            <a:ext cx="12188952" cy="292608"/>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spAutoFit/>
          </a:bodyPr>
          <a:lstStyle/>
          <a:p>
            <a:pPr algn="l"/>
            <a:r>
              <a:rPr sz="900" b="0" i="0">
                <a:solidFill>
                  <a:srgbClr val="F4F6FA"/>
                </a:solidFill>
                <a:latin typeface="Segoe UI"/>
              </a:rPr>
              <a:t>Amidel (Pty) Ltd  |  Beyond Technology  |  eTender Scraper</a:t>
            </a:r>
          </a:p>
        </p:txBody>
      </p:sp>
      <p:sp>
        <p:nvSpPr>
          <p:cNvPr id="8" name="TextBox 7"/>
          <p:cNvSpPr txBox="1"/>
          <p:nvPr/>
        </p:nvSpPr>
        <p:spPr>
          <a:xfrm>
            <a:off x="11430000" y="6574536"/>
            <a:ext cx="640080" cy="274320"/>
          </a:xfrm>
          <a:prstGeom prst="rect">
            <a:avLst/>
          </a:prstGeom>
          <a:noFill/>
        </p:spPr>
        <p:txBody>
          <a:bodyPr wrap="square">
            <a:spAutoFit/>
          </a:bodyPr>
          <a:lstStyle/>
          <a:p>
            <a:pPr algn="r"/>
            <a:r>
              <a:rPr sz="900" b="0" i="0">
                <a:solidFill>
                  <a:srgbClr val="F5A000"/>
                </a:solidFill>
                <a:latin typeface="Segoe UI"/>
              </a:rPr>
              <a:t>2 / 10</a:t>
            </a:r>
          </a:p>
        </p:txBody>
      </p:sp>
      <p:sp>
        <p:nvSpPr>
          <p:cNvPr id="9" name="Rectangle 8"/>
          <p:cNvSpPr/>
          <p:nvPr/>
        </p:nvSpPr>
        <p:spPr>
          <a:xfrm>
            <a:off x="411480" y="1508760"/>
            <a:ext cx="53949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508760"/>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636776"/>
            <a:ext cx="5193792" cy="1289304"/>
          </a:xfrm>
          <a:prstGeom prst="rect">
            <a:avLst/>
          </a:prstGeom>
          <a:noFill/>
        </p:spPr>
        <p:txBody>
          <a:bodyPr wrap="square">
            <a:spAutoFit/>
          </a:bodyPr>
          <a:lstStyle/>
          <a:p>
            <a:pPr algn="l"/>
            <a:r>
              <a:rPr sz="1400" b="1">
                <a:solidFill>
                  <a:srgbClr val="1C3880"/>
                </a:solidFill>
                <a:latin typeface="Segoe UI"/>
              </a:rPr>
              <a:t>Time-consuming</a:t>
            </a:r>
          </a:p>
          <a:p>
            <a:pPr algn="l"/>
            <a:r>
              <a:rPr sz="1200" b="0" i="0">
                <a:solidFill>
                  <a:srgbClr val="333344"/>
                </a:solidFill>
                <a:latin typeface="Segoe UI"/>
              </a:rPr>
              <a:t>• etenders.gov.za must be visited daily</a:t>
            </a:r>
          </a:p>
          <a:p>
            <a:pPr algn="l"/>
            <a:r>
              <a:rPr sz="1200" b="0" i="0">
                <a:solidFill>
                  <a:srgbClr val="333344"/>
                </a:solidFill>
                <a:latin typeface="Segoe UI"/>
              </a:rPr>
              <a:t>• Tenders span multiple pages — clicking through each one</a:t>
            </a:r>
          </a:p>
          <a:p>
            <a:pPr algn="l"/>
            <a:r>
              <a:rPr sz="1200" b="0" i="0">
                <a:solidFill>
                  <a:srgbClr val="333344"/>
                </a:solidFill>
                <a:latin typeface="Segoe UI"/>
              </a:rPr>
              <a:t>• No export or download feature on the website</a:t>
            </a:r>
          </a:p>
        </p:txBody>
      </p:sp>
      <p:sp>
        <p:nvSpPr>
          <p:cNvPr id="12" name="Rectangle 11"/>
          <p:cNvSpPr/>
          <p:nvPr/>
        </p:nvSpPr>
        <p:spPr>
          <a:xfrm>
            <a:off x="6309360" y="1508760"/>
            <a:ext cx="53949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508760"/>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636776"/>
            <a:ext cx="5193792" cy="1289304"/>
          </a:xfrm>
          <a:prstGeom prst="rect">
            <a:avLst/>
          </a:prstGeom>
          <a:noFill/>
        </p:spPr>
        <p:txBody>
          <a:bodyPr wrap="square">
            <a:spAutoFit/>
          </a:bodyPr>
          <a:lstStyle/>
          <a:p>
            <a:pPr algn="l"/>
            <a:r>
              <a:rPr sz="1400" b="1">
                <a:solidFill>
                  <a:srgbClr val="1C3880"/>
                </a:solidFill>
                <a:latin typeface="Segoe UI"/>
              </a:rPr>
              <a:t>Error-prone</a:t>
            </a:r>
          </a:p>
          <a:p>
            <a:pPr algn="l"/>
            <a:r>
              <a:rPr sz="1200" b="0" i="0">
                <a:solidFill>
                  <a:srgbClr val="333344"/>
                </a:solidFill>
                <a:latin typeface="Segoe UI"/>
              </a:rPr>
              <a:t>• Manual copy-paste introduces mistakes</a:t>
            </a:r>
          </a:p>
          <a:p>
            <a:pPr algn="l"/>
            <a:r>
              <a:rPr sz="1200" b="0" i="0">
                <a:solidFill>
                  <a:srgbClr val="333344"/>
                </a:solidFill>
                <a:latin typeface="Segoe UI"/>
              </a:rPr>
              <a:t>• Easy to miss tenders on busy days</a:t>
            </a:r>
          </a:p>
          <a:p>
            <a:pPr algn="l"/>
            <a:r>
              <a:rPr sz="1200" b="0" i="0">
                <a:solidFill>
                  <a:srgbClr val="333344"/>
                </a:solidFill>
                <a:latin typeface="Segoe UI"/>
              </a:rPr>
              <a:t>• Duplicate entries go undetected</a:t>
            </a:r>
          </a:p>
        </p:txBody>
      </p:sp>
      <p:sp>
        <p:nvSpPr>
          <p:cNvPr id="15" name="Rectangle 14"/>
          <p:cNvSpPr/>
          <p:nvPr/>
        </p:nvSpPr>
        <p:spPr>
          <a:xfrm>
            <a:off x="411480" y="3090672"/>
            <a:ext cx="53949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090672"/>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3218688"/>
            <a:ext cx="5193792" cy="1289304"/>
          </a:xfrm>
          <a:prstGeom prst="rect">
            <a:avLst/>
          </a:prstGeom>
          <a:noFill/>
        </p:spPr>
        <p:txBody>
          <a:bodyPr wrap="square">
            <a:spAutoFit/>
          </a:bodyPr>
          <a:lstStyle/>
          <a:p>
            <a:pPr algn="l"/>
            <a:r>
              <a:rPr sz="1400" b="1">
                <a:solidFill>
                  <a:srgbClr val="1C3880"/>
                </a:solidFill>
                <a:latin typeface="Segoe UI"/>
              </a:rPr>
              <a:t>Hard to track trends</a:t>
            </a:r>
          </a:p>
          <a:p>
            <a:pPr algn="l"/>
            <a:r>
              <a:rPr sz="1200" b="0" i="0">
                <a:solidFill>
                  <a:srgbClr val="333344"/>
                </a:solidFill>
                <a:latin typeface="Segoe UI"/>
              </a:rPr>
              <a:t>• No historical view across batches</a:t>
            </a:r>
          </a:p>
          <a:p>
            <a:pPr algn="l"/>
            <a:r>
              <a:rPr sz="1200" b="0" i="0">
                <a:solidFill>
                  <a:srgbClr val="333344"/>
                </a:solidFill>
                <a:latin typeface="Segoe UI"/>
              </a:rPr>
              <a:t>• Department-level counts require manual COUNTIF work</a:t>
            </a:r>
          </a:p>
          <a:p>
            <a:pPr algn="l"/>
            <a:r>
              <a:rPr sz="1200" b="0" i="0">
                <a:solidFill>
                  <a:srgbClr val="333344"/>
                </a:solidFill>
                <a:latin typeface="Segoe UI"/>
              </a:rPr>
              <a:t>• Equation file maintained by hand every week</a:t>
            </a:r>
          </a:p>
        </p:txBody>
      </p:sp>
      <p:sp>
        <p:nvSpPr>
          <p:cNvPr id="18" name="Rectangle 17"/>
          <p:cNvSpPr/>
          <p:nvPr/>
        </p:nvSpPr>
        <p:spPr>
          <a:xfrm>
            <a:off x="6309360" y="3090672"/>
            <a:ext cx="53949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3090672"/>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3218688"/>
            <a:ext cx="5193792" cy="1289304"/>
          </a:xfrm>
          <a:prstGeom prst="rect">
            <a:avLst/>
          </a:prstGeom>
          <a:noFill/>
        </p:spPr>
        <p:txBody>
          <a:bodyPr wrap="square">
            <a:spAutoFit/>
          </a:bodyPr>
          <a:lstStyle/>
          <a:p>
            <a:pPr algn="l"/>
            <a:r>
              <a:rPr sz="1400" b="1">
                <a:solidFill>
                  <a:srgbClr val="1C3880"/>
                </a:solidFill>
                <a:latin typeface="Segoe UI"/>
              </a:rPr>
              <a:t>No structured output</a:t>
            </a:r>
          </a:p>
          <a:p>
            <a:pPr algn="l"/>
            <a:r>
              <a:rPr sz="1200" b="0" i="0">
                <a:solidFill>
                  <a:srgbClr val="333344"/>
                </a:solidFill>
                <a:latin typeface="Segoe UI"/>
              </a:rPr>
              <a:t>• Raw website data has no consistent format</a:t>
            </a:r>
          </a:p>
          <a:p>
            <a:pPr algn="l"/>
            <a:r>
              <a:rPr sz="1200" b="0" i="0">
                <a:solidFill>
                  <a:srgbClr val="333344"/>
                </a:solidFill>
                <a:latin typeface="Segoe UI"/>
              </a:rPr>
              <a:t>• ICT vs RFQ classification done manually</a:t>
            </a:r>
          </a:p>
          <a:p>
            <a:pPr algn="l"/>
            <a:r>
              <a:rPr sz="1200" b="0" i="0">
                <a:solidFill>
                  <a:srgbClr val="333344"/>
                </a:solidFill>
                <a:latin typeface="Segoe UI"/>
              </a:rPr>
              <a:t>• Briefing session details buried in expanded rows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1016"/>
            <a:ext cx="12188952"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640080"/>
          </a:xfrm>
          <a:prstGeom prst="rect">
            <a:avLst/>
          </a:prstGeom>
          <a:noFill/>
        </p:spPr>
        <p:txBody>
          <a:bodyPr wrap="square">
            <a:spAutoFit/>
          </a:bodyPr>
          <a:lstStyle/>
          <a:p>
            <a:pPr algn="l"/>
            <a:r>
              <a:rPr sz="2800" b="1" i="0">
                <a:solidFill>
                  <a:srgbClr val="FFFFFF"/>
                </a:solidFill>
                <a:latin typeface="Segoe UI"/>
              </a:rPr>
              <a:t>The Solution</a:t>
            </a:r>
          </a:p>
        </p:txBody>
      </p:sp>
      <p:sp>
        <p:nvSpPr>
          <p:cNvPr id="5" name="TextBox 4"/>
          <p:cNvSpPr txBox="1"/>
          <p:nvPr/>
        </p:nvSpPr>
        <p:spPr>
          <a:xfrm>
            <a:off x="502920" y="749808"/>
            <a:ext cx="11155680" cy="365760"/>
          </a:xfrm>
          <a:prstGeom prst="rect">
            <a:avLst/>
          </a:prstGeom>
          <a:noFill/>
        </p:spPr>
        <p:txBody>
          <a:bodyPr wrap="square">
            <a:spAutoFit/>
          </a:bodyPr>
          <a:lstStyle/>
          <a:p>
            <a:pPr algn="l"/>
            <a:r>
              <a:rPr sz="1400" b="0" i="1">
                <a:solidFill>
                  <a:srgbClr val="F5A000"/>
                </a:solidFill>
                <a:latin typeface="Segoe UI"/>
              </a:rPr>
              <a:t>One click. Structured output. Every time.</a:t>
            </a:r>
          </a:p>
        </p:txBody>
      </p:sp>
      <p:sp>
        <p:nvSpPr>
          <p:cNvPr id="6" name="Rectangle 5"/>
          <p:cNvSpPr/>
          <p:nvPr/>
        </p:nvSpPr>
        <p:spPr>
          <a:xfrm>
            <a:off x="0" y="6565392"/>
            <a:ext cx="12188952" cy="292608"/>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spAutoFit/>
          </a:bodyPr>
          <a:lstStyle/>
          <a:p>
            <a:pPr algn="l"/>
            <a:r>
              <a:rPr sz="900" b="0" i="0">
                <a:solidFill>
                  <a:srgbClr val="F4F6FA"/>
                </a:solidFill>
                <a:latin typeface="Segoe UI"/>
              </a:rPr>
              <a:t>Amidel (Pty) Ltd  |  Beyond Technology  |  eTender Scraper</a:t>
            </a:r>
          </a:p>
        </p:txBody>
      </p:sp>
      <p:sp>
        <p:nvSpPr>
          <p:cNvPr id="8" name="TextBox 7"/>
          <p:cNvSpPr txBox="1"/>
          <p:nvPr/>
        </p:nvSpPr>
        <p:spPr>
          <a:xfrm>
            <a:off x="11430000" y="6574536"/>
            <a:ext cx="640080" cy="274320"/>
          </a:xfrm>
          <a:prstGeom prst="rect">
            <a:avLst/>
          </a:prstGeom>
          <a:noFill/>
        </p:spPr>
        <p:txBody>
          <a:bodyPr wrap="square">
            <a:spAutoFit/>
          </a:bodyPr>
          <a:lstStyle/>
          <a:p>
            <a:pPr algn="r"/>
            <a:r>
              <a:rPr sz="900" b="0" i="0">
                <a:solidFill>
                  <a:srgbClr val="F5A000"/>
                </a:solidFill>
                <a:latin typeface="Segoe UI"/>
              </a:rPr>
              <a:t>3 / 10</a:t>
            </a:r>
          </a:p>
        </p:txBody>
      </p:sp>
      <p:sp>
        <p:nvSpPr>
          <p:cNvPr id="9" name="TextBox 8"/>
          <p:cNvSpPr txBox="1"/>
          <p:nvPr/>
        </p:nvSpPr>
        <p:spPr>
          <a:xfrm>
            <a:off x="640080" y="1508760"/>
            <a:ext cx="10881360" cy="868680"/>
          </a:xfrm>
          <a:prstGeom prst="rect">
            <a:avLst/>
          </a:prstGeom>
          <a:noFill/>
        </p:spPr>
        <p:txBody>
          <a:bodyPr wrap="square">
            <a:spAutoFit/>
          </a:bodyPr>
          <a:lstStyle/>
          <a:p>
            <a:pPr algn="l"/>
            <a:r>
              <a:rPr sz="1500" b="0" i="0">
                <a:solidFill>
                  <a:srgbClr val="333344"/>
                </a:solidFill>
                <a:latin typeface="Segoe UI"/>
              </a:rPr>
              <a:t>The Amidel eTender Scraper is a branded desktop application that automates the entire tender collection and reporting workflow for the sales team — from website to Excel in one run.</a:t>
            </a:r>
          </a:p>
        </p:txBody>
      </p:sp>
      <p:sp>
        <p:nvSpPr>
          <p:cNvPr id="10" name="Rectangle 9"/>
          <p:cNvSpPr/>
          <p:nvPr/>
        </p:nvSpPr>
        <p:spPr>
          <a:xfrm>
            <a:off x="502920" y="2514600"/>
            <a:ext cx="3291840" cy="347472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514600"/>
            <a:ext cx="3291840" cy="6400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651760"/>
            <a:ext cx="3017520" cy="457200"/>
          </a:xfrm>
          <a:prstGeom prst="rect">
            <a:avLst/>
          </a:prstGeom>
          <a:noFill/>
        </p:spPr>
        <p:txBody>
          <a:bodyPr wrap="square">
            <a:spAutoFit/>
          </a:bodyPr>
          <a:lstStyle/>
          <a:p>
            <a:pPr algn="l"/>
            <a:r>
              <a:rPr sz="1800" b="1" i="0">
                <a:solidFill>
                  <a:srgbClr val="FFFFFF"/>
                </a:solidFill>
                <a:latin typeface="Segoe UI"/>
              </a:rPr>
              <a:t>Automate</a:t>
            </a:r>
          </a:p>
        </p:txBody>
      </p:sp>
      <p:sp>
        <p:nvSpPr>
          <p:cNvPr id="13" name="TextBox 12"/>
          <p:cNvSpPr txBox="1"/>
          <p:nvPr/>
        </p:nvSpPr>
        <p:spPr>
          <a:xfrm>
            <a:off x="685800" y="3136392"/>
            <a:ext cx="3017520" cy="1005840"/>
          </a:xfrm>
          <a:prstGeom prst="rect">
            <a:avLst/>
          </a:prstGeom>
          <a:noFill/>
        </p:spPr>
        <p:txBody>
          <a:bodyPr wrap="square">
            <a:spAutoFit/>
          </a:bodyPr>
          <a:lstStyle/>
          <a:p>
            <a:pPr algn="l"/>
            <a:r>
              <a:rPr sz="1100" b="0" i="0">
                <a:solidFill>
                  <a:srgbClr val="E0E4EE"/>
                </a:solidFill>
                <a:latin typeface="Segoe UI"/>
              </a:rPr>
              <a:t>Selenium drives Chrome to visit each tender page, expand every row, and extract all 23 data fields — no manual steps.</a:t>
            </a:r>
          </a:p>
        </p:txBody>
      </p:sp>
      <p:sp>
        <p:nvSpPr>
          <p:cNvPr id="14" name="TextBox 13"/>
          <p:cNvSpPr txBox="1"/>
          <p:nvPr/>
        </p:nvSpPr>
        <p:spPr>
          <a:xfrm>
            <a:off x="685800" y="4206240"/>
            <a:ext cx="3017520" cy="1645920"/>
          </a:xfrm>
          <a:prstGeom prst="rect">
            <a:avLst/>
          </a:prstGeom>
          <a:noFill/>
        </p:spPr>
        <p:txBody>
          <a:bodyPr wrap="square">
            <a:spAutoFit/>
          </a:bodyPr>
          <a:lstStyle/>
          <a:p>
            <a:pPr algn="l"/>
            <a:r>
              <a:rPr sz="1150">
                <a:solidFill>
                  <a:srgbClr val="F5A000"/>
                </a:solidFill>
                <a:latin typeface="Segoe UI"/>
              </a:rPr>
              <a:t>✓  Scrapes multiple days in sequence</a:t>
            </a:r>
          </a:p>
          <a:p>
            <a:pPr algn="l"/>
            <a:r>
              <a:rPr sz="1150">
                <a:solidFill>
                  <a:srgbClr val="F5A000"/>
                </a:solidFill>
                <a:latin typeface="Segoe UI"/>
              </a:rPr>
              <a:t>✓  Handles pagination automatically</a:t>
            </a:r>
          </a:p>
          <a:p>
            <a:pPr algn="l"/>
            <a:r>
              <a:rPr sz="1150">
                <a:solidFill>
                  <a:srgbClr val="F5A000"/>
                </a:solidFill>
                <a:latin typeface="Segoe UI"/>
              </a:rPr>
              <a:t>✓  Retry logic for network hiccups</a:t>
            </a:r>
          </a:p>
          <a:p>
            <a:pPr algn="l"/>
            <a:r>
              <a:rPr sz="1150">
                <a:solidFill>
                  <a:srgbClr val="F5A000"/>
                </a:solidFill>
                <a:latin typeface="Segoe UI"/>
              </a:rPr>
              <a:t>✓  Duplicate detection built-in</a:t>
            </a:r>
          </a:p>
        </p:txBody>
      </p:sp>
      <p:sp>
        <p:nvSpPr>
          <p:cNvPr id="15" name="Rectangle 14"/>
          <p:cNvSpPr/>
          <p:nvPr/>
        </p:nvSpPr>
        <p:spPr>
          <a:xfrm>
            <a:off x="4178808" y="2514600"/>
            <a:ext cx="3291840" cy="347472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78808" y="2514600"/>
            <a:ext cx="3291840" cy="6400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2651760"/>
            <a:ext cx="3017520" cy="457200"/>
          </a:xfrm>
          <a:prstGeom prst="rect">
            <a:avLst/>
          </a:prstGeom>
          <a:noFill/>
        </p:spPr>
        <p:txBody>
          <a:bodyPr wrap="square">
            <a:spAutoFit/>
          </a:bodyPr>
          <a:lstStyle/>
          <a:p>
            <a:pPr algn="l"/>
            <a:r>
              <a:rPr sz="1800" b="1" i="0">
                <a:solidFill>
                  <a:srgbClr val="FFFFFF"/>
                </a:solidFill>
                <a:latin typeface="Segoe UI"/>
              </a:rPr>
              <a:t>Aggregate</a:t>
            </a:r>
          </a:p>
        </p:txBody>
      </p:sp>
      <p:sp>
        <p:nvSpPr>
          <p:cNvPr id="18" name="TextBox 17"/>
          <p:cNvSpPr txBox="1"/>
          <p:nvPr/>
        </p:nvSpPr>
        <p:spPr>
          <a:xfrm>
            <a:off x="4361688" y="3136392"/>
            <a:ext cx="3017520" cy="1005840"/>
          </a:xfrm>
          <a:prstGeom prst="rect">
            <a:avLst/>
          </a:prstGeom>
          <a:noFill/>
        </p:spPr>
        <p:txBody>
          <a:bodyPr wrap="square">
            <a:spAutoFit/>
          </a:bodyPr>
          <a:lstStyle/>
          <a:p>
            <a:pPr algn="l"/>
            <a:r>
              <a:rPr sz="1100" b="0" i="0">
                <a:solidFill>
                  <a:srgbClr val="E0E4EE"/>
                </a:solidFill>
                <a:latin typeface="Segoe UI"/>
              </a:rPr>
              <a:t>All daily files are merged into a single end-product workbook with a Tender Data tab and a Final tab containing COUNTIF formulas.</a:t>
            </a:r>
          </a:p>
        </p:txBody>
      </p:sp>
      <p:sp>
        <p:nvSpPr>
          <p:cNvPr id="19" name="TextBox 18"/>
          <p:cNvSpPr txBox="1"/>
          <p:nvPr/>
        </p:nvSpPr>
        <p:spPr>
          <a:xfrm>
            <a:off x="4361688" y="4206240"/>
            <a:ext cx="3017520" cy="1645920"/>
          </a:xfrm>
          <a:prstGeom prst="rect">
            <a:avLst/>
          </a:prstGeom>
          <a:noFill/>
        </p:spPr>
        <p:txBody>
          <a:bodyPr wrap="square">
            <a:spAutoFit/>
          </a:bodyPr>
          <a:lstStyle/>
          <a:p>
            <a:pPr algn="l"/>
            <a:r>
              <a:rPr sz="1150">
                <a:solidFill>
                  <a:srgbClr val="F5A000"/>
                </a:solidFill>
                <a:latin typeface="Segoe UI"/>
              </a:rPr>
              <a:t>✓  Per-day batches saved separately</a:t>
            </a:r>
          </a:p>
          <a:p>
            <a:pPr algn="l"/>
            <a:r>
              <a:rPr sz="1150">
                <a:solidFill>
                  <a:srgbClr val="F5A000"/>
                </a:solidFill>
                <a:latin typeface="Segoe UI"/>
              </a:rPr>
              <a:t>✓  Combined RFQ &amp; ICT Checker file</a:t>
            </a:r>
          </a:p>
          <a:p>
            <a:pPr algn="l"/>
            <a:r>
              <a:rPr sz="1150">
                <a:solidFill>
                  <a:srgbClr val="F5A000"/>
                </a:solidFill>
                <a:latin typeface="Segoe UI"/>
              </a:rPr>
              <a:t>✓  Tender Summary per department</a:t>
            </a:r>
          </a:p>
          <a:p>
            <a:pPr algn="l"/>
            <a:r>
              <a:rPr sz="1150">
                <a:solidFill>
                  <a:srgbClr val="F5A000"/>
                </a:solidFill>
                <a:latin typeface="Segoe UI"/>
              </a:rPr>
              <a:t>✓  Clickable hyperlinks in Excel</a:t>
            </a:r>
          </a:p>
        </p:txBody>
      </p:sp>
      <p:sp>
        <p:nvSpPr>
          <p:cNvPr id="20" name="Rectangle 19"/>
          <p:cNvSpPr/>
          <p:nvPr/>
        </p:nvSpPr>
        <p:spPr>
          <a:xfrm>
            <a:off x="7854696" y="2514600"/>
            <a:ext cx="3291840" cy="347472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54696" y="2514600"/>
            <a:ext cx="3291840" cy="6400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37576" y="2651760"/>
            <a:ext cx="3017520" cy="457200"/>
          </a:xfrm>
          <a:prstGeom prst="rect">
            <a:avLst/>
          </a:prstGeom>
          <a:noFill/>
        </p:spPr>
        <p:txBody>
          <a:bodyPr wrap="square">
            <a:spAutoFit/>
          </a:bodyPr>
          <a:lstStyle/>
          <a:p>
            <a:pPr algn="l"/>
            <a:r>
              <a:rPr sz="1800" b="1" i="0">
                <a:solidFill>
                  <a:srgbClr val="FFFFFF"/>
                </a:solidFill>
                <a:latin typeface="Segoe UI"/>
              </a:rPr>
              <a:t>Act</a:t>
            </a:r>
          </a:p>
        </p:txBody>
      </p:sp>
      <p:sp>
        <p:nvSpPr>
          <p:cNvPr id="23" name="TextBox 22"/>
          <p:cNvSpPr txBox="1"/>
          <p:nvPr/>
        </p:nvSpPr>
        <p:spPr>
          <a:xfrm>
            <a:off x="8037576" y="3136392"/>
            <a:ext cx="3017520" cy="1005840"/>
          </a:xfrm>
          <a:prstGeom prst="rect">
            <a:avLst/>
          </a:prstGeom>
          <a:noFill/>
        </p:spPr>
        <p:txBody>
          <a:bodyPr wrap="square">
            <a:spAutoFit/>
          </a:bodyPr>
          <a:lstStyle/>
          <a:p>
            <a:pPr algn="l"/>
            <a:r>
              <a:rPr sz="1100" b="0" i="0">
                <a:solidFill>
                  <a:srgbClr val="E0E4EE"/>
                </a:solidFill>
                <a:latin typeface="Segoe UI"/>
              </a:rPr>
              <a:t>The equation tracker is updated automatically each run — new batch inserted, oldest dropped, borders applied, file saved.</a:t>
            </a:r>
          </a:p>
        </p:txBody>
      </p:sp>
      <p:sp>
        <p:nvSpPr>
          <p:cNvPr id="24" name="TextBox 23"/>
          <p:cNvSpPr txBox="1"/>
          <p:nvPr/>
        </p:nvSpPr>
        <p:spPr>
          <a:xfrm>
            <a:off x="8037576" y="4206240"/>
            <a:ext cx="3017520" cy="1645920"/>
          </a:xfrm>
          <a:prstGeom prst="rect">
            <a:avLst/>
          </a:prstGeom>
          <a:noFill/>
        </p:spPr>
        <p:txBody>
          <a:bodyPr wrap="square">
            <a:spAutoFit/>
          </a:bodyPr>
          <a:lstStyle/>
          <a:p>
            <a:pPr algn="l"/>
            <a:r>
              <a:rPr sz="1150">
                <a:solidFill>
                  <a:srgbClr val="F5A000"/>
                </a:solidFill>
                <a:latin typeface="Segoe UI"/>
              </a:rPr>
              <a:t>✓  Up to 6 rolling batches tracked</a:t>
            </a:r>
          </a:p>
          <a:p>
            <a:pPr algn="l"/>
            <a:r>
              <a:rPr sz="1150">
                <a:solidFill>
                  <a:srgbClr val="F5A000"/>
                </a:solidFill>
                <a:latin typeface="Segoe UI"/>
              </a:rPr>
              <a:t>✓  Equation file copied to batch folder</a:t>
            </a:r>
          </a:p>
          <a:p>
            <a:pPr algn="l"/>
            <a:r>
              <a:rPr sz="1150">
                <a:solidFill>
                  <a:srgbClr val="F5A000"/>
                </a:solidFill>
                <a:latin typeface="Segoe UI"/>
              </a:rPr>
              <a:t>✓  Synced via OneDrive automatically</a:t>
            </a:r>
          </a:p>
          <a:p>
            <a:pPr algn="l"/>
            <a:r>
              <a:rPr sz="1150">
                <a:solidFill>
                  <a:srgbClr val="F5A000"/>
                </a:solidFill>
                <a:latin typeface="Segoe UI"/>
              </a:rPr>
              <a:t>✓  Ready to present immediately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1016"/>
            <a:ext cx="12188952"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640080"/>
          </a:xfrm>
          <a:prstGeom prst="rect">
            <a:avLst/>
          </a:prstGeom>
          <a:noFill/>
        </p:spPr>
        <p:txBody>
          <a:bodyPr wrap="square">
            <a:spAutoFit/>
          </a:bodyPr>
          <a:lstStyle/>
          <a:p>
            <a:pPr algn="l"/>
            <a:r>
              <a:rPr sz="2800" b="1" i="0">
                <a:solidFill>
                  <a:srgbClr val="FFFFFF"/>
                </a:solidFill>
                <a:latin typeface="Segoe UI"/>
              </a:rPr>
              <a:t>Key Features</a:t>
            </a:r>
          </a:p>
        </p:txBody>
      </p:sp>
      <p:sp>
        <p:nvSpPr>
          <p:cNvPr id="5" name="TextBox 4"/>
          <p:cNvSpPr txBox="1"/>
          <p:nvPr/>
        </p:nvSpPr>
        <p:spPr>
          <a:xfrm>
            <a:off x="502920" y="749808"/>
            <a:ext cx="11155680" cy="365760"/>
          </a:xfrm>
          <a:prstGeom prst="rect">
            <a:avLst/>
          </a:prstGeom>
          <a:noFill/>
        </p:spPr>
        <p:txBody>
          <a:bodyPr wrap="square">
            <a:spAutoFit/>
          </a:bodyPr>
          <a:lstStyle/>
          <a:p>
            <a:pPr algn="l"/>
            <a:r>
              <a:rPr sz="1400" b="0" i="1">
                <a:solidFill>
                  <a:srgbClr val="F5A000"/>
                </a:solidFill>
                <a:latin typeface="Segoe UI"/>
              </a:rPr>
              <a:t>Everything the sales team needs, nothing it doesn't</a:t>
            </a:r>
          </a:p>
        </p:txBody>
      </p:sp>
      <p:sp>
        <p:nvSpPr>
          <p:cNvPr id="6" name="Rectangle 5"/>
          <p:cNvSpPr/>
          <p:nvPr/>
        </p:nvSpPr>
        <p:spPr>
          <a:xfrm>
            <a:off x="0" y="6565392"/>
            <a:ext cx="12188952" cy="292608"/>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spAutoFit/>
          </a:bodyPr>
          <a:lstStyle/>
          <a:p>
            <a:pPr algn="l"/>
            <a:r>
              <a:rPr sz="900" b="0" i="0">
                <a:solidFill>
                  <a:srgbClr val="F4F6FA"/>
                </a:solidFill>
                <a:latin typeface="Segoe UI"/>
              </a:rPr>
              <a:t>Amidel (Pty) Ltd  |  Beyond Technology  |  eTender Scraper</a:t>
            </a:r>
          </a:p>
        </p:txBody>
      </p:sp>
      <p:sp>
        <p:nvSpPr>
          <p:cNvPr id="8" name="TextBox 7"/>
          <p:cNvSpPr txBox="1"/>
          <p:nvPr/>
        </p:nvSpPr>
        <p:spPr>
          <a:xfrm>
            <a:off x="11430000" y="6574536"/>
            <a:ext cx="640080" cy="274320"/>
          </a:xfrm>
          <a:prstGeom prst="rect">
            <a:avLst/>
          </a:prstGeom>
          <a:noFill/>
        </p:spPr>
        <p:txBody>
          <a:bodyPr wrap="square">
            <a:spAutoFit/>
          </a:bodyPr>
          <a:lstStyle/>
          <a:p>
            <a:pPr algn="r"/>
            <a:r>
              <a:rPr sz="900" b="0" i="0">
                <a:solidFill>
                  <a:srgbClr val="F5A000"/>
                </a:solidFill>
                <a:latin typeface="Segoe UI"/>
              </a:rPr>
              <a:t>4 / 10</a:t>
            </a:r>
          </a:p>
        </p:txBody>
      </p:sp>
      <p:sp>
        <p:nvSpPr>
          <p:cNvPr id="9" name="Rectangle 8"/>
          <p:cNvSpPr/>
          <p:nvPr/>
        </p:nvSpPr>
        <p:spPr>
          <a:xfrm>
            <a:off x="411480" y="1508760"/>
            <a:ext cx="35661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508760"/>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636776"/>
            <a:ext cx="3364992" cy="1289304"/>
          </a:xfrm>
          <a:prstGeom prst="rect">
            <a:avLst/>
          </a:prstGeom>
          <a:noFill/>
        </p:spPr>
        <p:txBody>
          <a:bodyPr wrap="square">
            <a:spAutoFit/>
          </a:bodyPr>
          <a:lstStyle/>
          <a:p>
            <a:pPr algn="l"/>
            <a:r>
              <a:rPr sz="1350" b="1">
                <a:solidFill>
                  <a:srgbClr val="1C3880"/>
                </a:solidFill>
                <a:latin typeface="Segoe UI"/>
              </a:rPr>
              <a:t>GUI — no command line</a:t>
            </a:r>
          </a:p>
          <a:p>
            <a:pPr algn="l"/>
            <a:r>
              <a:rPr sz="1150" b="0" i="0">
                <a:solidFill>
                  <a:srgbClr val="333344"/>
                </a:solidFill>
                <a:latin typeface="Segoe UI"/>
              </a:rPr>
              <a:t>• Amidel navy &amp; orange branded desktop window</a:t>
            </a:r>
          </a:p>
          <a:p>
            <a:pPr algn="l"/>
            <a:r>
              <a:rPr sz="1150" b="0" i="0">
                <a:solidFill>
                  <a:srgbClr val="333344"/>
                </a:solidFill>
                <a:latin typeface="Segoe UI"/>
              </a:rPr>
              <a:t>• Batch type toggle: Thursday (Mon–Wed) or Monday (Thu–Sun)</a:t>
            </a:r>
          </a:p>
          <a:p>
            <a:pPr algn="l"/>
            <a:r>
              <a:rPr sz="1150" b="0" i="0">
                <a:solidFill>
                  <a:srgbClr val="333344"/>
                </a:solidFill>
                <a:latin typeface="Segoe UI"/>
              </a:rPr>
              <a:t>• Calendar popup with auto-highlighted batch range</a:t>
            </a:r>
          </a:p>
          <a:p>
            <a:pPr algn="l"/>
            <a:r>
              <a:rPr sz="1150" b="0" i="0">
                <a:solidFill>
                  <a:srgbClr val="333344"/>
                </a:solidFill>
                <a:latin typeface="Segoe UI"/>
              </a:rPr>
              <a:t>• Live log output streamed to the screen while scraping</a:t>
            </a:r>
          </a:p>
        </p:txBody>
      </p:sp>
      <p:sp>
        <p:nvSpPr>
          <p:cNvPr id="12" name="Rectangle 11"/>
          <p:cNvSpPr/>
          <p:nvPr/>
        </p:nvSpPr>
        <p:spPr>
          <a:xfrm>
            <a:off x="4361688" y="1508760"/>
            <a:ext cx="35661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1688" y="1508760"/>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636776"/>
            <a:ext cx="3364992" cy="1289304"/>
          </a:xfrm>
          <a:prstGeom prst="rect">
            <a:avLst/>
          </a:prstGeom>
          <a:noFill/>
        </p:spPr>
        <p:txBody>
          <a:bodyPr wrap="square">
            <a:spAutoFit/>
          </a:bodyPr>
          <a:lstStyle/>
          <a:p>
            <a:pPr algn="l"/>
            <a:r>
              <a:rPr sz="1350" b="1">
                <a:solidFill>
                  <a:srgbClr val="1C3880"/>
                </a:solidFill>
                <a:latin typeface="Segoe UI"/>
              </a:rPr>
              <a:t>Intelligent batch picker</a:t>
            </a:r>
          </a:p>
          <a:p>
            <a:pPr algn="l"/>
            <a:r>
              <a:rPr sz="1150" b="0" i="0">
                <a:solidFill>
                  <a:srgbClr val="333344"/>
                </a:solidFill>
                <a:latin typeface="Segoe UI"/>
              </a:rPr>
              <a:t>• Click any date in the week — correct range selected automatically</a:t>
            </a:r>
          </a:p>
          <a:p>
            <a:pPr algn="l"/>
            <a:r>
              <a:rPr sz="1150" b="0" i="0">
                <a:solidFill>
                  <a:srgbClr val="333344"/>
                </a:solidFill>
                <a:latin typeface="Segoe UI"/>
              </a:rPr>
              <a:t>• Previous / next week navigation arrows</a:t>
            </a:r>
          </a:p>
          <a:p>
            <a:pPr algn="l"/>
            <a:r>
              <a:rPr sz="1150" b="0" i="0">
                <a:solidFill>
                  <a:srgbClr val="333344"/>
                </a:solidFill>
                <a:latin typeface="Segoe UI"/>
              </a:rPr>
              <a:t>• Batch label displayed in human-readable format</a:t>
            </a:r>
          </a:p>
          <a:p>
            <a:pPr algn="l"/>
            <a:r>
              <a:rPr sz="1150" b="0" i="0">
                <a:solidFill>
                  <a:srgbClr val="333344"/>
                </a:solidFill>
                <a:latin typeface="Segoe UI"/>
              </a:rPr>
              <a:t>• Batch type suggested automatically based on today's day</a:t>
            </a:r>
          </a:p>
        </p:txBody>
      </p:sp>
      <p:sp>
        <p:nvSpPr>
          <p:cNvPr id="15" name="Rectangle 14"/>
          <p:cNvSpPr/>
          <p:nvPr/>
        </p:nvSpPr>
        <p:spPr>
          <a:xfrm>
            <a:off x="8311896" y="1508760"/>
            <a:ext cx="35661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11896" y="1508760"/>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76488" y="1636776"/>
            <a:ext cx="3364992" cy="1289304"/>
          </a:xfrm>
          <a:prstGeom prst="rect">
            <a:avLst/>
          </a:prstGeom>
          <a:noFill/>
        </p:spPr>
        <p:txBody>
          <a:bodyPr wrap="square">
            <a:spAutoFit/>
          </a:bodyPr>
          <a:lstStyle/>
          <a:p>
            <a:pPr algn="l"/>
            <a:r>
              <a:rPr sz="1350" b="1">
                <a:solidFill>
                  <a:srgbClr val="1C3880"/>
                </a:solidFill>
                <a:latin typeface="Segoe UI"/>
              </a:rPr>
              <a:t>Structured Excel output</a:t>
            </a:r>
          </a:p>
          <a:p>
            <a:pPr algn="l"/>
            <a:r>
              <a:rPr sz="1150" b="0" i="0">
                <a:solidFill>
                  <a:srgbClr val="333344"/>
                </a:solidFill>
                <a:latin typeface="Segoe UI"/>
              </a:rPr>
              <a:t>• Per-day files in batches/ subfolder</a:t>
            </a:r>
          </a:p>
          <a:p>
            <a:pPr algn="l"/>
            <a:r>
              <a:rPr sz="1150" b="0" i="0">
                <a:solidFill>
                  <a:srgbClr val="333344"/>
                </a:solidFill>
                <a:latin typeface="Segoe UI"/>
              </a:rPr>
              <a:t>• Combined end-product file with Tender Data + Final tabs</a:t>
            </a:r>
          </a:p>
          <a:p>
            <a:pPr algn="l"/>
            <a:r>
              <a:rPr sz="1150" b="0" i="0">
                <a:solidFill>
                  <a:srgbClr val="333344"/>
                </a:solidFill>
                <a:latin typeface="Segoe UI"/>
              </a:rPr>
              <a:t>• Tender Summary — one tab per department with any tenders (RFQs first)</a:t>
            </a:r>
          </a:p>
          <a:p>
            <a:pPr algn="l"/>
            <a:r>
              <a:rPr sz="1150" b="0" i="0">
                <a:solidFill>
                  <a:srgbClr val="333344"/>
                </a:solidFill>
                <a:latin typeface="Segoe UI"/>
              </a:rPr>
              <a:t>• Clickable hyperlinks to source documents</a:t>
            </a:r>
          </a:p>
        </p:txBody>
      </p:sp>
      <p:sp>
        <p:nvSpPr>
          <p:cNvPr id="18" name="Rectangle 17"/>
          <p:cNvSpPr/>
          <p:nvPr/>
        </p:nvSpPr>
        <p:spPr>
          <a:xfrm>
            <a:off x="411480" y="3090672"/>
            <a:ext cx="35661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3090672"/>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72" y="3218688"/>
            <a:ext cx="3364992" cy="1289304"/>
          </a:xfrm>
          <a:prstGeom prst="rect">
            <a:avLst/>
          </a:prstGeom>
          <a:noFill/>
        </p:spPr>
        <p:txBody>
          <a:bodyPr wrap="square">
            <a:spAutoFit/>
          </a:bodyPr>
          <a:lstStyle/>
          <a:p>
            <a:pPr algn="l"/>
            <a:r>
              <a:rPr sz="1350" b="1">
                <a:solidFill>
                  <a:srgbClr val="1C3880"/>
                </a:solidFill>
                <a:latin typeface="Segoe UI"/>
              </a:rPr>
              <a:t>Equation file management</a:t>
            </a:r>
          </a:p>
          <a:p>
            <a:pPr algn="l"/>
            <a:r>
              <a:rPr sz="1150" b="0" i="0">
                <a:solidFill>
                  <a:srgbClr val="333344"/>
                </a:solidFill>
                <a:latin typeface="Segoe UI"/>
              </a:rPr>
              <a:t>• New batch inserted at column B (left-most position)</a:t>
            </a:r>
          </a:p>
          <a:p>
            <a:pPr algn="l"/>
            <a:r>
              <a:rPr sz="1150" b="0" i="0">
                <a:solidFill>
                  <a:srgbClr val="333344"/>
                </a:solidFill>
                <a:latin typeface="Segoe UI"/>
              </a:rPr>
              <a:t>• Older batches shifted right automatically</a:t>
            </a:r>
          </a:p>
          <a:p>
            <a:pPr algn="l"/>
            <a:r>
              <a:rPr sz="1150" b="0" i="0">
                <a:solidFill>
                  <a:srgbClr val="333344"/>
                </a:solidFill>
                <a:latin typeface="Segoe UI"/>
              </a:rPr>
              <a:t>• Maximum 6 batches enforced — oldest removed</a:t>
            </a:r>
          </a:p>
          <a:p>
            <a:pPr algn="l"/>
            <a:r>
              <a:rPr sz="1150" b="0" i="0">
                <a:solidFill>
                  <a:srgbClr val="333344"/>
                </a:solidFill>
                <a:latin typeface="Segoe UI"/>
              </a:rPr>
              <a:t>• File copied to batch's Display Equation/ folder</a:t>
            </a:r>
          </a:p>
        </p:txBody>
      </p:sp>
      <p:sp>
        <p:nvSpPr>
          <p:cNvPr id="21" name="Rectangle 20"/>
          <p:cNvSpPr/>
          <p:nvPr/>
        </p:nvSpPr>
        <p:spPr>
          <a:xfrm>
            <a:off x="4361688" y="3090672"/>
            <a:ext cx="35661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61688" y="3090672"/>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3218688"/>
            <a:ext cx="3364992" cy="1289304"/>
          </a:xfrm>
          <a:prstGeom prst="rect">
            <a:avLst/>
          </a:prstGeom>
          <a:noFill/>
        </p:spPr>
        <p:txBody>
          <a:bodyPr wrap="square">
            <a:spAutoFit/>
          </a:bodyPr>
          <a:lstStyle/>
          <a:p>
            <a:pPr algn="l"/>
            <a:r>
              <a:rPr sz="1350" b="1">
                <a:solidFill>
                  <a:srgbClr val="1C3880"/>
                </a:solidFill>
                <a:latin typeface="Segoe UI"/>
              </a:rPr>
              <a:t>Robust scraping</a:t>
            </a:r>
          </a:p>
          <a:p>
            <a:pPr algn="l"/>
            <a:r>
              <a:rPr sz="1150" b="0" i="0">
                <a:solidFill>
                  <a:srgbClr val="333344"/>
                </a:solidFill>
                <a:latin typeface="Segoe UI"/>
              </a:rPr>
              <a:t>• Retry logic for stale elements and network errors</a:t>
            </a:r>
          </a:p>
          <a:p>
            <a:pPr algn="l"/>
            <a:r>
              <a:rPr sz="1150" b="0" i="0">
                <a:solidFill>
                  <a:srgbClr val="333344"/>
                </a:solidFill>
                <a:latin typeface="Segoe UI"/>
              </a:rPr>
              <a:t>• Automatic duplicate detection and filtering</a:t>
            </a:r>
          </a:p>
          <a:p>
            <a:pPr algn="l"/>
            <a:r>
              <a:rPr sz="1150" b="0" i="0">
                <a:solidFill>
                  <a:srgbClr val="333344"/>
                </a:solidFill>
                <a:latin typeface="Segoe UI"/>
              </a:rPr>
              <a:t>• pageLoadWait tuned for jQuery DataTable initialisation</a:t>
            </a:r>
          </a:p>
          <a:p>
            <a:pPr algn="l"/>
            <a:r>
              <a:rPr sz="1150" b="0" i="0">
                <a:solidFill>
                  <a:srgbClr val="333344"/>
                </a:solidFill>
                <a:latin typeface="Segoe UI"/>
              </a:rPr>
              <a:t>• 25 tracked departments / organs of state</a:t>
            </a:r>
          </a:p>
        </p:txBody>
      </p:sp>
      <p:sp>
        <p:nvSpPr>
          <p:cNvPr id="24" name="Rectangle 23"/>
          <p:cNvSpPr/>
          <p:nvPr/>
        </p:nvSpPr>
        <p:spPr>
          <a:xfrm>
            <a:off x="8311896" y="3090672"/>
            <a:ext cx="3566160" cy="141732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11896" y="3090672"/>
            <a:ext cx="50292" cy="141732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76488" y="3218688"/>
            <a:ext cx="3364992" cy="1289304"/>
          </a:xfrm>
          <a:prstGeom prst="rect">
            <a:avLst/>
          </a:prstGeom>
          <a:noFill/>
        </p:spPr>
        <p:txBody>
          <a:bodyPr wrap="square">
            <a:spAutoFit/>
          </a:bodyPr>
          <a:lstStyle/>
          <a:p>
            <a:pPr algn="l"/>
            <a:r>
              <a:rPr sz="1350" b="1">
                <a:solidFill>
                  <a:srgbClr val="1C3880"/>
                </a:solidFill>
                <a:latin typeface="Segoe UI"/>
              </a:rPr>
              <a:t>Organised folder structure</a:t>
            </a:r>
          </a:p>
          <a:p>
            <a:pPr algn="l"/>
            <a:r>
              <a:rPr sz="1150" b="0" i="0">
                <a:solidFill>
                  <a:srgbClr val="333344"/>
                </a:solidFill>
                <a:latin typeface="Segoe UI"/>
              </a:rPr>
              <a:t>• data/(T) DD-DD Mon YYYY/ named per batch</a:t>
            </a:r>
          </a:p>
          <a:p>
            <a:pPr algn="l"/>
            <a:r>
              <a:rPr sz="1150" b="0" i="0">
                <a:solidFill>
                  <a:srgbClr val="333344"/>
                </a:solidFill>
                <a:latin typeface="Segoe UI"/>
              </a:rPr>
              <a:t>• Three subfolders: batches/, end product/, Display Equation/</a:t>
            </a:r>
          </a:p>
          <a:p>
            <a:pPr algn="l"/>
            <a:r>
              <a:rPr sz="1150" b="0" i="0">
                <a:solidFill>
                  <a:srgbClr val="333344"/>
                </a:solidFill>
                <a:latin typeface="Segoe UI"/>
              </a:rPr>
              <a:t>• Scraper log written to logs/scraper.log</a:t>
            </a:r>
          </a:p>
          <a:p>
            <a:pPr algn="l"/>
            <a:r>
              <a:rPr sz="1150" b="0" i="0">
                <a:solidFill>
                  <a:srgbClr val="333344"/>
                </a:solidFill>
                <a:latin typeface="Segoe UI"/>
              </a:rPr>
              <a:t>• OneDrive sync keeps equation file up to date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1016"/>
            <a:ext cx="12188952"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640080"/>
          </a:xfrm>
          <a:prstGeom prst="rect">
            <a:avLst/>
          </a:prstGeom>
          <a:noFill/>
        </p:spPr>
        <p:txBody>
          <a:bodyPr wrap="square">
            <a:spAutoFit/>
          </a:bodyPr>
          <a:lstStyle/>
          <a:p>
            <a:pPr algn="l"/>
            <a:r>
              <a:rPr sz="2800" b="1" i="0">
                <a:solidFill>
                  <a:srgbClr val="FFFFFF"/>
                </a:solidFill>
                <a:latin typeface="Segoe UI"/>
              </a:rPr>
              <a:t>How It Works</a:t>
            </a:r>
          </a:p>
        </p:txBody>
      </p:sp>
      <p:sp>
        <p:nvSpPr>
          <p:cNvPr id="5" name="TextBox 4"/>
          <p:cNvSpPr txBox="1"/>
          <p:nvPr/>
        </p:nvSpPr>
        <p:spPr>
          <a:xfrm>
            <a:off x="502920" y="749808"/>
            <a:ext cx="11155680" cy="365760"/>
          </a:xfrm>
          <a:prstGeom prst="rect">
            <a:avLst/>
          </a:prstGeom>
          <a:noFill/>
        </p:spPr>
        <p:txBody>
          <a:bodyPr wrap="square">
            <a:spAutoFit/>
          </a:bodyPr>
          <a:lstStyle/>
          <a:p>
            <a:pPr algn="l"/>
            <a:r>
              <a:rPr sz="1400" b="0" i="1">
                <a:solidFill>
                  <a:srgbClr val="F5A000"/>
                </a:solidFill>
                <a:latin typeface="Segoe UI"/>
              </a:rPr>
              <a:t>Five steps from launch to ready-to-present output</a:t>
            </a:r>
          </a:p>
        </p:txBody>
      </p:sp>
      <p:sp>
        <p:nvSpPr>
          <p:cNvPr id="6" name="Rectangle 5"/>
          <p:cNvSpPr/>
          <p:nvPr/>
        </p:nvSpPr>
        <p:spPr>
          <a:xfrm>
            <a:off x="0" y="6565392"/>
            <a:ext cx="12188952" cy="292608"/>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spAutoFit/>
          </a:bodyPr>
          <a:lstStyle/>
          <a:p>
            <a:pPr algn="l"/>
            <a:r>
              <a:rPr sz="900" b="0" i="0">
                <a:solidFill>
                  <a:srgbClr val="F4F6FA"/>
                </a:solidFill>
                <a:latin typeface="Segoe UI"/>
              </a:rPr>
              <a:t>Amidel (Pty) Ltd  |  Beyond Technology  |  eTender Scraper</a:t>
            </a:r>
          </a:p>
        </p:txBody>
      </p:sp>
      <p:sp>
        <p:nvSpPr>
          <p:cNvPr id="8" name="TextBox 7"/>
          <p:cNvSpPr txBox="1"/>
          <p:nvPr/>
        </p:nvSpPr>
        <p:spPr>
          <a:xfrm>
            <a:off x="11430000" y="6574536"/>
            <a:ext cx="640080" cy="274320"/>
          </a:xfrm>
          <a:prstGeom prst="rect">
            <a:avLst/>
          </a:prstGeom>
          <a:noFill/>
        </p:spPr>
        <p:txBody>
          <a:bodyPr wrap="square">
            <a:spAutoFit/>
          </a:bodyPr>
          <a:lstStyle/>
          <a:p>
            <a:pPr algn="r"/>
            <a:r>
              <a:rPr sz="900" b="0" i="0">
                <a:solidFill>
                  <a:srgbClr val="F5A000"/>
                </a:solidFill>
                <a:latin typeface="Segoe UI"/>
              </a:rPr>
              <a:t>5 / 10</a:t>
            </a:r>
          </a:p>
        </p:txBody>
      </p:sp>
      <p:sp>
        <p:nvSpPr>
          <p:cNvPr id="9" name="Rectangle 8"/>
          <p:cNvSpPr/>
          <p:nvPr/>
        </p:nvSpPr>
        <p:spPr>
          <a:xfrm>
            <a:off x="772668" y="1783080"/>
            <a:ext cx="2011680" cy="329184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2668" y="1783080"/>
            <a:ext cx="2011680"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8" y="1947672"/>
            <a:ext cx="2011680" cy="731520"/>
          </a:xfrm>
          <a:prstGeom prst="rect">
            <a:avLst/>
          </a:prstGeom>
          <a:noFill/>
        </p:spPr>
        <p:txBody>
          <a:bodyPr wrap="square">
            <a:spAutoFit/>
          </a:bodyPr>
          <a:lstStyle/>
          <a:p>
            <a:pPr algn="ctr"/>
            <a:r>
              <a:rPr sz="3600" b="1" i="0">
                <a:solidFill>
                  <a:srgbClr val="F5A000"/>
                </a:solidFill>
                <a:latin typeface="Segoe UI"/>
              </a:rPr>
              <a:t>1</a:t>
            </a:r>
          </a:p>
        </p:txBody>
      </p:sp>
      <p:sp>
        <p:nvSpPr>
          <p:cNvPr id="12" name="TextBox 11"/>
          <p:cNvSpPr txBox="1"/>
          <p:nvPr/>
        </p:nvSpPr>
        <p:spPr>
          <a:xfrm>
            <a:off x="864108" y="2697480"/>
            <a:ext cx="1828800" cy="502920"/>
          </a:xfrm>
          <a:prstGeom prst="rect">
            <a:avLst/>
          </a:prstGeom>
          <a:noFill/>
        </p:spPr>
        <p:txBody>
          <a:bodyPr wrap="square">
            <a:spAutoFit/>
          </a:bodyPr>
          <a:lstStyle/>
          <a:p>
            <a:pPr algn="ctr"/>
            <a:r>
              <a:rPr sz="1400" b="1" i="0">
                <a:solidFill>
                  <a:srgbClr val="FFFFFF"/>
                </a:solidFill>
                <a:latin typeface="Segoe UI"/>
              </a:rPr>
              <a:t>Pick Batch</a:t>
            </a:r>
          </a:p>
        </p:txBody>
      </p:sp>
      <p:sp>
        <p:nvSpPr>
          <p:cNvPr id="13" name="TextBox 12"/>
          <p:cNvSpPr txBox="1"/>
          <p:nvPr/>
        </p:nvSpPr>
        <p:spPr>
          <a:xfrm>
            <a:off x="882396" y="3246120"/>
            <a:ext cx="1792224" cy="1645920"/>
          </a:xfrm>
          <a:prstGeom prst="rect">
            <a:avLst/>
          </a:prstGeom>
          <a:noFill/>
        </p:spPr>
        <p:txBody>
          <a:bodyPr wrap="square">
            <a:spAutoFit/>
          </a:bodyPr>
          <a:lstStyle/>
          <a:p>
            <a:pPr algn="ctr"/>
            <a:r>
              <a:rPr sz="1100" b="0" i="0">
                <a:solidFill>
                  <a:srgbClr val="E0E4EE"/>
                </a:solidFill>
                <a:latin typeface="Segoe UI"/>
              </a:rPr>
              <a:t>Select batch type (T/M) and click any date in the target week. The app calculates the correct Mon–Wed or Thu–Sun range.</a:t>
            </a:r>
          </a:p>
        </p:txBody>
      </p:sp>
      <p:sp>
        <p:nvSpPr>
          <p:cNvPr id="14" name="TextBox 13"/>
          <p:cNvSpPr txBox="1"/>
          <p:nvPr/>
        </p:nvSpPr>
        <p:spPr>
          <a:xfrm>
            <a:off x="2798978" y="3291840"/>
            <a:ext cx="117043" cy="274320"/>
          </a:xfrm>
          <a:prstGeom prst="rect">
            <a:avLst/>
          </a:prstGeom>
          <a:noFill/>
        </p:spPr>
        <p:txBody>
          <a:bodyPr wrap="square">
            <a:spAutoFit/>
          </a:bodyPr>
          <a:lstStyle/>
          <a:p>
            <a:pPr algn="ctr"/>
            <a:r>
              <a:rPr sz="1100" b="0" i="0">
                <a:solidFill>
                  <a:srgbClr val="F5A000"/>
                </a:solidFill>
                <a:latin typeface="Segoe UI"/>
              </a:rPr>
              <a:t>▶</a:t>
            </a:r>
          </a:p>
        </p:txBody>
      </p:sp>
      <p:sp>
        <p:nvSpPr>
          <p:cNvPr id="15" name="Rectangle 14"/>
          <p:cNvSpPr/>
          <p:nvPr/>
        </p:nvSpPr>
        <p:spPr>
          <a:xfrm>
            <a:off x="2930652" y="1783080"/>
            <a:ext cx="2011680" cy="329184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30652" y="1783080"/>
            <a:ext cx="2011680"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30652" y="1947672"/>
            <a:ext cx="2011680" cy="731520"/>
          </a:xfrm>
          <a:prstGeom prst="rect">
            <a:avLst/>
          </a:prstGeom>
          <a:noFill/>
        </p:spPr>
        <p:txBody>
          <a:bodyPr wrap="square">
            <a:spAutoFit/>
          </a:bodyPr>
          <a:lstStyle/>
          <a:p>
            <a:pPr algn="ctr"/>
            <a:r>
              <a:rPr sz="3600" b="1" i="0">
                <a:solidFill>
                  <a:srgbClr val="F5A000"/>
                </a:solidFill>
                <a:latin typeface="Segoe UI"/>
              </a:rPr>
              <a:t>2</a:t>
            </a:r>
          </a:p>
        </p:txBody>
      </p:sp>
      <p:sp>
        <p:nvSpPr>
          <p:cNvPr id="18" name="TextBox 17"/>
          <p:cNvSpPr txBox="1"/>
          <p:nvPr/>
        </p:nvSpPr>
        <p:spPr>
          <a:xfrm>
            <a:off x="3022092" y="2697480"/>
            <a:ext cx="1828800" cy="502920"/>
          </a:xfrm>
          <a:prstGeom prst="rect">
            <a:avLst/>
          </a:prstGeom>
          <a:noFill/>
        </p:spPr>
        <p:txBody>
          <a:bodyPr wrap="square">
            <a:spAutoFit/>
          </a:bodyPr>
          <a:lstStyle/>
          <a:p>
            <a:pPr algn="ctr"/>
            <a:r>
              <a:rPr sz="1400" b="1" i="0">
                <a:solidFill>
                  <a:srgbClr val="FFFFFF"/>
                </a:solidFill>
                <a:latin typeface="Segoe UI"/>
              </a:rPr>
              <a:t>Run Scraper</a:t>
            </a:r>
          </a:p>
        </p:txBody>
      </p:sp>
      <p:sp>
        <p:nvSpPr>
          <p:cNvPr id="19" name="TextBox 18"/>
          <p:cNvSpPr txBox="1"/>
          <p:nvPr/>
        </p:nvSpPr>
        <p:spPr>
          <a:xfrm>
            <a:off x="3040380" y="3246120"/>
            <a:ext cx="1792224" cy="1645920"/>
          </a:xfrm>
          <a:prstGeom prst="rect">
            <a:avLst/>
          </a:prstGeom>
          <a:noFill/>
        </p:spPr>
        <p:txBody>
          <a:bodyPr wrap="square">
            <a:spAutoFit/>
          </a:bodyPr>
          <a:lstStyle/>
          <a:p>
            <a:pPr algn="ctr"/>
            <a:r>
              <a:rPr sz="1100" b="0" i="0">
                <a:solidFill>
                  <a:srgbClr val="E0E4EE"/>
                </a:solidFill>
                <a:latin typeface="Segoe UI"/>
              </a:rPr>
              <a:t>Click Run Scraper. Selenium opens Chrome and visits etenders.gov.za for each day in the range.</a:t>
            </a:r>
          </a:p>
        </p:txBody>
      </p:sp>
      <p:sp>
        <p:nvSpPr>
          <p:cNvPr id="20" name="TextBox 19"/>
          <p:cNvSpPr txBox="1"/>
          <p:nvPr/>
        </p:nvSpPr>
        <p:spPr>
          <a:xfrm>
            <a:off x="4956962" y="3291840"/>
            <a:ext cx="117043" cy="274320"/>
          </a:xfrm>
          <a:prstGeom prst="rect">
            <a:avLst/>
          </a:prstGeom>
          <a:noFill/>
        </p:spPr>
        <p:txBody>
          <a:bodyPr wrap="square">
            <a:spAutoFit/>
          </a:bodyPr>
          <a:lstStyle/>
          <a:p>
            <a:pPr algn="ctr"/>
            <a:r>
              <a:rPr sz="1100" b="0" i="0">
                <a:solidFill>
                  <a:srgbClr val="F5A000"/>
                </a:solidFill>
                <a:latin typeface="Segoe UI"/>
              </a:rPr>
              <a:t>▶</a:t>
            </a:r>
          </a:p>
        </p:txBody>
      </p:sp>
      <p:sp>
        <p:nvSpPr>
          <p:cNvPr id="21" name="Rectangle 20"/>
          <p:cNvSpPr/>
          <p:nvPr/>
        </p:nvSpPr>
        <p:spPr>
          <a:xfrm>
            <a:off x="5088636" y="1783080"/>
            <a:ext cx="2011680" cy="329184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8636" y="1783080"/>
            <a:ext cx="2011680"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8636" y="1947672"/>
            <a:ext cx="2011680" cy="731520"/>
          </a:xfrm>
          <a:prstGeom prst="rect">
            <a:avLst/>
          </a:prstGeom>
          <a:noFill/>
        </p:spPr>
        <p:txBody>
          <a:bodyPr wrap="square">
            <a:spAutoFit/>
          </a:bodyPr>
          <a:lstStyle/>
          <a:p>
            <a:pPr algn="ctr"/>
            <a:r>
              <a:rPr sz="3600" b="1" i="0">
                <a:solidFill>
                  <a:srgbClr val="F5A000"/>
                </a:solidFill>
                <a:latin typeface="Segoe UI"/>
              </a:rPr>
              <a:t>3</a:t>
            </a:r>
          </a:p>
        </p:txBody>
      </p:sp>
      <p:sp>
        <p:nvSpPr>
          <p:cNvPr id="24" name="TextBox 23"/>
          <p:cNvSpPr txBox="1"/>
          <p:nvPr/>
        </p:nvSpPr>
        <p:spPr>
          <a:xfrm>
            <a:off x="5180076" y="2697480"/>
            <a:ext cx="1828800" cy="502920"/>
          </a:xfrm>
          <a:prstGeom prst="rect">
            <a:avLst/>
          </a:prstGeom>
          <a:noFill/>
        </p:spPr>
        <p:txBody>
          <a:bodyPr wrap="square">
            <a:spAutoFit/>
          </a:bodyPr>
          <a:lstStyle/>
          <a:p>
            <a:pPr algn="ctr"/>
            <a:r>
              <a:rPr sz="1400" b="1" i="0">
                <a:solidFill>
                  <a:srgbClr val="FFFFFF"/>
                </a:solidFill>
                <a:latin typeface="Segoe UI"/>
              </a:rPr>
              <a:t>Extract Data</a:t>
            </a:r>
          </a:p>
        </p:txBody>
      </p:sp>
      <p:sp>
        <p:nvSpPr>
          <p:cNvPr id="25" name="TextBox 24"/>
          <p:cNvSpPr txBox="1"/>
          <p:nvPr/>
        </p:nvSpPr>
        <p:spPr>
          <a:xfrm>
            <a:off x="5198364" y="3246120"/>
            <a:ext cx="1792224" cy="1645920"/>
          </a:xfrm>
          <a:prstGeom prst="rect">
            <a:avLst/>
          </a:prstGeom>
          <a:noFill/>
        </p:spPr>
        <p:txBody>
          <a:bodyPr wrap="square">
            <a:spAutoFit/>
          </a:bodyPr>
          <a:lstStyle/>
          <a:p>
            <a:pPr algn="ctr"/>
            <a:r>
              <a:rPr sz="1100" b="0" i="0">
                <a:solidFill>
                  <a:srgbClr val="E0E4EE"/>
                </a:solidFill>
                <a:latin typeface="Segoe UI"/>
              </a:rPr>
              <a:t>Each tender row is expanded, all 23 fields are read, and duplicates are filtered before saving.</a:t>
            </a:r>
          </a:p>
        </p:txBody>
      </p:sp>
      <p:sp>
        <p:nvSpPr>
          <p:cNvPr id="26" name="TextBox 25"/>
          <p:cNvSpPr txBox="1"/>
          <p:nvPr/>
        </p:nvSpPr>
        <p:spPr>
          <a:xfrm>
            <a:off x="7114946" y="3291840"/>
            <a:ext cx="117043" cy="274320"/>
          </a:xfrm>
          <a:prstGeom prst="rect">
            <a:avLst/>
          </a:prstGeom>
          <a:noFill/>
        </p:spPr>
        <p:txBody>
          <a:bodyPr wrap="square">
            <a:spAutoFit/>
          </a:bodyPr>
          <a:lstStyle/>
          <a:p>
            <a:pPr algn="ctr"/>
            <a:r>
              <a:rPr sz="1100" b="0" i="0">
                <a:solidFill>
                  <a:srgbClr val="F5A000"/>
                </a:solidFill>
                <a:latin typeface="Segoe UI"/>
              </a:rPr>
              <a:t>▶</a:t>
            </a:r>
          </a:p>
        </p:txBody>
      </p:sp>
      <p:sp>
        <p:nvSpPr>
          <p:cNvPr id="27" name="Rectangle 26"/>
          <p:cNvSpPr/>
          <p:nvPr/>
        </p:nvSpPr>
        <p:spPr>
          <a:xfrm>
            <a:off x="7246620" y="1783080"/>
            <a:ext cx="2011680" cy="329184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46620" y="1783080"/>
            <a:ext cx="2011680"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6620" y="1947672"/>
            <a:ext cx="2011680" cy="731520"/>
          </a:xfrm>
          <a:prstGeom prst="rect">
            <a:avLst/>
          </a:prstGeom>
          <a:noFill/>
        </p:spPr>
        <p:txBody>
          <a:bodyPr wrap="square">
            <a:spAutoFit/>
          </a:bodyPr>
          <a:lstStyle/>
          <a:p>
            <a:pPr algn="ctr"/>
            <a:r>
              <a:rPr sz="3600" b="1" i="0">
                <a:solidFill>
                  <a:srgbClr val="F5A000"/>
                </a:solidFill>
                <a:latin typeface="Segoe UI"/>
              </a:rPr>
              <a:t>4</a:t>
            </a:r>
          </a:p>
        </p:txBody>
      </p:sp>
      <p:sp>
        <p:nvSpPr>
          <p:cNvPr id="30" name="TextBox 29"/>
          <p:cNvSpPr txBox="1"/>
          <p:nvPr/>
        </p:nvSpPr>
        <p:spPr>
          <a:xfrm>
            <a:off x="7338060" y="2697480"/>
            <a:ext cx="1828800" cy="502920"/>
          </a:xfrm>
          <a:prstGeom prst="rect">
            <a:avLst/>
          </a:prstGeom>
          <a:noFill/>
        </p:spPr>
        <p:txBody>
          <a:bodyPr wrap="square">
            <a:spAutoFit/>
          </a:bodyPr>
          <a:lstStyle/>
          <a:p>
            <a:pPr algn="ctr"/>
            <a:r>
              <a:rPr sz="1400" b="1" i="0">
                <a:solidFill>
                  <a:srgbClr val="FFFFFF"/>
                </a:solidFill>
                <a:latin typeface="Segoe UI"/>
              </a:rPr>
              <a:t>Build Outputs</a:t>
            </a:r>
          </a:p>
        </p:txBody>
      </p:sp>
      <p:sp>
        <p:nvSpPr>
          <p:cNvPr id="31" name="TextBox 30"/>
          <p:cNvSpPr txBox="1"/>
          <p:nvPr/>
        </p:nvSpPr>
        <p:spPr>
          <a:xfrm>
            <a:off x="7356348" y="3246120"/>
            <a:ext cx="1792224" cy="1645920"/>
          </a:xfrm>
          <a:prstGeom prst="rect">
            <a:avLst/>
          </a:prstGeom>
          <a:noFill/>
        </p:spPr>
        <p:txBody>
          <a:bodyPr wrap="square">
            <a:spAutoFit/>
          </a:bodyPr>
          <a:lstStyle/>
          <a:p>
            <a:pPr algn="ctr"/>
            <a:r>
              <a:rPr sz="1100" b="0" i="0">
                <a:solidFill>
                  <a:srgbClr val="E0E4EE"/>
                </a:solidFill>
                <a:latin typeface="Segoe UI"/>
              </a:rPr>
              <a:t>Per-day Excel files are saved, then merged into the RFQ_and_ICT_Checker workbook and Tender Summary.</a:t>
            </a:r>
          </a:p>
        </p:txBody>
      </p:sp>
      <p:sp>
        <p:nvSpPr>
          <p:cNvPr id="32" name="TextBox 31"/>
          <p:cNvSpPr txBox="1"/>
          <p:nvPr/>
        </p:nvSpPr>
        <p:spPr>
          <a:xfrm>
            <a:off x="9272930" y="3291840"/>
            <a:ext cx="117043" cy="274320"/>
          </a:xfrm>
          <a:prstGeom prst="rect">
            <a:avLst/>
          </a:prstGeom>
          <a:noFill/>
        </p:spPr>
        <p:txBody>
          <a:bodyPr wrap="square">
            <a:spAutoFit/>
          </a:bodyPr>
          <a:lstStyle/>
          <a:p>
            <a:pPr algn="ctr"/>
            <a:r>
              <a:rPr sz="1100" b="0" i="0">
                <a:solidFill>
                  <a:srgbClr val="F5A000"/>
                </a:solidFill>
                <a:latin typeface="Segoe UI"/>
              </a:rPr>
              <a:t>▶</a:t>
            </a:r>
          </a:p>
        </p:txBody>
      </p:sp>
      <p:sp>
        <p:nvSpPr>
          <p:cNvPr id="33" name="Rectangle 32"/>
          <p:cNvSpPr/>
          <p:nvPr/>
        </p:nvSpPr>
        <p:spPr>
          <a:xfrm>
            <a:off x="9404604" y="1783080"/>
            <a:ext cx="2011680" cy="329184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404604" y="1783080"/>
            <a:ext cx="2011680"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04604" y="1947672"/>
            <a:ext cx="2011680" cy="731520"/>
          </a:xfrm>
          <a:prstGeom prst="rect">
            <a:avLst/>
          </a:prstGeom>
          <a:noFill/>
        </p:spPr>
        <p:txBody>
          <a:bodyPr wrap="square">
            <a:spAutoFit/>
          </a:bodyPr>
          <a:lstStyle/>
          <a:p>
            <a:pPr algn="ctr"/>
            <a:r>
              <a:rPr sz="3600" b="1" i="0">
                <a:solidFill>
                  <a:srgbClr val="F5A000"/>
                </a:solidFill>
                <a:latin typeface="Segoe UI"/>
              </a:rPr>
              <a:t>5</a:t>
            </a:r>
          </a:p>
        </p:txBody>
      </p:sp>
      <p:sp>
        <p:nvSpPr>
          <p:cNvPr id="36" name="TextBox 35"/>
          <p:cNvSpPr txBox="1"/>
          <p:nvPr/>
        </p:nvSpPr>
        <p:spPr>
          <a:xfrm>
            <a:off x="9496044" y="2697480"/>
            <a:ext cx="1828800" cy="502920"/>
          </a:xfrm>
          <a:prstGeom prst="rect">
            <a:avLst/>
          </a:prstGeom>
          <a:noFill/>
        </p:spPr>
        <p:txBody>
          <a:bodyPr wrap="square">
            <a:spAutoFit/>
          </a:bodyPr>
          <a:lstStyle/>
          <a:p>
            <a:pPr algn="ctr"/>
            <a:r>
              <a:rPr sz="1400" b="1" i="0">
                <a:solidFill>
                  <a:srgbClr val="FFFFFF"/>
                </a:solidFill>
                <a:latin typeface="Segoe UI"/>
              </a:rPr>
              <a:t>Update Equation</a:t>
            </a:r>
          </a:p>
        </p:txBody>
      </p:sp>
      <p:sp>
        <p:nvSpPr>
          <p:cNvPr id="37" name="TextBox 36"/>
          <p:cNvSpPr txBox="1"/>
          <p:nvPr/>
        </p:nvSpPr>
        <p:spPr>
          <a:xfrm>
            <a:off x="9514332" y="3246120"/>
            <a:ext cx="1792224" cy="1645920"/>
          </a:xfrm>
          <a:prstGeom prst="rect">
            <a:avLst/>
          </a:prstGeom>
          <a:noFill/>
        </p:spPr>
        <p:txBody>
          <a:bodyPr wrap="square">
            <a:spAutoFit/>
          </a:bodyPr>
          <a:lstStyle/>
          <a:p>
            <a:pPr algn="ctr"/>
            <a:r>
              <a:rPr sz="1100" b="0" i="0">
                <a:solidFill>
                  <a:srgbClr val="E0E4EE"/>
                </a:solidFill>
                <a:latin typeface="Segoe UI"/>
              </a:rPr>
              <a:t>The equation file is updated with the new batch counts, saved, and copied to the Display Equation/ folder.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1016"/>
            <a:ext cx="12188952"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640080"/>
          </a:xfrm>
          <a:prstGeom prst="rect">
            <a:avLst/>
          </a:prstGeom>
          <a:noFill/>
        </p:spPr>
        <p:txBody>
          <a:bodyPr wrap="square">
            <a:spAutoFit/>
          </a:bodyPr>
          <a:lstStyle/>
          <a:p>
            <a:pPr algn="l"/>
            <a:r>
              <a:rPr sz="2800" b="1" i="0">
                <a:solidFill>
                  <a:srgbClr val="FFFFFF"/>
                </a:solidFill>
                <a:latin typeface="Segoe UI"/>
              </a:rPr>
              <a:t>Output Structure</a:t>
            </a:r>
          </a:p>
        </p:txBody>
      </p:sp>
      <p:sp>
        <p:nvSpPr>
          <p:cNvPr id="5" name="TextBox 4"/>
          <p:cNvSpPr txBox="1"/>
          <p:nvPr/>
        </p:nvSpPr>
        <p:spPr>
          <a:xfrm>
            <a:off x="502920" y="749808"/>
            <a:ext cx="11155680" cy="365760"/>
          </a:xfrm>
          <a:prstGeom prst="rect">
            <a:avLst/>
          </a:prstGeom>
          <a:noFill/>
        </p:spPr>
        <p:txBody>
          <a:bodyPr wrap="square">
            <a:spAutoFit/>
          </a:bodyPr>
          <a:lstStyle/>
          <a:p>
            <a:pPr algn="l"/>
            <a:r>
              <a:rPr sz="1400" b="0" i="1">
                <a:solidFill>
                  <a:srgbClr val="F5A000"/>
                </a:solidFill>
                <a:latin typeface="Segoe UI"/>
              </a:rPr>
              <a:t>Everything you need, exactly where you expect it</a:t>
            </a:r>
          </a:p>
        </p:txBody>
      </p:sp>
      <p:sp>
        <p:nvSpPr>
          <p:cNvPr id="6" name="Rectangle 5"/>
          <p:cNvSpPr/>
          <p:nvPr/>
        </p:nvSpPr>
        <p:spPr>
          <a:xfrm>
            <a:off x="0" y="6565392"/>
            <a:ext cx="12188952" cy="292608"/>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spAutoFit/>
          </a:bodyPr>
          <a:lstStyle/>
          <a:p>
            <a:pPr algn="l"/>
            <a:r>
              <a:rPr sz="900" b="0" i="0">
                <a:solidFill>
                  <a:srgbClr val="F4F6FA"/>
                </a:solidFill>
                <a:latin typeface="Segoe UI"/>
              </a:rPr>
              <a:t>Amidel (Pty) Ltd  |  Beyond Technology  |  eTender Scraper</a:t>
            </a:r>
          </a:p>
        </p:txBody>
      </p:sp>
      <p:sp>
        <p:nvSpPr>
          <p:cNvPr id="8" name="TextBox 7"/>
          <p:cNvSpPr txBox="1"/>
          <p:nvPr/>
        </p:nvSpPr>
        <p:spPr>
          <a:xfrm>
            <a:off x="11430000" y="6574536"/>
            <a:ext cx="640080" cy="274320"/>
          </a:xfrm>
          <a:prstGeom prst="rect">
            <a:avLst/>
          </a:prstGeom>
          <a:noFill/>
        </p:spPr>
        <p:txBody>
          <a:bodyPr wrap="square">
            <a:spAutoFit/>
          </a:bodyPr>
          <a:lstStyle/>
          <a:p>
            <a:pPr algn="r"/>
            <a:r>
              <a:rPr sz="900" b="0" i="0">
                <a:solidFill>
                  <a:srgbClr val="F5A000"/>
                </a:solidFill>
                <a:latin typeface="Segoe UI"/>
              </a:rPr>
              <a:t>6 / 10</a:t>
            </a:r>
          </a:p>
        </p:txBody>
      </p:sp>
      <p:sp>
        <p:nvSpPr>
          <p:cNvPr id="9" name="Rectangle 8"/>
          <p:cNvSpPr/>
          <p:nvPr/>
        </p:nvSpPr>
        <p:spPr>
          <a:xfrm>
            <a:off x="457200" y="1600200"/>
            <a:ext cx="5120640" cy="4846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83080"/>
            <a:ext cx="4846320" cy="4572000"/>
          </a:xfrm>
          <a:prstGeom prst="rect">
            <a:avLst/>
          </a:prstGeom>
          <a:noFill/>
        </p:spPr>
        <p:txBody>
          <a:bodyPr wrap="square">
            <a:spAutoFit/>
          </a:bodyPr>
          <a:lstStyle/>
          <a:p>
            <a:pPr algn="l"/>
            <a:r>
              <a:rPr sz="1200" b="0" i="0">
                <a:solidFill>
                  <a:srgbClr val="C8D0E0"/>
                </a:solidFill>
                <a:latin typeface="Consolas"/>
              </a:rPr>
              <a:t>data/
└── (T) 19-21 May 2026/
    ├── batches/
    │   ├── tenders_2026_05_19.xlsx
    │   ├── tenders_2026_05_20.xlsx
    │   └── tenders_2026_05_21.xlsx
    ├── end product/
    │   └── RFQ_and_ICT_Checker
    │       _(19 - 21 May).xlsx
    ├── Display Equation/
    │   └── RFQ_and_ICT_Equation.xlsx
    └── Tender Summary.xlsx
logs/
└── scraper.log</a:t>
            </a:r>
          </a:p>
        </p:txBody>
      </p:sp>
      <p:sp>
        <p:nvSpPr>
          <p:cNvPr id="11" name="Rectangle 10"/>
          <p:cNvSpPr/>
          <p:nvPr/>
        </p:nvSpPr>
        <p:spPr>
          <a:xfrm>
            <a:off x="5989320" y="1600200"/>
            <a:ext cx="5833872" cy="859536"/>
          </a:xfrm>
          <a:prstGeom prst="rect">
            <a:avLst/>
          </a:prstGeom>
          <a:solidFill>
            <a:srgbClr val="F4F6FA"/>
          </a:solidFill>
          <a:ln w="6350">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89320" y="1600200"/>
            <a:ext cx="45720" cy="859536"/>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1655064"/>
            <a:ext cx="5650992" cy="320040"/>
          </a:xfrm>
          <a:prstGeom prst="rect">
            <a:avLst/>
          </a:prstGeom>
          <a:noFill/>
        </p:spPr>
        <p:txBody>
          <a:bodyPr wrap="square">
            <a:spAutoFit/>
          </a:bodyPr>
          <a:lstStyle/>
          <a:p>
            <a:pPr algn="l"/>
            <a:r>
              <a:rPr sz="1100" b="1" i="0">
                <a:solidFill>
                  <a:srgbClr val="1C3880"/>
                </a:solidFill>
                <a:latin typeface="Consolas"/>
              </a:rPr>
              <a:t>tenders_YYYY_MM_DD.xlsx</a:t>
            </a:r>
          </a:p>
        </p:txBody>
      </p:sp>
      <p:sp>
        <p:nvSpPr>
          <p:cNvPr id="14" name="TextBox 13"/>
          <p:cNvSpPr txBox="1"/>
          <p:nvPr/>
        </p:nvSpPr>
        <p:spPr>
          <a:xfrm>
            <a:off x="6126480" y="1965960"/>
            <a:ext cx="5650992" cy="457200"/>
          </a:xfrm>
          <a:prstGeom prst="rect">
            <a:avLst/>
          </a:prstGeom>
          <a:noFill/>
        </p:spPr>
        <p:txBody>
          <a:bodyPr wrap="square">
            <a:spAutoFit/>
          </a:bodyPr>
          <a:lstStyle/>
          <a:p>
            <a:pPr algn="l"/>
            <a:r>
              <a:rPr sz="1050" b="0" i="0">
                <a:solidFill>
                  <a:srgbClr val="333344"/>
                </a:solidFill>
                <a:latin typeface="Segoe UI"/>
              </a:rPr>
              <a:t>Raw tender data for a single day — one row per tender, all 23 columns, saved immediately after each day is scraped.</a:t>
            </a:r>
          </a:p>
        </p:txBody>
      </p:sp>
      <p:sp>
        <p:nvSpPr>
          <p:cNvPr id="15" name="Rectangle 14"/>
          <p:cNvSpPr/>
          <p:nvPr/>
        </p:nvSpPr>
        <p:spPr>
          <a:xfrm>
            <a:off x="5989320" y="2569464"/>
            <a:ext cx="5833872" cy="859536"/>
          </a:xfrm>
          <a:prstGeom prst="rect">
            <a:avLst/>
          </a:prstGeom>
          <a:solidFill>
            <a:srgbClr val="F4F6FA"/>
          </a:solidFill>
          <a:ln w="6350">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89320" y="2569464"/>
            <a:ext cx="45720" cy="859536"/>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2624328"/>
            <a:ext cx="5650992" cy="320040"/>
          </a:xfrm>
          <a:prstGeom prst="rect">
            <a:avLst/>
          </a:prstGeom>
          <a:noFill/>
        </p:spPr>
        <p:txBody>
          <a:bodyPr wrap="square">
            <a:spAutoFit/>
          </a:bodyPr>
          <a:lstStyle/>
          <a:p>
            <a:pPr algn="l"/>
            <a:r>
              <a:rPr sz="1100" b="1" i="0">
                <a:solidFill>
                  <a:srgbClr val="1C3880"/>
                </a:solidFill>
                <a:latin typeface="Consolas"/>
              </a:rPr>
              <a:t>RFQ_and_ICT_Checker_(DD - DD Month).xlsx</a:t>
            </a:r>
          </a:p>
        </p:txBody>
      </p:sp>
      <p:sp>
        <p:nvSpPr>
          <p:cNvPr id="18" name="TextBox 17"/>
          <p:cNvSpPr txBox="1"/>
          <p:nvPr/>
        </p:nvSpPr>
        <p:spPr>
          <a:xfrm>
            <a:off x="6126480" y="2935224"/>
            <a:ext cx="5650992" cy="457200"/>
          </a:xfrm>
          <a:prstGeom prst="rect">
            <a:avLst/>
          </a:prstGeom>
          <a:noFill/>
        </p:spPr>
        <p:txBody>
          <a:bodyPr wrap="square">
            <a:spAutoFit/>
          </a:bodyPr>
          <a:lstStyle/>
          <a:p>
            <a:pPr algn="l"/>
            <a:r>
              <a:rPr sz="1050" b="0" i="0">
                <a:solidFill>
                  <a:srgbClr val="333344"/>
                </a:solidFill>
                <a:latin typeface="Segoe UI"/>
              </a:rPr>
              <a:t>Combined workbook: Tender Data tab (all tenders) + Final tab (COUNTIF formulas matching the equation file's source list).</a:t>
            </a:r>
          </a:p>
        </p:txBody>
      </p:sp>
      <p:sp>
        <p:nvSpPr>
          <p:cNvPr id="19" name="Rectangle 18"/>
          <p:cNvSpPr/>
          <p:nvPr/>
        </p:nvSpPr>
        <p:spPr>
          <a:xfrm>
            <a:off x="5989320" y="3538728"/>
            <a:ext cx="5833872" cy="859536"/>
          </a:xfrm>
          <a:prstGeom prst="rect">
            <a:avLst/>
          </a:prstGeom>
          <a:solidFill>
            <a:srgbClr val="F4F6FA"/>
          </a:solidFill>
          <a:ln w="6350">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89320" y="3538728"/>
            <a:ext cx="45720" cy="859536"/>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3593592"/>
            <a:ext cx="5650992" cy="320040"/>
          </a:xfrm>
          <a:prstGeom prst="rect">
            <a:avLst/>
          </a:prstGeom>
          <a:noFill/>
        </p:spPr>
        <p:txBody>
          <a:bodyPr wrap="square">
            <a:spAutoFit/>
          </a:bodyPr>
          <a:lstStyle/>
          <a:p>
            <a:pPr algn="l"/>
            <a:r>
              <a:rPr sz="1100" b="1" i="0">
                <a:solidFill>
                  <a:srgbClr val="1C3880"/>
                </a:solidFill>
                <a:latin typeface="Consolas"/>
              </a:rPr>
              <a:t>Tender Summary.xlsx</a:t>
            </a:r>
          </a:p>
        </p:txBody>
      </p:sp>
      <p:sp>
        <p:nvSpPr>
          <p:cNvPr id="22" name="TextBox 21"/>
          <p:cNvSpPr txBox="1"/>
          <p:nvPr/>
        </p:nvSpPr>
        <p:spPr>
          <a:xfrm>
            <a:off x="6126480" y="3904488"/>
            <a:ext cx="5650992" cy="457200"/>
          </a:xfrm>
          <a:prstGeom prst="rect">
            <a:avLst/>
          </a:prstGeom>
          <a:noFill/>
        </p:spPr>
        <p:txBody>
          <a:bodyPr wrap="square">
            <a:spAutoFit/>
          </a:bodyPr>
          <a:lstStyle/>
          <a:p>
            <a:pPr algn="l"/>
            <a:r>
              <a:rPr sz="1050" b="0" i="0">
                <a:solidFill>
                  <a:srgbClr val="333344"/>
                </a:solidFill>
                <a:latin typeface="Segoe UI"/>
              </a:rPr>
              <a:t>One tab per tracked department that has any tenders. RFQs sort to the top; all other types sorted by closing date below.</a:t>
            </a:r>
          </a:p>
        </p:txBody>
      </p:sp>
      <p:sp>
        <p:nvSpPr>
          <p:cNvPr id="23" name="Rectangle 22"/>
          <p:cNvSpPr/>
          <p:nvPr/>
        </p:nvSpPr>
        <p:spPr>
          <a:xfrm>
            <a:off x="5989320" y="4507992"/>
            <a:ext cx="5833872" cy="859536"/>
          </a:xfrm>
          <a:prstGeom prst="rect">
            <a:avLst/>
          </a:prstGeom>
          <a:solidFill>
            <a:srgbClr val="F4F6FA"/>
          </a:solidFill>
          <a:ln w="6350">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89320" y="4507992"/>
            <a:ext cx="45720" cy="859536"/>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0" y="4562856"/>
            <a:ext cx="5650992" cy="320040"/>
          </a:xfrm>
          <a:prstGeom prst="rect">
            <a:avLst/>
          </a:prstGeom>
          <a:noFill/>
        </p:spPr>
        <p:txBody>
          <a:bodyPr wrap="square">
            <a:spAutoFit/>
          </a:bodyPr>
          <a:lstStyle/>
          <a:p>
            <a:pPr algn="l"/>
            <a:r>
              <a:rPr sz="1100" b="1" i="0">
                <a:solidFill>
                  <a:srgbClr val="1C3880"/>
                </a:solidFill>
                <a:latin typeface="Consolas"/>
              </a:rPr>
              <a:t>RFQ_and_ICT_Equation.xlsx  [Display Equation/]</a:t>
            </a:r>
          </a:p>
        </p:txBody>
      </p:sp>
      <p:sp>
        <p:nvSpPr>
          <p:cNvPr id="26" name="TextBox 25"/>
          <p:cNvSpPr txBox="1"/>
          <p:nvPr/>
        </p:nvSpPr>
        <p:spPr>
          <a:xfrm>
            <a:off x="6126480" y="4873752"/>
            <a:ext cx="5650992" cy="457200"/>
          </a:xfrm>
          <a:prstGeom prst="rect">
            <a:avLst/>
          </a:prstGeom>
          <a:noFill/>
        </p:spPr>
        <p:txBody>
          <a:bodyPr wrap="square">
            <a:spAutoFit/>
          </a:bodyPr>
          <a:lstStyle/>
          <a:p>
            <a:pPr algn="l"/>
            <a:r>
              <a:rPr sz="1050" b="0" i="0">
                <a:solidFill>
                  <a:srgbClr val="333344"/>
                </a:solidFill>
                <a:latin typeface="Segoe UI"/>
              </a:rPr>
              <a:t>Rolling tracker of NNT / ICT / RFQ counts per source. Newest batch always at column B; maximum 6 batches retained.</a:t>
            </a:r>
          </a:p>
        </p:txBody>
      </p:sp>
      <p:sp>
        <p:nvSpPr>
          <p:cNvPr id="27" name="Rectangle 26"/>
          <p:cNvSpPr/>
          <p:nvPr/>
        </p:nvSpPr>
        <p:spPr>
          <a:xfrm>
            <a:off x="5989320" y="5477256"/>
            <a:ext cx="5833872" cy="859536"/>
          </a:xfrm>
          <a:prstGeom prst="rect">
            <a:avLst/>
          </a:prstGeom>
          <a:solidFill>
            <a:srgbClr val="F4F6FA"/>
          </a:solidFill>
          <a:ln w="6350">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89320" y="5477256"/>
            <a:ext cx="45720" cy="859536"/>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5532120"/>
            <a:ext cx="5650992" cy="320040"/>
          </a:xfrm>
          <a:prstGeom prst="rect">
            <a:avLst/>
          </a:prstGeom>
          <a:noFill/>
        </p:spPr>
        <p:txBody>
          <a:bodyPr wrap="square">
            <a:spAutoFit/>
          </a:bodyPr>
          <a:lstStyle/>
          <a:p>
            <a:pPr algn="l"/>
            <a:r>
              <a:rPr sz="1100" b="1" i="0">
                <a:solidFill>
                  <a:srgbClr val="1C3880"/>
                </a:solidFill>
                <a:latin typeface="Consolas"/>
              </a:rPr>
              <a:t>scraper.log</a:t>
            </a:r>
          </a:p>
        </p:txBody>
      </p:sp>
      <p:sp>
        <p:nvSpPr>
          <p:cNvPr id="30" name="TextBox 29"/>
          <p:cNvSpPr txBox="1"/>
          <p:nvPr/>
        </p:nvSpPr>
        <p:spPr>
          <a:xfrm>
            <a:off x="6126480" y="5843016"/>
            <a:ext cx="5650992" cy="457200"/>
          </a:xfrm>
          <a:prstGeom prst="rect">
            <a:avLst/>
          </a:prstGeom>
          <a:noFill/>
        </p:spPr>
        <p:txBody>
          <a:bodyPr wrap="square">
            <a:spAutoFit/>
          </a:bodyPr>
          <a:lstStyle/>
          <a:p>
            <a:pPr algn="l"/>
            <a:r>
              <a:rPr sz="1050" b="0" i="0">
                <a:solidFill>
                  <a:srgbClr val="333344"/>
                </a:solidFill>
                <a:latin typeface="Segoe UI"/>
              </a:rPr>
              <a:t>Full structured log of every run — useful for diagnosing 0-tender results or network / ChromeDriver failures.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1016"/>
            <a:ext cx="12188952"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640080"/>
          </a:xfrm>
          <a:prstGeom prst="rect">
            <a:avLst/>
          </a:prstGeom>
          <a:noFill/>
        </p:spPr>
        <p:txBody>
          <a:bodyPr wrap="square">
            <a:spAutoFit/>
          </a:bodyPr>
          <a:lstStyle/>
          <a:p>
            <a:pPr algn="l"/>
            <a:r>
              <a:rPr sz="2800" b="1" i="0">
                <a:solidFill>
                  <a:srgbClr val="FFFFFF"/>
                </a:solidFill>
                <a:latin typeface="Segoe UI"/>
              </a:rPr>
              <a:t>Data Captured</a:t>
            </a:r>
          </a:p>
        </p:txBody>
      </p:sp>
      <p:sp>
        <p:nvSpPr>
          <p:cNvPr id="5" name="TextBox 4"/>
          <p:cNvSpPr txBox="1"/>
          <p:nvPr/>
        </p:nvSpPr>
        <p:spPr>
          <a:xfrm>
            <a:off x="502920" y="749808"/>
            <a:ext cx="11155680" cy="365760"/>
          </a:xfrm>
          <a:prstGeom prst="rect">
            <a:avLst/>
          </a:prstGeom>
          <a:noFill/>
        </p:spPr>
        <p:txBody>
          <a:bodyPr wrap="square">
            <a:spAutoFit/>
          </a:bodyPr>
          <a:lstStyle/>
          <a:p>
            <a:pPr algn="l"/>
            <a:r>
              <a:rPr sz="1400" b="0" i="1">
                <a:solidFill>
                  <a:srgbClr val="F5A000"/>
                </a:solidFill>
                <a:latin typeface="Segoe UI"/>
              </a:rPr>
              <a:t>23 fields extracted per tender</a:t>
            </a:r>
          </a:p>
        </p:txBody>
      </p:sp>
      <p:sp>
        <p:nvSpPr>
          <p:cNvPr id="6" name="Rectangle 5"/>
          <p:cNvSpPr/>
          <p:nvPr/>
        </p:nvSpPr>
        <p:spPr>
          <a:xfrm>
            <a:off x="0" y="6565392"/>
            <a:ext cx="12188952" cy="292608"/>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spAutoFit/>
          </a:bodyPr>
          <a:lstStyle/>
          <a:p>
            <a:pPr algn="l"/>
            <a:r>
              <a:rPr sz="900" b="0" i="0">
                <a:solidFill>
                  <a:srgbClr val="F4F6FA"/>
                </a:solidFill>
                <a:latin typeface="Segoe UI"/>
              </a:rPr>
              <a:t>Amidel (Pty) Ltd  |  Beyond Technology  |  eTender Scraper</a:t>
            </a:r>
          </a:p>
        </p:txBody>
      </p:sp>
      <p:sp>
        <p:nvSpPr>
          <p:cNvPr id="8" name="TextBox 7"/>
          <p:cNvSpPr txBox="1"/>
          <p:nvPr/>
        </p:nvSpPr>
        <p:spPr>
          <a:xfrm>
            <a:off x="11430000" y="6574536"/>
            <a:ext cx="640080" cy="274320"/>
          </a:xfrm>
          <a:prstGeom prst="rect">
            <a:avLst/>
          </a:prstGeom>
          <a:noFill/>
        </p:spPr>
        <p:txBody>
          <a:bodyPr wrap="square">
            <a:spAutoFit/>
          </a:bodyPr>
          <a:lstStyle/>
          <a:p>
            <a:pPr algn="r"/>
            <a:r>
              <a:rPr sz="900" b="0" i="0">
                <a:solidFill>
                  <a:srgbClr val="F5A000"/>
                </a:solidFill>
                <a:latin typeface="Segoe UI"/>
              </a:rPr>
              <a:t>7 / 10</a:t>
            </a:r>
          </a:p>
        </p:txBody>
      </p:sp>
      <p:sp>
        <p:nvSpPr>
          <p:cNvPr id="9" name="Rectangle 8"/>
          <p:cNvSpPr/>
          <p:nvPr/>
        </p:nvSpPr>
        <p:spPr>
          <a:xfrm>
            <a:off x="411480" y="153619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36192"/>
            <a:ext cx="2194560" cy="219456"/>
          </a:xfrm>
          <a:prstGeom prst="rect">
            <a:avLst/>
          </a:prstGeom>
          <a:noFill/>
        </p:spPr>
        <p:txBody>
          <a:bodyPr wrap="square">
            <a:spAutoFit/>
          </a:bodyPr>
          <a:lstStyle/>
          <a:p>
            <a:pPr algn="l"/>
            <a:r>
              <a:rPr sz="900" b="1" i="0">
                <a:solidFill>
                  <a:srgbClr val="FFFFFF"/>
                </a:solidFill>
                <a:latin typeface="Consolas"/>
              </a:rPr>
              <a:t>REPORT_DATE</a:t>
            </a:r>
          </a:p>
        </p:txBody>
      </p:sp>
      <p:sp>
        <p:nvSpPr>
          <p:cNvPr id="11" name="TextBox 10"/>
          <p:cNvSpPr txBox="1"/>
          <p:nvPr/>
        </p:nvSpPr>
        <p:spPr>
          <a:xfrm>
            <a:off x="2788920" y="1536192"/>
            <a:ext cx="2788920" cy="219456"/>
          </a:xfrm>
          <a:prstGeom prst="rect">
            <a:avLst/>
          </a:prstGeom>
          <a:noFill/>
        </p:spPr>
        <p:txBody>
          <a:bodyPr wrap="square">
            <a:spAutoFit/>
          </a:bodyPr>
          <a:lstStyle/>
          <a:p>
            <a:pPr algn="l"/>
            <a:r>
              <a:rPr sz="950" b="0" i="0">
                <a:solidFill>
                  <a:srgbClr val="333344"/>
                </a:solidFill>
                <a:latin typeface="Segoe UI"/>
              </a:rPr>
              <a:t>Date the scraper was run</a:t>
            </a:r>
          </a:p>
        </p:txBody>
      </p:sp>
      <p:sp>
        <p:nvSpPr>
          <p:cNvPr id="12" name="Rectangle 11"/>
          <p:cNvSpPr/>
          <p:nvPr/>
        </p:nvSpPr>
        <p:spPr>
          <a:xfrm>
            <a:off x="411480" y="181051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10512"/>
            <a:ext cx="2194560" cy="219456"/>
          </a:xfrm>
          <a:prstGeom prst="rect">
            <a:avLst/>
          </a:prstGeom>
          <a:noFill/>
        </p:spPr>
        <p:txBody>
          <a:bodyPr wrap="square">
            <a:spAutoFit/>
          </a:bodyPr>
          <a:lstStyle/>
          <a:p>
            <a:pPr algn="l"/>
            <a:r>
              <a:rPr sz="900" b="1" i="0">
                <a:solidFill>
                  <a:srgbClr val="FFFFFF"/>
                </a:solidFill>
                <a:latin typeface="Consolas"/>
              </a:rPr>
              <a:t>RECORD_ID</a:t>
            </a:r>
          </a:p>
        </p:txBody>
      </p:sp>
      <p:sp>
        <p:nvSpPr>
          <p:cNvPr id="14" name="TextBox 13"/>
          <p:cNvSpPr txBox="1"/>
          <p:nvPr/>
        </p:nvSpPr>
        <p:spPr>
          <a:xfrm>
            <a:off x="2788920" y="1810512"/>
            <a:ext cx="2788920" cy="219456"/>
          </a:xfrm>
          <a:prstGeom prst="rect">
            <a:avLst/>
          </a:prstGeom>
          <a:noFill/>
        </p:spPr>
        <p:txBody>
          <a:bodyPr wrap="square">
            <a:spAutoFit/>
          </a:bodyPr>
          <a:lstStyle/>
          <a:p>
            <a:pPr algn="l"/>
            <a:r>
              <a:rPr sz="950" b="0" i="0">
                <a:solidFill>
                  <a:srgbClr val="333344"/>
                </a:solidFill>
                <a:latin typeface="Segoe UI"/>
              </a:rPr>
              <a:t>Auto-assigned ID (highest = first scraped)</a:t>
            </a:r>
          </a:p>
        </p:txBody>
      </p:sp>
      <p:sp>
        <p:nvSpPr>
          <p:cNvPr id="15" name="Rectangle 14"/>
          <p:cNvSpPr/>
          <p:nvPr/>
        </p:nvSpPr>
        <p:spPr>
          <a:xfrm>
            <a:off x="411480" y="208483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084832"/>
            <a:ext cx="2194560" cy="219456"/>
          </a:xfrm>
          <a:prstGeom prst="rect">
            <a:avLst/>
          </a:prstGeom>
          <a:noFill/>
        </p:spPr>
        <p:txBody>
          <a:bodyPr wrap="square">
            <a:spAutoFit/>
          </a:bodyPr>
          <a:lstStyle/>
          <a:p>
            <a:pPr algn="l"/>
            <a:r>
              <a:rPr sz="900" b="1" i="0">
                <a:solidFill>
                  <a:srgbClr val="FFFFFF"/>
                </a:solidFill>
                <a:latin typeface="Consolas"/>
              </a:rPr>
              <a:t>TENDER_ID</a:t>
            </a:r>
          </a:p>
        </p:txBody>
      </p:sp>
      <p:sp>
        <p:nvSpPr>
          <p:cNvPr id="17" name="TextBox 16"/>
          <p:cNvSpPr txBox="1"/>
          <p:nvPr/>
        </p:nvSpPr>
        <p:spPr>
          <a:xfrm>
            <a:off x="2788920" y="2084832"/>
            <a:ext cx="2788920" cy="219456"/>
          </a:xfrm>
          <a:prstGeom prst="rect">
            <a:avLst/>
          </a:prstGeom>
          <a:noFill/>
        </p:spPr>
        <p:txBody>
          <a:bodyPr wrap="square">
            <a:spAutoFit/>
          </a:bodyPr>
          <a:lstStyle/>
          <a:p>
            <a:pPr algn="l"/>
            <a:r>
              <a:rPr sz="950" b="0" i="0">
                <a:solidFill>
                  <a:srgbClr val="333344"/>
                </a:solidFill>
                <a:latin typeface="Segoe UI"/>
              </a:rPr>
              <a:t>Official tender number</a:t>
            </a:r>
          </a:p>
        </p:txBody>
      </p:sp>
      <p:sp>
        <p:nvSpPr>
          <p:cNvPr id="18" name="Rectangle 17"/>
          <p:cNvSpPr/>
          <p:nvPr/>
        </p:nvSpPr>
        <p:spPr>
          <a:xfrm>
            <a:off x="411480" y="235915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359152"/>
            <a:ext cx="2194560" cy="219456"/>
          </a:xfrm>
          <a:prstGeom prst="rect">
            <a:avLst/>
          </a:prstGeom>
          <a:noFill/>
        </p:spPr>
        <p:txBody>
          <a:bodyPr wrap="square">
            <a:spAutoFit/>
          </a:bodyPr>
          <a:lstStyle/>
          <a:p>
            <a:pPr algn="l"/>
            <a:r>
              <a:rPr sz="900" b="1" i="0">
                <a:solidFill>
                  <a:srgbClr val="FFFFFF"/>
                </a:solidFill>
                <a:latin typeface="Consolas"/>
              </a:rPr>
              <a:t>PUBLICATION_DATE</a:t>
            </a:r>
          </a:p>
        </p:txBody>
      </p:sp>
      <p:sp>
        <p:nvSpPr>
          <p:cNvPr id="20" name="TextBox 19"/>
          <p:cNvSpPr txBox="1"/>
          <p:nvPr/>
        </p:nvSpPr>
        <p:spPr>
          <a:xfrm>
            <a:off x="2788920" y="2359152"/>
            <a:ext cx="2788920" cy="219456"/>
          </a:xfrm>
          <a:prstGeom prst="rect">
            <a:avLst/>
          </a:prstGeom>
          <a:noFill/>
        </p:spPr>
        <p:txBody>
          <a:bodyPr wrap="square">
            <a:spAutoFit/>
          </a:bodyPr>
          <a:lstStyle/>
          <a:p>
            <a:pPr algn="l"/>
            <a:r>
              <a:rPr sz="950" b="0" i="0">
                <a:solidFill>
                  <a:srgbClr val="333344"/>
                </a:solidFill>
                <a:latin typeface="Segoe UI"/>
              </a:rPr>
              <a:t>When the tender was published</a:t>
            </a:r>
          </a:p>
        </p:txBody>
      </p:sp>
      <p:sp>
        <p:nvSpPr>
          <p:cNvPr id="21" name="Rectangle 20"/>
          <p:cNvSpPr/>
          <p:nvPr/>
        </p:nvSpPr>
        <p:spPr>
          <a:xfrm>
            <a:off x="411480" y="263347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633472"/>
            <a:ext cx="2194560" cy="219456"/>
          </a:xfrm>
          <a:prstGeom prst="rect">
            <a:avLst/>
          </a:prstGeom>
          <a:noFill/>
        </p:spPr>
        <p:txBody>
          <a:bodyPr wrap="square">
            <a:spAutoFit/>
          </a:bodyPr>
          <a:lstStyle/>
          <a:p>
            <a:pPr algn="l"/>
            <a:r>
              <a:rPr sz="900" b="1" i="0">
                <a:solidFill>
                  <a:srgbClr val="FFFFFF"/>
                </a:solidFill>
                <a:latin typeface="Consolas"/>
              </a:rPr>
              <a:t>CLOSING_DATE / TIME</a:t>
            </a:r>
          </a:p>
        </p:txBody>
      </p:sp>
      <p:sp>
        <p:nvSpPr>
          <p:cNvPr id="23" name="TextBox 22"/>
          <p:cNvSpPr txBox="1"/>
          <p:nvPr/>
        </p:nvSpPr>
        <p:spPr>
          <a:xfrm>
            <a:off x="2788920" y="2633472"/>
            <a:ext cx="2788920" cy="219456"/>
          </a:xfrm>
          <a:prstGeom prst="rect">
            <a:avLst/>
          </a:prstGeom>
          <a:noFill/>
        </p:spPr>
        <p:txBody>
          <a:bodyPr wrap="square">
            <a:spAutoFit/>
          </a:bodyPr>
          <a:lstStyle/>
          <a:p>
            <a:pPr algn="l"/>
            <a:r>
              <a:rPr sz="950" b="0" i="0">
                <a:solidFill>
                  <a:srgbClr val="333344"/>
                </a:solidFill>
                <a:latin typeface="Segoe UI"/>
              </a:rPr>
              <a:t>Submission deadline</a:t>
            </a:r>
          </a:p>
        </p:txBody>
      </p:sp>
      <p:sp>
        <p:nvSpPr>
          <p:cNvPr id="24" name="Rectangle 23"/>
          <p:cNvSpPr/>
          <p:nvPr/>
        </p:nvSpPr>
        <p:spPr>
          <a:xfrm>
            <a:off x="411480" y="290779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907792"/>
            <a:ext cx="2194560" cy="219456"/>
          </a:xfrm>
          <a:prstGeom prst="rect">
            <a:avLst/>
          </a:prstGeom>
          <a:noFill/>
        </p:spPr>
        <p:txBody>
          <a:bodyPr wrap="square">
            <a:spAutoFit/>
          </a:bodyPr>
          <a:lstStyle/>
          <a:p>
            <a:pPr algn="l"/>
            <a:r>
              <a:rPr sz="900" b="1" i="0">
                <a:solidFill>
                  <a:srgbClr val="FFFFFF"/>
                </a:solidFill>
                <a:latin typeface="Consolas"/>
              </a:rPr>
              <a:t>TENDER_TYPE</a:t>
            </a:r>
          </a:p>
        </p:txBody>
      </p:sp>
      <p:sp>
        <p:nvSpPr>
          <p:cNvPr id="26" name="TextBox 25"/>
          <p:cNvSpPr txBox="1"/>
          <p:nvPr/>
        </p:nvSpPr>
        <p:spPr>
          <a:xfrm>
            <a:off x="2788920" y="2907792"/>
            <a:ext cx="2788920" cy="219456"/>
          </a:xfrm>
          <a:prstGeom prst="rect">
            <a:avLst/>
          </a:prstGeom>
          <a:noFill/>
        </p:spPr>
        <p:txBody>
          <a:bodyPr wrap="square">
            <a:spAutoFit/>
          </a:bodyPr>
          <a:lstStyle/>
          <a:p>
            <a:pPr algn="l"/>
            <a:r>
              <a:rPr sz="950" b="0" i="0">
                <a:solidFill>
                  <a:srgbClr val="333344"/>
                </a:solidFill>
                <a:latin typeface="Segoe UI"/>
              </a:rPr>
              <a:t>e.g. RFQ, Open Tender, etc.</a:t>
            </a:r>
          </a:p>
        </p:txBody>
      </p:sp>
      <p:sp>
        <p:nvSpPr>
          <p:cNvPr id="27" name="Rectangle 26"/>
          <p:cNvSpPr/>
          <p:nvPr/>
        </p:nvSpPr>
        <p:spPr>
          <a:xfrm>
            <a:off x="411480" y="318211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182112"/>
            <a:ext cx="2194560" cy="219456"/>
          </a:xfrm>
          <a:prstGeom prst="rect">
            <a:avLst/>
          </a:prstGeom>
          <a:noFill/>
        </p:spPr>
        <p:txBody>
          <a:bodyPr wrap="square">
            <a:spAutoFit/>
          </a:bodyPr>
          <a:lstStyle/>
          <a:p>
            <a:pPr algn="l"/>
            <a:r>
              <a:rPr sz="900" b="1" i="0">
                <a:solidFill>
                  <a:srgbClr val="FFFFFF"/>
                </a:solidFill>
                <a:latin typeface="Consolas"/>
              </a:rPr>
              <a:t>TENDER_DESCRIPTION</a:t>
            </a:r>
          </a:p>
        </p:txBody>
      </p:sp>
      <p:sp>
        <p:nvSpPr>
          <p:cNvPr id="29" name="TextBox 28"/>
          <p:cNvSpPr txBox="1"/>
          <p:nvPr/>
        </p:nvSpPr>
        <p:spPr>
          <a:xfrm>
            <a:off x="2788920" y="3182112"/>
            <a:ext cx="2788920" cy="219456"/>
          </a:xfrm>
          <a:prstGeom prst="rect">
            <a:avLst/>
          </a:prstGeom>
          <a:noFill/>
        </p:spPr>
        <p:txBody>
          <a:bodyPr wrap="square">
            <a:spAutoFit/>
          </a:bodyPr>
          <a:lstStyle/>
          <a:p>
            <a:pPr algn="l"/>
            <a:r>
              <a:rPr sz="950" b="0" i="0">
                <a:solidFill>
                  <a:srgbClr val="333344"/>
                </a:solidFill>
                <a:latin typeface="Segoe UI"/>
              </a:rPr>
              <a:t>Full tender title / description</a:t>
            </a:r>
          </a:p>
        </p:txBody>
      </p:sp>
      <p:sp>
        <p:nvSpPr>
          <p:cNvPr id="30" name="Rectangle 29"/>
          <p:cNvSpPr/>
          <p:nvPr/>
        </p:nvSpPr>
        <p:spPr>
          <a:xfrm>
            <a:off x="411480" y="345643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456432"/>
            <a:ext cx="2194560" cy="219456"/>
          </a:xfrm>
          <a:prstGeom prst="rect">
            <a:avLst/>
          </a:prstGeom>
          <a:noFill/>
        </p:spPr>
        <p:txBody>
          <a:bodyPr wrap="square">
            <a:spAutoFit/>
          </a:bodyPr>
          <a:lstStyle/>
          <a:p>
            <a:pPr algn="l"/>
            <a:r>
              <a:rPr sz="900" b="1" i="0">
                <a:solidFill>
                  <a:srgbClr val="FFFFFF"/>
                </a:solidFill>
                <a:latin typeface="Consolas"/>
              </a:rPr>
              <a:t>TENDER_SOURCE</a:t>
            </a:r>
          </a:p>
        </p:txBody>
      </p:sp>
      <p:sp>
        <p:nvSpPr>
          <p:cNvPr id="32" name="TextBox 31"/>
          <p:cNvSpPr txBox="1"/>
          <p:nvPr/>
        </p:nvSpPr>
        <p:spPr>
          <a:xfrm>
            <a:off x="2788920" y="3456432"/>
            <a:ext cx="2788920" cy="219456"/>
          </a:xfrm>
          <a:prstGeom prst="rect">
            <a:avLst/>
          </a:prstGeom>
          <a:noFill/>
        </p:spPr>
        <p:txBody>
          <a:bodyPr wrap="square">
            <a:spAutoFit/>
          </a:bodyPr>
          <a:lstStyle/>
          <a:p>
            <a:pPr algn="l"/>
            <a:r>
              <a:rPr sz="950" b="0" i="0">
                <a:solidFill>
                  <a:srgbClr val="333344"/>
                </a:solidFill>
                <a:latin typeface="Segoe UI"/>
              </a:rPr>
              <a:t>Always ETENDERS.GOV.ZA</a:t>
            </a:r>
          </a:p>
        </p:txBody>
      </p:sp>
      <p:sp>
        <p:nvSpPr>
          <p:cNvPr id="33" name="Rectangle 32"/>
          <p:cNvSpPr/>
          <p:nvPr/>
        </p:nvSpPr>
        <p:spPr>
          <a:xfrm>
            <a:off x="411480" y="373075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730752"/>
            <a:ext cx="2194560" cy="219456"/>
          </a:xfrm>
          <a:prstGeom prst="rect">
            <a:avLst/>
          </a:prstGeom>
          <a:noFill/>
        </p:spPr>
        <p:txBody>
          <a:bodyPr wrap="square">
            <a:spAutoFit/>
          </a:bodyPr>
          <a:lstStyle/>
          <a:p>
            <a:pPr algn="l"/>
            <a:r>
              <a:rPr sz="900" b="1" i="0">
                <a:solidFill>
                  <a:srgbClr val="FFFFFF"/>
                </a:solidFill>
                <a:latin typeface="Consolas"/>
              </a:rPr>
              <a:t>DEPARTMENT</a:t>
            </a:r>
          </a:p>
        </p:txBody>
      </p:sp>
      <p:sp>
        <p:nvSpPr>
          <p:cNvPr id="35" name="TextBox 34"/>
          <p:cNvSpPr txBox="1"/>
          <p:nvPr/>
        </p:nvSpPr>
        <p:spPr>
          <a:xfrm>
            <a:off x="2788920" y="3730752"/>
            <a:ext cx="2788920" cy="219456"/>
          </a:xfrm>
          <a:prstGeom prst="rect">
            <a:avLst/>
          </a:prstGeom>
          <a:noFill/>
        </p:spPr>
        <p:txBody>
          <a:bodyPr wrap="square">
            <a:spAutoFit/>
          </a:bodyPr>
          <a:lstStyle/>
          <a:p>
            <a:pPr algn="l"/>
            <a:r>
              <a:rPr sz="950" b="0" i="0">
                <a:solidFill>
                  <a:srgbClr val="333344"/>
                </a:solidFill>
                <a:latin typeface="Segoe UI"/>
              </a:rPr>
              <a:t>Organ of state advertising the tender</a:t>
            </a:r>
          </a:p>
        </p:txBody>
      </p:sp>
      <p:sp>
        <p:nvSpPr>
          <p:cNvPr id="36" name="Rectangle 35"/>
          <p:cNvSpPr/>
          <p:nvPr/>
        </p:nvSpPr>
        <p:spPr>
          <a:xfrm>
            <a:off x="411480" y="400507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005072"/>
            <a:ext cx="2194560" cy="219456"/>
          </a:xfrm>
          <a:prstGeom prst="rect">
            <a:avLst/>
          </a:prstGeom>
          <a:noFill/>
        </p:spPr>
        <p:txBody>
          <a:bodyPr wrap="square">
            <a:spAutoFit/>
          </a:bodyPr>
          <a:lstStyle/>
          <a:p>
            <a:pPr algn="l"/>
            <a:r>
              <a:rPr sz="900" b="1" i="0">
                <a:solidFill>
                  <a:srgbClr val="FFFFFF"/>
                </a:solidFill>
                <a:latin typeface="Consolas"/>
              </a:rPr>
              <a:t>PROVINCE</a:t>
            </a:r>
          </a:p>
        </p:txBody>
      </p:sp>
      <p:sp>
        <p:nvSpPr>
          <p:cNvPr id="38" name="TextBox 37"/>
          <p:cNvSpPr txBox="1"/>
          <p:nvPr/>
        </p:nvSpPr>
        <p:spPr>
          <a:xfrm>
            <a:off x="2788920" y="4005072"/>
            <a:ext cx="2788920" cy="219456"/>
          </a:xfrm>
          <a:prstGeom prst="rect">
            <a:avLst/>
          </a:prstGeom>
          <a:noFill/>
        </p:spPr>
        <p:txBody>
          <a:bodyPr wrap="square">
            <a:spAutoFit/>
          </a:bodyPr>
          <a:lstStyle/>
          <a:p>
            <a:pPr algn="l"/>
            <a:r>
              <a:rPr sz="950" b="0" i="0">
                <a:solidFill>
                  <a:srgbClr val="333344"/>
                </a:solidFill>
                <a:latin typeface="Segoe UI"/>
              </a:rPr>
              <a:t>Province of the department</a:t>
            </a:r>
          </a:p>
        </p:txBody>
      </p:sp>
      <p:sp>
        <p:nvSpPr>
          <p:cNvPr id="39" name="Rectangle 38"/>
          <p:cNvSpPr/>
          <p:nvPr/>
        </p:nvSpPr>
        <p:spPr>
          <a:xfrm>
            <a:off x="6126480" y="153619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72200" y="1536192"/>
            <a:ext cx="2194560" cy="219456"/>
          </a:xfrm>
          <a:prstGeom prst="rect">
            <a:avLst/>
          </a:prstGeom>
          <a:noFill/>
        </p:spPr>
        <p:txBody>
          <a:bodyPr wrap="square">
            <a:spAutoFit/>
          </a:bodyPr>
          <a:lstStyle/>
          <a:p>
            <a:pPr algn="l"/>
            <a:r>
              <a:rPr sz="900" b="1" i="0">
                <a:solidFill>
                  <a:srgbClr val="FFFFFF"/>
                </a:solidFill>
                <a:latin typeface="Consolas"/>
              </a:rPr>
              <a:t>ESUBMISSION</a:t>
            </a:r>
          </a:p>
        </p:txBody>
      </p:sp>
      <p:sp>
        <p:nvSpPr>
          <p:cNvPr id="41" name="TextBox 40"/>
          <p:cNvSpPr txBox="1"/>
          <p:nvPr/>
        </p:nvSpPr>
        <p:spPr>
          <a:xfrm>
            <a:off x="8503920" y="1536192"/>
            <a:ext cx="2788920" cy="219456"/>
          </a:xfrm>
          <a:prstGeom prst="rect">
            <a:avLst/>
          </a:prstGeom>
          <a:noFill/>
        </p:spPr>
        <p:txBody>
          <a:bodyPr wrap="square">
            <a:spAutoFit/>
          </a:bodyPr>
          <a:lstStyle/>
          <a:p>
            <a:pPr algn="l"/>
            <a:r>
              <a:rPr sz="950" b="0" i="0">
                <a:solidFill>
                  <a:srgbClr val="333344"/>
                </a:solidFill>
                <a:latin typeface="Segoe UI"/>
              </a:rPr>
              <a:t>Whether e-submission is available</a:t>
            </a:r>
          </a:p>
        </p:txBody>
      </p:sp>
      <p:sp>
        <p:nvSpPr>
          <p:cNvPr id="42" name="Rectangle 41"/>
          <p:cNvSpPr/>
          <p:nvPr/>
        </p:nvSpPr>
        <p:spPr>
          <a:xfrm>
            <a:off x="6126480" y="181051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72200" y="1810512"/>
            <a:ext cx="2194560" cy="219456"/>
          </a:xfrm>
          <a:prstGeom prst="rect">
            <a:avLst/>
          </a:prstGeom>
          <a:noFill/>
        </p:spPr>
        <p:txBody>
          <a:bodyPr wrap="square">
            <a:spAutoFit/>
          </a:bodyPr>
          <a:lstStyle/>
          <a:p>
            <a:pPr algn="l"/>
            <a:r>
              <a:rPr sz="900" b="1" i="0">
                <a:solidFill>
                  <a:srgbClr val="FFFFFF"/>
                </a:solidFill>
                <a:latin typeface="Consolas"/>
              </a:rPr>
              <a:t>CATEGORY</a:t>
            </a:r>
          </a:p>
        </p:txBody>
      </p:sp>
      <p:sp>
        <p:nvSpPr>
          <p:cNvPr id="44" name="TextBox 43"/>
          <p:cNvSpPr txBox="1"/>
          <p:nvPr/>
        </p:nvSpPr>
        <p:spPr>
          <a:xfrm>
            <a:off x="8503920" y="1810512"/>
            <a:ext cx="2788920" cy="219456"/>
          </a:xfrm>
          <a:prstGeom prst="rect">
            <a:avLst/>
          </a:prstGeom>
          <a:noFill/>
        </p:spPr>
        <p:txBody>
          <a:bodyPr wrap="square">
            <a:spAutoFit/>
          </a:bodyPr>
          <a:lstStyle/>
          <a:p>
            <a:pPr algn="l"/>
            <a:r>
              <a:rPr sz="950" b="0" i="0">
                <a:solidFill>
                  <a:srgbClr val="333344"/>
                </a:solidFill>
                <a:latin typeface="Segoe UI"/>
              </a:rPr>
              <a:t>Tender category (e.g. ICT, Construction)</a:t>
            </a:r>
          </a:p>
        </p:txBody>
      </p:sp>
      <p:sp>
        <p:nvSpPr>
          <p:cNvPr id="45" name="Rectangle 44"/>
          <p:cNvSpPr/>
          <p:nvPr/>
        </p:nvSpPr>
        <p:spPr>
          <a:xfrm>
            <a:off x="6126480" y="208483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72200" y="2084832"/>
            <a:ext cx="2194560" cy="219456"/>
          </a:xfrm>
          <a:prstGeom prst="rect">
            <a:avLst/>
          </a:prstGeom>
          <a:noFill/>
        </p:spPr>
        <p:txBody>
          <a:bodyPr wrap="square">
            <a:spAutoFit/>
          </a:bodyPr>
          <a:lstStyle/>
          <a:p>
            <a:pPr algn="l"/>
            <a:r>
              <a:rPr sz="900" b="1" i="0">
                <a:solidFill>
                  <a:srgbClr val="FFFFFF"/>
                </a:solidFill>
                <a:latin typeface="Consolas"/>
              </a:rPr>
              <a:t>BRIEFING_DATE / VENUE</a:t>
            </a:r>
          </a:p>
        </p:txBody>
      </p:sp>
      <p:sp>
        <p:nvSpPr>
          <p:cNvPr id="47" name="TextBox 46"/>
          <p:cNvSpPr txBox="1"/>
          <p:nvPr/>
        </p:nvSpPr>
        <p:spPr>
          <a:xfrm>
            <a:off x="8503920" y="2084832"/>
            <a:ext cx="2788920" cy="219456"/>
          </a:xfrm>
          <a:prstGeom prst="rect">
            <a:avLst/>
          </a:prstGeom>
          <a:noFill/>
        </p:spPr>
        <p:txBody>
          <a:bodyPr wrap="square">
            <a:spAutoFit/>
          </a:bodyPr>
          <a:lstStyle/>
          <a:p>
            <a:pPr algn="l"/>
            <a:r>
              <a:rPr sz="950" b="0" i="0">
                <a:solidFill>
                  <a:srgbClr val="333344"/>
                </a:solidFill>
                <a:latin typeface="Segoe UI"/>
              </a:rPr>
              <a:t>Briefing session details if applicable</a:t>
            </a:r>
          </a:p>
        </p:txBody>
      </p:sp>
      <p:sp>
        <p:nvSpPr>
          <p:cNvPr id="48" name="Rectangle 47"/>
          <p:cNvSpPr/>
          <p:nvPr/>
        </p:nvSpPr>
        <p:spPr>
          <a:xfrm>
            <a:off x="6126480" y="235915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72200" y="2359152"/>
            <a:ext cx="2194560" cy="219456"/>
          </a:xfrm>
          <a:prstGeom prst="rect">
            <a:avLst/>
          </a:prstGeom>
          <a:noFill/>
        </p:spPr>
        <p:txBody>
          <a:bodyPr wrap="square">
            <a:spAutoFit/>
          </a:bodyPr>
          <a:lstStyle/>
          <a:p>
            <a:pPr algn="l"/>
            <a:r>
              <a:rPr sz="900" b="1" i="0">
                <a:solidFill>
                  <a:srgbClr val="FFFFFF"/>
                </a:solidFill>
                <a:latin typeface="Consolas"/>
              </a:rPr>
              <a:t>COMPULSORY_BRIEFING</a:t>
            </a:r>
          </a:p>
        </p:txBody>
      </p:sp>
      <p:sp>
        <p:nvSpPr>
          <p:cNvPr id="50" name="TextBox 49"/>
          <p:cNvSpPr txBox="1"/>
          <p:nvPr/>
        </p:nvSpPr>
        <p:spPr>
          <a:xfrm>
            <a:off x="8503920" y="2359152"/>
            <a:ext cx="2788920" cy="219456"/>
          </a:xfrm>
          <a:prstGeom prst="rect">
            <a:avLst/>
          </a:prstGeom>
          <a:noFill/>
        </p:spPr>
        <p:txBody>
          <a:bodyPr wrap="square">
            <a:spAutoFit/>
          </a:bodyPr>
          <a:lstStyle/>
          <a:p>
            <a:pPr algn="l"/>
            <a:r>
              <a:rPr sz="950" b="0" i="0">
                <a:solidFill>
                  <a:srgbClr val="333344"/>
                </a:solidFill>
                <a:latin typeface="Segoe UI"/>
              </a:rPr>
              <a:t>Whether attendance is mandatory</a:t>
            </a:r>
          </a:p>
        </p:txBody>
      </p:sp>
      <p:sp>
        <p:nvSpPr>
          <p:cNvPr id="51" name="Rectangle 50"/>
          <p:cNvSpPr/>
          <p:nvPr/>
        </p:nvSpPr>
        <p:spPr>
          <a:xfrm>
            <a:off x="6126480" y="263347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72200" y="2633472"/>
            <a:ext cx="2194560" cy="219456"/>
          </a:xfrm>
          <a:prstGeom prst="rect">
            <a:avLst/>
          </a:prstGeom>
          <a:noFill/>
        </p:spPr>
        <p:txBody>
          <a:bodyPr wrap="square">
            <a:spAutoFit/>
          </a:bodyPr>
          <a:lstStyle/>
          <a:p>
            <a:pPr algn="l"/>
            <a:r>
              <a:rPr sz="900" b="1" i="0">
                <a:solidFill>
                  <a:srgbClr val="FFFFFF"/>
                </a:solidFill>
                <a:latin typeface="Consolas"/>
              </a:rPr>
              <a:t>LINK</a:t>
            </a:r>
          </a:p>
        </p:txBody>
      </p:sp>
      <p:sp>
        <p:nvSpPr>
          <p:cNvPr id="53" name="TextBox 52"/>
          <p:cNvSpPr txBox="1"/>
          <p:nvPr/>
        </p:nvSpPr>
        <p:spPr>
          <a:xfrm>
            <a:off x="8503920" y="2633472"/>
            <a:ext cx="2788920" cy="219456"/>
          </a:xfrm>
          <a:prstGeom prst="rect">
            <a:avLst/>
          </a:prstGeom>
          <a:noFill/>
        </p:spPr>
        <p:txBody>
          <a:bodyPr wrap="square">
            <a:spAutoFit/>
          </a:bodyPr>
          <a:lstStyle/>
          <a:p>
            <a:pPr algn="l"/>
            <a:r>
              <a:rPr sz="950" b="0" i="0">
                <a:solidFill>
                  <a:srgbClr val="333344"/>
                </a:solidFill>
                <a:latin typeface="Segoe UI"/>
              </a:rPr>
              <a:t>Clickable hyperlink to tender document</a:t>
            </a:r>
          </a:p>
        </p:txBody>
      </p:sp>
      <p:sp>
        <p:nvSpPr>
          <p:cNvPr id="54" name="Rectangle 53"/>
          <p:cNvSpPr/>
          <p:nvPr/>
        </p:nvSpPr>
        <p:spPr>
          <a:xfrm>
            <a:off x="6126480" y="290779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72200" y="2907792"/>
            <a:ext cx="2194560" cy="219456"/>
          </a:xfrm>
          <a:prstGeom prst="rect">
            <a:avLst/>
          </a:prstGeom>
          <a:noFill/>
        </p:spPr>
        <p:txBody>
          <a:bodyPr wrap="square">
            <a:spAutoFit/>
          </a:bodyPr>
          <a:lstStyle/>
          <a:p>
            <a:pPr algn="l"/>
            <a:r>
              <a:rPr sz="900" b="1" i="0">
                <a:solidFill>
                  <a:srgbClr val="FFFFFF"/>
                </a:solidFill>
                <a:latin typeface="Consolas"/>
              </a:rPr>
              <a:t>SOE</a:t>
            </a:r>
          </a:p>
        </p:txBody>
      </p:sp>
      <p:sp>
        <p:nvSpPr>
          <p:cNvPr id="56" name="TextBox 55"/>
          <p:cNvSpPr txBox="1"/>
          <p:nvPr/>
        </p:nvSpPr>
        <p:spPr>
          <a:xfrm>
            <a:off x="8503920" y="2907792"/>
            <a:ext cx="2788920" cy="219456"/>
          </a:xfrm>
          <a:prstGeom prst="rect">
            <a:avLst/>
          </a:prstGeom>
          <a:noFill/>
        </p:spPr>
        <p:txBody>
          <a:bodyPr wrap="square">
            <a:spAutoFit/>
          </a:bodyPr>
          <a:lstStyle/>
          <a:p>
            <a:pPr algn="l"/>
            <a:r>
              <a:rPr sz="950" b="0" i="0">
                <a:solidFill>
                  <a:srgbClr val="333344"/>
                </a:solidFill>
                <a:latin typeface="Segoe UI"/>
              </a:rPr>
              <a:t>State-owned enterprise flag</a:t>
            </a:r>
          </a:p>
        </p:txBody>
      </p:sp>
      <p:sp>
        <p:nvSpPr>
          <p:cNvPr id="57" name="Rectangle 56"/>
          <p:cNvSpPr/>
          <p:nvPr/>
        </p:nvSpPr>
        <p:spPr>
          <a:xfrm>
            <a:off x="6126480" y="318211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72200" y="3182112"/>
            <a:ext cx="2194560" cy="219456"/>
          </a:xfrm>
          <a:prstGeom prst="rect">
            <a:avLst/>
          </a:prstGeom>
          <a:noFill/>
        </p:spPr>
        <p:txBody>
          <a:bodyPr wrap="square">
            <a:spAutoFit/>
          </a:bodyPr>
          <a:lstStyle/>
          <a:p>
            <a:pPr algn="l"/>
            <a:r>
              <a:rPr sz="900" b="1" i="0">
                <a:solidFill>
                  <a:srgbClr val="FFFFFF"/>
                </a:solidFill>
                <a:latin typeface="Consolas"/>
              </a:rPr>
              <a:t>COST_OF_SALES_ESTIMATE</a:t>
            </a:r>
          </a:p>
        </p:txBody>
      </p:sp>
      <p:sp>
        <p:nvSpPr>
          <p:cNvPr id="59" name="TextBox 58"/>
          <p:cNvSpPr txBox="1"/>
          <p:nvPr/>
        </p:nvSpPr>
        <p:spPr>
          <a:xfrm>
            <a:off x="8503920" y="3182112"/>
            <a:ext cx="2788920" cy="219456"/>
          </a:xfrm>
          <a:prstGeom prst="rect">
            <a:avLst/>
          </a:prstGeom>
          <a:noFill/>
        </p:spPr>
        <p:txBody>
          <a:bodyPr wrap="square">
            <a:spAutoFit/>
          </a:bodyPr>
          <a:lstStyle/>
          <a:p>
            <a:pPr algn="l"/>
            <a:r>
              <a:rPr sz="950" b="0" i="0">
                <a:solidFill>
                  <a:srgbClr val="333344"/>
                </a:solidFill>
                <a:latin typeface="Segoe UI"/>
              </a:rPr>
              <a:t>Estimated cost / value</a:t>
            </a:r>
          </a:p>
        </p:txBody>
      </p:sp>
      <p:sp>
        <p:nvSpPr>
          <p:cNvPr id="60" name="Rectangle 59"/>
          <p:cNvSpPr/>
          <p:nvPr/>
        </p:nvSpPr>
        <p:spPr>
          <a:xfrm>
            <a:off x="6126480" y="345643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72200" y="3456432"/>
            <a:ext cx="2194560" cy="219456"/>
          </a:xfrm>
          <a:prstGeom prst="rect">
            <a:avLst/>
          </a:prstGeom>
          <a:noFill/>
        </p:spPr>
        <p:txBody>
          <a:bodyPr wrap="square">
            <a:spAutoFit/>
          </a:bodyPr>
          <a:lstStyle/>
          <a:p>
            <a:pPr algn="l"/>
            <a:r>
              <a:rPr sz="900" b="1" i="0">
                <a:solidFill>
                  <a:srgbClr val="FFFFFF"/>
                </a:solidFill>
                <a:latin typeface="Consolas"/>
              </a:rPr>
              <a:t>CAPABILITY_AVAILABLE/GROUP</a:t>
            </a:r>
          </a:p>
        </p:txBody>
      </p:sp>
      <p:sp>
        <p:nvSpPr>
          <p:cNvPr id="62" name="TextBox 61"/>
          <p:cNvSpPr txBox="1"/>
          <p:nvPr/>
        </p:nvSpPr>
        <p:spPr>
          <a:xfrm>
            <a:off x="8503920" y="3456432"/>
            <a:ext cx="2788920" cy="219456"/>
          </a:xfrm>
          <a:prstGeom prst="rect">
            <a:avLst/>
          </a:prstGeom>
          <a:noFill/>
        </p:spPr>
        <p:txBody>
          <a:bodyPr wrap="square">
            <a:spAutoFit/>
          </a:bodyPr>
          <a:lstStyle/>
          <a:p>
            <a:pPr algn="l"/>
            <a:r>
              <a:rPr sz="950" b="0" i="0">
                <a:solidFill>
                  <a:srgbClr val="333344"/>
                </a:solidFill>
                <a:latin typeface="Segoe UI"/>
              </a:rPr>
              <a:t>Capability classification</a:t>
            </a:r>
          </a:p>
        </p:txBody>
      </p:sp>
      <p:sp>
        <p:nvSpPr>
          <p:cNvPr id="63" name="Rectangle 62"/>
          <p:cNvSpPr/>
          <p:nvPr/>
        </p:nvSpPr>
        <p:spPr>
          <a:xfrm>
            <a:off x="6126480" y="3730752"/>
            <a:ext cx="2286000" cy="219456"/>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72200" y="3730752"/>
            <a:ext cx="2194560" cy="219456"/>
          </a:xfrm>
          <a:prstGeom prst="rect">
            <a:avLst/>
          </a:prstGeom>
          <a:noFill/>
        </p:spPr>
        <p:txBody>
          <a:bodyPr wrap="square">
            <a:spAutoFit/>
          </a:bodyPr>
          <a:lstStyle/>
          <a:p>
            <a:pPr algn="l"/>
            <a:r>
              <a:rPr sz="900" b="1" i="0">
                <a:solidFill>
                  <a:srgbClr val="FFFFFF"/>
                </a:solidFill>
                <a:latin typeface="Consolas"/>
              </a:rPr>
              <a:t>REQUIREMENTS</a:t>
            </a:r>
          </a:p>
        </p:txBody>
      </p:sp>
      <p:sp>
        <p:nvSpPr>
          <p:cNvPr id="65" name="TextBox 64"/>
          <p:cNvSpPr txBox="1"/>
          <p:nvPr/>
        </p:nvSpPr>
        <p:spPr>
          <a:xfrm>
            <a:off x="8503920" y="3730752"/>
            <a:ext cx="2788920" cy="219456"/>
          </a:xfrm>
          <a:prstGeom prst="rect">
            <a:avLst/>
          </a:prstGeom>
          <a:noFill/>
        </p:spPr>
        <p:txBody>
          <a:bodyPr wrap="square">
            <a:spAutoFit/>
          </a:bodyPr>
          <a:lstStyle/>
          <a:p>
            <a:pPr algn="l"/>
            <a:r>
              <a:rPr sz="950" b="0" i="0">
                <a:solidFill>
                  <a:srgbClr val="333344"/>
                </a:solidFill>
                <a:latin typeface="Segoe UI"/>
              </a:rPr>
              <a:t>Any special requirements listed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1016"/>
            <a:ext cx="12188952"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640080"/>
          </a:xfrm>
          <a:prstGeom prst="rect">
            <a:avLst/>
          </a:prstGeom>
          <a:noFill/>
        </p:spPr>
        <p:txBody>
          <a:bodyPr wrap="square">
            <a:spAutoFit/>
          </a:bodyPr>
          <a:lstStyle/>
          <a:p>
            <a:pPr algn="l"/>
            <a:r>
              <a:rPr sz="2800" b="1" i="0">
                <a:solidFill>
                  <a:srgbClr val="FFFFFF"/>
                </a:solidFill>
                <a:latin typeface="Segoe UI"/>
              </a:rPr>
              <a:t>Tracked Departments</a:t>
            </a:r>
          </a:p>
        </p:txBody>
      </p:sp>
      <p:sp>
        <p:nvSpPr>
          <p:cNvPr id="5" name="TextBox 4"/>
          <p:cNvSpPr txBox="1"/>
          <p:nvPr/>
        </p:nvSpPr>
        <p:spPr>
          <a:xfrm>
            <a:off x="502920" y="749808"/>
            <a:ext cx="11155680" cy="365760"/>
          </a:xfrm>
          <a:prstGeom prst="rect">
            <a:avLst/>
          </a:prstGeom>
          <a:noFill/>
        </p:spPr>
        <p:txBody>
          <a:bodyPr wrap="square">
            <a:spAutoFit/>
          </a:bodyPr>
          <a:lstStyle/>
          <a:p>
            <a:pPr algn="l"/>
            <a:r>
              <a:rPr sz="1400" b="0" i="1">
                <a:solidFill>
                  <a:srgbClr val="F5A000"/>
                </a:solidFill>
                <a:latin typeface="Segoe UI"/>
              </a:rPr>
              <a:t>25 organs of state monitored each batch</a:t>
            </a:r>
          </a:p>
        </p:txBody>
      </p:sp>
      <p:sp>
        <p:nvSpPr>
          <p:cNvPr id="6" name="Rectangle 5"/>
          <p:cNvSpPr/>
          <p:nvPr/>
        </p:nvSpPr>
        <p:spPr>
          <a:xfrm>
            <a:off x="0" y="6565392"/>
            <a:ext cx="12188952" cy="292608"/>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spAutoFit/>
          </a:bodyPr>
          <a:lstStyle/>
          <a:p>
            <a:pPr algn="l"/>
            <a:r>
              <a:rPr sz="900" b="0" i="0">
                <a:solidFill>
                  <a:srgbClr val="F4F6FA"/>
                </a:solidFill>
                <a:latin typeface="Segoe UI"/>
              </a:rPr>
              <a:t>Amidel (Pty) Ltd  |  Beyond Technology  |  eTender Scraper</a:t>
            </a:r>
          </a:p>
        </p:txBody>
      </p:sp>
      <p:sp>
        <p:nvSpPr>
          <p:cNvPr id="8" name="TextBox 7"/>
          <p:cNvSpPr txBox="1"/>
          <p:nvPr/>
        </p:nvSpPr>
        <p:spPr>
          <a:xfrm>
            <a:off x="11430000" y="6574536"/>
            <a:ext cx="640080" cy="274320"/>
          </a:xfrm>
          <a:prstGeom prst="rect">
            <a:avLst/>
          </a:prstGeom>
          <a:noFill/>
        </p:spPr>
        <p:txBody>
          <a:bodyPr wrap="square">
            <a:spAutoFit/>
          </a:bodyPr>
          <a:lstStyle/>
          <a:p>
            <a:pPr algn="r"/>
            <a:r>
              <a:rPr sz="900" b="0" i="0">
                <a:solidFill>
                  <a:srgbClr val="F5A000"/>
                </a:solidFill>
                <a:latin typeface="Segoe UI"/>
              </a:rPr>
              <a:t>8 / 10</a:t>
            </a:r>
          </a:p>
        </p:txBody>
      </p:sp>
      <p:sp>
        <p:nvSpPr>
          <p:cNvPr id="9" name="TextBox 8"/>
          <p:cNvSpPr txBox="1"/>
          <p:nvPr/>
        </p:nvSpPr>
        <p:spPr>
          <a:xfrm>
            <a:off x="457200" y="1508760"/>
            <a:ext cx="11247120" cy="594360"/>
          </a:xfrm>
          <a:prstGeom prst="rect">
            <a:avLst/>
          </a:prstGeom>
          <a:noFill/>
        </p:spPr>
        <p:txBody>
          <a:bodyPr wrap="square">
            <a:spAutoFit/>
          </a:bodyPr>
          <a:lstStyle/>
          <a:p>
            <a:pPr algn="l"/>
            <a:r>
              <a:rPr sz="1300" b="0" i="0">
                <a:solidFill>
                  <a:srgbClr val="333344"/>
                </a:solidFill>
                <a:latin typeface="Segoe UI"/>
              </a:rPr>
              <a:t>For each batch the Final tab and Tender Summary produce counts of NNT, ICT, and RFQ tenders broken down by the following departments. New departments can be added by editing BatchProcessor.py.</a:t>
            </a:r>
          </a:p>
        </p:txBody>
      </p:sp>
      <p:sp>
        <p:nvSpPr>
          <p:cNvPr id="10" name="Rectangle 9"/>
          <p:cNvSpPr/>
          <p:nvPr/>
        </p:nvSpPr>
        <p:spPr>
          <a:xfrm>
            <a:off x="457200" y="2240280"/>
            <a:ext cx="2240280" cy="384048"/>
          </a:xfrm>
          <a:prstGeom prst="rect">
            <a:avLst/>
          </a:prstGeom>
          <a:solidFill>
            <a:srgbClr val="1C3880"/>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304288"/>
            <a:ext cx="2167128" cy="310896"/>
          </a:xfrm>
          <a:prstGeom prst="rect">
            <a:avLst/>
          </a:prstGeom>
          <a:noFill/>
        </p:spPr>
        <p:txBody>
          <a:bodyPr wrap="square">
            <a:spAutoFit/>
          </a:bodyPr>
          <a:lstStyle/>
          <a:p>
            <a:pPr algn="ctr"/>
            <a:r>
              <a:rPr sz="1100" b="1" i="0">
                <a:solidFill>
                  <a:srgbClr val="FFFFFF"/>
                </a:solidFill>
                <a:latin typeface="Segoe UI"/>
              </a:rPr>
              <a:t>eTenders (All)</a:t>
            </a:r>
          </a:p>
        </p:txBody>
      </p:sp>
      <p:sp>
        <p:nvSpPr>
          <p:cNvPr id="12" name="Rectangle 11"/>
          <p:cNvSpPr/>
          <p:nvPr/>
        </p:nvSpPr>
        <p:spPr>
          <a:xfrm>
            <a:off x="2862072" y="2240280"/>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62072" y="2240280"/>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35224" y="2304288"/>
            <a:ext cx="2167128" cy="310896"/>
          </a:xfrm>
          <a:prstGeom prst="rect">
            <a:avLst/>
          </a:prstGeom>
          <a:noFill/>
        </p:spPr>
        <p:txBody>
          <a:bodyPr wrap="square">
            <a:spAutoFit/>
          </a:bodyPr>
          <a:lstStyle/>
          <a:p>
            <a:pPr algn="l"/>
            <a:r>
              <a:rPr sz="1100" b="0" i="0">
                <a:solidFill>
                  <a:srgbClr val="1C3880"/>
                </a:solidFill>
                <a:latin typeface="Segoe UI"/>
              </a:rPr>
              <a:t>Eskom</a:t>
            </a:r>
          </a:p>
        </p:txBody>
      </p:sp>
      <p:sp>
        <p:nvSpPr>
          <p:cNvPr id="15" name="Rectangle 14"/>
          <p:cNvSpPr/>
          <p:nvPr/>
        </p:nvSpPr>
        <p:spPr>
          <a:xfrm>
            <a:off x="5266944" y="2240280"/>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66944" y="2240280"/>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40096" y="2304288"/>
            <a:ext cx="2167128" cy="310896"/>
          </a:xfrm>
          <a:prstGeom prst="rect">
            <a:avLst/>
          </a:prstGeom>
          <a:noFill/>
        </p:spPr>
        <p:txBody>
          <a:bodyPr wrap="square">
            <a:spAutoFit/>
          </a:bodyPr>
          <a:lstStyle/>
          <a:p>
            <a:pPr algn="l"/>
            <a:r>
              <a:rPr sz="1100" b="0" i="0">
                <a:solidFill>
                  <a:srgbClr val="1C3880"/>
                </a:solidFill>
                <a:latin typeface="Segoe UI"/>
              </a:rPr>
              <a:t>SITA</a:t>
            </a:r>
          </a:p>
        </p:txBody>
      </p:sp>
      <p:sp>
        <p:nvSpPr>
          <p:cNvPr id="18" name="Rectangle 17"/>
          <p:cNvSpPr/>
          <p:nvPr/>
        </p:nvSpPr>
        <p:spPr>
          <a:xfrm>
            <a:off x="7671816" y="2240280"/>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71816" y="2240280"/>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44968" y="2304288"/>
            <a:ext cx="2167128" cy="310896"/>
          </a:xfrm>
          <a:prstGeom prst="rect">
            <a:avLst/>
          </a:prstGeom>
          <a:noFill/>
        </p:spPr>
        <p:txBody>
          <a:bodyPr wrap="square">
            <a:spAutoFit/>
          </a:bodyPr>
          <a:lstStyle/>
          <a:p>
            <a:pPr algn="l"/>
            <a:r>
              <a:rPr sz="1100" b="0" i="0">
                <a:solidFill>
                  <a:srgbClr val="1C3880"/>
                </a:solidFill>
                <a:latin typeface="Segoe UI"/>
              </a:rPr>
              <a:t>Transnet</a:t>
            </a:r>
          </a:p>
        </p:txBody>
      </p:sp>
      <p:sp>
        <p:nvSpPr>
          <p:cNvPr id="21" name="Rectangle 20"/>
          <p:cNvSpPr/>
          <p:nvPr/>
        </p:nvSpPr>
        <p:spPr>
          <a:xfrm>
            <a:off x="10076688" y="2240280"/>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076688" y="2240280"/>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0" y="2304288"/>
            <a:ext cx="2167128" cy="310896"/>
          </a:xfrm>
          <a:prstGeom prst="rect">
            <a:avLst/>
          </a:prstGeom>
          <a:noFill/>
        </p:spPr>
        <p:txBody>
          <a:bodyPr wrap="square">
            <a:spAutoFit/>
          </a:bodyPr>
          <a:lstStyle/>
          <a:p>
            <a:pPr algn="l"/>
            <a:r>
              <a:rPr sz="1100" b="0" i="0">
                <a:solidFill>
                  <a:srgbClr val="1C3880"/>
                </a:solidFill>
                <a:latin typeface="Segoe UI"/>
              </a:rPr>
              <a:t>JPC</a:t>
            </a:r>
          </a:p>
        </p:txBody>
      </p:sp>
      <p:sp>
        <p:nvSpPr>
          <p:cNvPr id="24" name="Rectangle 23"/>
          <p:cNvSpPr/>
          <p:nvPr/>
        </p:nvSpPr>
        <p:spPr>
          <a:xfrm>
            <a:off x="457200" y="2752344"/>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752344"/>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2816352"/>
            <a:ext cx="2167128" cy="310896"/>
          </a:xfrm>
          <a:prstGeom prst="rect">
            <a:avLst/>
          </a:prstGeom>
          <a:noFill/>
        </p:spPr>
        <p:txBody>
          <a:bodyPr wrap="square">
            <a:spAutoFit/>
          </a:bodyPr>
          <a:lstStyle/>
          <a:p>
            <a:pPr algn="l"/>
            <a:r>
              <a:rPr sz="1100" b="0" i="0">
                <a:solidFill>
                  <a:srgbClr val="1C3880"/>
                </a:solidFill>
                <a:latin typeface="Segoe UI"/>
              </a:rPr>
              <a:t>Matatiele LM</a:t>
            </a:r>
          </a:p>
        </p:txBody>
      </p:sp>
      <p:sp>
        <p:nvSpPr>
          <p:cNvPr id="27" name="Rectangle 26"/>
          <p:cNvSpPr/>
          <p:nvPr/>
        </p:nvSpPr>
        <p:spPr>
          <a:xfrm>
            <a:off x="2862072" y="2752344"/>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862072" y="2752344"/>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35224" y="2816352"/>
            <a:ext cx="2167128" cy="310896"/>
          </a:xfrm>
          <a:prstGeom prst="rect">
            <a:avLst/>
          </a:prstGeom>
          <a:noFill/>
        </p:spPr>
        <p:txBody>
          <a:bodyPr wrap="square">
            <a:spAutoFit/>
          </a:bodyPr>
          <a:lstStyle/>
          <a:p>
            <a:pPr algn="l"/>
            <a:r>
              <a:rPr sz="1100" b="0" i="0">
                <a:solidFill>
                  <a:srgbClr val="1C3880"/>
                </a:solidFill>
                <a:latin typeface="Segoe UI"/>
              </a:rPr>
              <a:t>Ntabankulu LM</a:t>
            </a:r>
          </a:p>
        </p:txBody>
      </p:sp>
      <p:sp>
        <p:nvSpPr>
          <p:cNvPr id="30" name="Rectangle 29"/>
          <p:cNvSpPr/>
          <p:nvPr/>
        </p:nvSpPr>
        <p:spPr>
          <a:xfrm>
            <a:off x="5266944" y="2752344"/>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66944" y="2752344"/>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40096" y="2816352"/>
            <a:ext cx="2167128" cy="310896"/>
          </a:xfrm>
          <a:prstGeom prst="rect">
            <a:avLst/>
          </a:prstGeom>
          <a:noFill/>
        </p:spPr>
        <p:txBody>
          <a:bodyPr wrap="square">
            <a:spAutoFit/>
          </a:bodyPr>
          <a:lstStyle/>
          <a:p>
            <a:pPr algn="l"/>
            <a:r>
              <a:rPr sz="1100" b="0" i="0">
                <a:solidFill>
                  <a:srgbClr val="1C3880"/>
                </a:solidFill>
                <a:latin typeface="Segoe UI"/>
              </a:rPr>
              <a:t>Umzimvubu LM</a:t>
            </a:r>
          </a:p>
        </p:txBody>
      </p:sp>
      <p:sp>
        <p:nvSpPr>
          <p:cNvPr id="33" name="Rectangle 32"/>
          <p:cNvSpPr/>
          <p:nvPr/>
        </p:nvSpPr>
        <p:spPr>
          <a:xfrm>
            <a:off x="7671816" y="2752344"/>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71816" y="2752344"/>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44968" y="2816352"/>
            <a:ext cx="2167128" cy="310896"/>
          </a:xfrm>
          <a:prstGeom prst="rect">
            <a:avLst/>
          </a:prstGeom>
          <a:noFill/>
        </p:spPr>
        <p:txBody>
          <a:bodyPr wrap="square">
            <a:spAutoFit/>
          </a:bodyPr>
          <a:lstStyle/>
          <a:p>
            <a:pPr algn="l"/>
            <a:r>
              <a:rPr sz="1100" b="0" i="0">
                <a:solidFill>
                  <a:srgbClr val="1C3880"/>
                </a:solidFill>
                <a:latin typeface="Segoe UI"/>
              </a:rPr>
              <a:t>Winnie Mandela LM</a:t>
            </a:r>
          </a:p>
        </p:txBody>
      </p:sp>
      <p:sp>
        <p:nvSpPr>
          <p:cNvPr id="36" name="Rectangle 35"/>
          <p:cNvSpPr/>
          <p:nvPr/>
        </p:nvSpPr>
        <p:spPr>
          <a:xfrm>
            <a:off x="10076688" y="2752344"/>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076688" y="2752344"/>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49840" y="2816352"/>
            <a:ext cx="2167128" cy="310896"/>
          </a:xfrm>
          <a:prstGeom prst="rect">
            <a:avLst/>
          </a:prstGeom>
          <a:noFill/>
        </p:spPr>
        <p:txBody>
          <a:bodyPr wrap="square">
            <a:spAutoFit/>
          </a:bodyPr>
          <a:lstStyle/>
          <a:p>
            <a:pPr algn="l"/>
            <a:r>
              <a:rPr sz="1100" b="0" i="0">
                <a:solidFill>
                  <a:srgbClr val="1C3880"/>
                </a:solidFill>
                <a:latin typeface="Segoe UI"/>
              </a:rPr>
              <a:t>Mnquma LM</a:t>
            </a:r>
          </a:p>
        </p:txBody>
      </p:sp>
      <p:sp>
        <p:nvSpPr>
          <p:cNvPr id="39" name="Rectangle 38"/>
          <p:cNvSpPr/>
          <p:nvPr/>
        </p:nvSpPr>
        <p:spPr>
          <a:xfrm>
            <a:off x="457200" y="3264408"/>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3264408"/>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0352" y="3328416"/>
            <a:ext cx="2167128" cy="310896"/>
          </a:xfrm>
          <a:prstGeom prst="rect">
            <a:avLst/>
          </a:prstGeom>
          <a:noFill/>
        </p:spPr>
        <p:txBody>
          <a:bodyPr wrap="square">
            <a:spAutoFit/>
          </a:bodyPr>
          <a:lstStyle/>
          <a:p>
            <a:pPr algn="l"/>
            <a:r>
              <a:rPr sz="1100" b="0" i="0">
                <a:solidFill>
                  <a:srgbClr val="1C3880"/>
                </a:solidFill>
                <a:latin typeface="Segoe UI"/>
              </a:rPr>
              <a:t>Great Kei LM</a:t>
            </a:r>
          </a:p>
        </p:txBody>
      </p:sp>
      <p:sp>
        <p:nvSpPr>
          <p:cNvPr id="42" name="Rectangle 41"/>
          <p:cNvSpPr/>
          <p:nvPr/>
        </p:nvSpPr>
        <p:spPr>
          <a:xfrm>
            <a:off x="2862072" y="3264408"/>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62072" y="3264408"/>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35224" y="3328416"/>
            <a:ext cx="2167128" cy="310896"/>
          </a:xfrm>
          <a:prstGeom prst="rect">
            <a:avLst/>
          </a:prstGeom>
          <a:noFill/>
        </p:spPr>
        <p:txBody>
          <a:bodyPr wrap="square">
            <a:spAutoFit/>
          </a:bodyPr>
          <a:lstStyle/>
          <a:p>
            <a:pPr algn="l"/>
            <a:r>
              <a:rPr sz="1100" b="0" i="0">
                <a:solidFill>
                  <a:srgbClr val="1C3880"/>
                </a:solidFill>
                <a:latin typeface="Segoe UI"/>
              </a:rPr>
              <a:t>Amahlathi LM</a:t>
            </a:r>
          </a:p>
        </p:txBody>
      </p:sp>
      <p:sp>
        <p:nvSpPr>
          <p:cNvPr id="45" name="Rectangle 44"/>
          <p:cNvSpPr/>
          <p:nvPr/>
        </p:nvSpPr>
        <p:spPr>
          <a:xfrm>
            <a:off x="5266944" y="3264408"/>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266944" y="3264408"/>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40096" y="3328416"/>
            <a:ext cx="2167128" cy="310896"/>
          </a:xfrm>
          <a:prstGeom prst="rect">
            <a:avLst/>
          </a:prstGeom>
          <a:noFill/>
        </p:spPr>
        <p:txBody>
          <a:bodyPr wrap="square">
            <a:spAutoFit/>
          </a:bodyPr>
          <a:lstStyle/>
          <a:p>
            <a:pPr algn="l"/>
            <a:r>
              <a:rPr sz="1100" b="0" i="0">
                <a:solidFill>
                  <a:srgbClr val="1C3880"/>
                </a:solidFill>
                <a:latin typeface="Segoe UI"/>
              </a:rPr>
              <a:t>Raymond Mhlaba LM</a:t>
            </a:r>
          </a:p>
        </p:txBody>
      </p:sp>
      <p:sp>
        <p:nvSpPr>
          <p:cNvPr id="48" name="Rectangle 47"/>
          <p:cNvSpPr/>
          <p:nvPr/>
        </p:nvSpPr>
        <p:spPr>
          <a:xfrm>
            <a:off x="7671816" y="3264408"/>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671816" y="3264408"/>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44968" y="3328416"/>
            <a:ext cx="2167128" cy="310896"/>
          </a:xfrm>
          <a:prstGeom prst="rect">
            <a:avLst/>
          </a:prstGeom>
          <a:noFill/>
        </p:spPr>
        <p:txBody>
          <a:bodyPr wrap="square">
            <a:spAutoFit/>
          </a:bodyPr>
          <a:lstStyle/>
          <a:p>
            <a:pPr algn="l"/>
            <a:r>
              <a:rPr sz="1100" b="0" i="0">
                <a:solidFill>
                  <a:srgbClr val="1C3880"/>
                </a:solidFill>
                <a:latin typeface="Segoe UI"/>
              </a:rPr>
              <a:t>JOSHCO</a:t>
            </a:r>
          </a:p>
        </p:txBody>
      </p:sp>
      <p:sp>
        <p:nvSpPr>
          <p:cNvPr id="51" name="Rectangle 50"/>
          <p:cNvSpPr/>
          <p:nvPr/>
        </p:nvSpPr>
        <p:spPr>
          <a:xfrm>
            <a:off x="10076688" y="3264408"/>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076688" y="3264408"/>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149840" y="3328416"/>
            <a:ext cx="2167128" cy="310896"/>
          </a:xfrm>
          <a:prstGeom prst="rect">
            <a:avLst/>
          </a:prstGeom>
          <a:noFill/>
        </p:spPr>
        <p:txBody>
          <a:bodyPr wrap="square">
            <a:spAutoFit/>
          </a:bodyPr>
          <a:lstStyle/>
          <a:p>
            <a:pPr algn="l"/>
            <a:r>
              <a:rPr sz="1100" b="0" i="0">
                <a:solidFill>
                  <a:srgbClr val="1C3880"/>
                </a:solidFill>
                <a:latin typeface="Segoe UI"/>
              </a:rPr>
              <a:t>GPL</a:t>
            </a:r>
          </a:p>
        </p:txBody>
      </p:sp>
      <p:sp>
        <p:nvSpPr>
          <p:cNvPr id="54" name="Rectangle 53"/>
          <p:cNvSpPr/>
          <p:nvPr/>
        </p:nvSpPr>
        <p:spPr>
          <a:xfrm>
            <a:off x="457200" y="3776472"/>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3776472"/>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0352" y="3840480"/>
            <a:ext cx="2167128" cy="310896"/>
          </a:xfrm>
          <a:prstGeom prst="rect">
            <a:avLst/>
          </a:prstGeom>
          <a:noFill/>
        </p:spPr>
        <p:txBody>
          <a:bodyPr wrap="square">
            <a:spAutoFit/>
          </a:bodyPr>
          <a:lstStyle/>
          <a:p>
            <a:pPr algn="l"/>
            <a:r>
              <a:rPr sz="1100" b="0" i="0">
                <a:solidFill>
                  <a:srgbClr val="1C3880"/>
                </a:solidFill>
                <a:latin typeface="Segoe UI"/>
              </a:rPr>
              <a:t>RAF</a:t>
            </a:r>
          </a:p>
        </p:txBody>
      </p:sp>
      <p:sp>
        <p:nvSpPr>
          <p:cNvPr id="57" name="Rectangle 56"/>
          <p:cNvSpPr/>
          <p:nvPr/>
        </p:nvSpPr>
        <p:spPr>
          <a:xfrm>
            <a:off x="2862072" y="3776472"/>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862072" y="3776472"/>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35224" y="3840480"/>
            <a:ext cx="2167128" cy="310896"/>
          </a:xfrm>
          <a:prstGeom prst="rect">
            <a:avLst/>
          </a:prstGeom>
          <a:noFill/>
        </p:spPr>
        <p:txBody>
          <a:bodyPr wrap="square">
            <a:spAutoFit/>
          </a:bodyPr>
          <a:lstStyle/>
          <a:p>
            <a:pPr algn="l"/>
            <a:r>
              <a:rPr sz="1100" b="0" i="0">
                <a:solidFill>
                  <a:srgbClr val="1C3880"/>
                </a:solidFill>
                <a:latin typeface="Segoe UI"/>
              </a:rPr>
              <a:t>MM Trading Company</a:t>
            </a:r>
          </a:p>
        </p:txBody>
      </p:sp>
      <p:sp>
        <p:nvSpPr>
          <p:cNvPr id="60" name="Rectangle 59"/>
          <p:cNvSpPr/>
          <p:nvPr/>
        </p:nvSpPr>
        <p:spPr>
          <a:xfrm>
            <a:off x="5266944" y="3776472"/>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266944" y="3776472"/>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340096" y="3840480"/>
            <a:ext cx="2167128" cy="310896"/>
          </a:xfrm>
          <a:prstGeom prst="rect">
            <a:avLst/>
          </a:prstGeom>
          <a:noFill/>
        </p:spPr>
        <p:txBody>
          <a:bodyPr wrap="square">
            <a:spAutoFit/>
          </a:bodyPr>
          <a:lstStyle/>
          <a:p>
            <a:pPr algn="l"/>
            <a:r>
              <a:rPr sz="1100" b="0" i="0">
                <a:solidFill>
                  <a:srgbClr val="1C3880"/>
                </a:solidFill>
                <a:latin typeface="Segoe UI"/>
              </a:rPr>
              <a:t>Nelson Mandela Bay MM</a:t>
            </a:r>
          </a:p>
        </p:txBody>
      </p:sp>
      <p:sp>
        <p:nvSpPr>
          <p:cNvPr id="63" name="Rectangle 62"/>
          <p:cNvSpPr/>
          <p:nvPr/>
        </p:nvSpPr>
        <p:spPr>
          <a:xfrm>
            <a:off x="7671816" y="3776472"/>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671816" y="3776472"/>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44968" y="3840480"/>
            <a:ext cx="2167128" cy="310896"/>
          </a:xfrm>
          <a:prstGeom prst="rect">
            <a:avLst/>
          </a:prstGeom>
          <a:noFill/>
        </p:spPr>
        <p:txBody>
          <a:bodyPr wrap="square">
            <a:spAutoFit/>
          </a:bodyPr>
          <a:lstStyle/>
          <a:p>
            <a:pPr algn="l"/>
            <a:r>
              <a:rPr sz="1100" b="0" i="0">
                <a:solidFill>
                  <a:srgbClr val="1C3880"/>
                </a:solidFill>
                <a:latin typeface="Segoe UI"/>
              </a:rPr>
              <a:t>Buffalo City MM</a:t>
            </a:r>
          </a:p>
        </p:txBody>
      </p:sp>
      <p:sp>
        <p:nvSpPr>
          <p:cNvPr id="66" name="Rectangle 65"/>
          <p:cNvSpPr/>
          <p:nvPr/>
        </p:nvSpPr>
        <p:spPr>
          <a:xfrm>
            <a:off x="10076688" y="3776472"/>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076688" y="3776472"/>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149840" y="3840480"/>
            <a:ext cx="2167128" cy="310896"/>
          </a:xfrm>
          <a:prstGeom prst="rect">
            <a:avLst/>
          </a:prstGeom>
          <a:noFill/>
        </p:spPr>
        <p:txBody>
          <a:bodyPr wrap="square">
            <a:spAutoFit/>
          </a:bodyPr>
          <a:lstStyle/>
          <a:p>
            <a:pPr algn="l"/>
            <a:r>
              <a:rPr sz="1100" b="0" i="0">
                <a:solidFill>
                  <a:srgbClr val="1C3880"/>
                </a:solidFill>
                <a:latin typeface="Segoe UI"/>
              </a:rPr>
              <a:t>EC DPW</a:t>
            </a:r>
          </a:p>
        </p:txBody>
      </p:sp>
      <p:sp>
        <p:nvSpPr>
          <p:cNvPr id="69" name="Rectangle 68"/>
          <p:cNvSpPr/>
          <p:nvPr/>
        </p:nvSpPr>
        <p:spPr>
          <a:xfrm>
            <a:off x="457200" y="4288536"/>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57200" y="4288536"/>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30352" y="4352544"/>
            <a:ext cx="2167128" cy="310896"/>
          </a:xfrm>
          <a:prstGeom prst="rect">
            <a:avLst/>
          </a:prstGeom>
          <a:noFill/>
        </p:spPr>
        <p:txBody>
          <a:bodyPr wrap="square">
            <a:spAutoFit/>
          </a:bodyPr>
          <a:lstStyle/>
          <a:p>
            <a:pPr algn="l"/>
            <a:r>
              <a:rPr sz="1100" b="0" i="0">
                <a:solidFill>
                  <a:srgbClr val="1C3880"/>
                </a:solidFill>
                <a:latin typeface="Segoe UI"/>
              </a:rPr>
              <a:t>DEL</a:t>
            </a:r>
          </a:p>
        </p:txBody>
      </p:sp>
      <p:sp>
        <p:nvSpPr>
          <p:cNvPr id="72" name="Rectangle 71"/>
          <p:cNvSpPr/>
          <p:nvPr/>
        </p:nvSpPr>
        <p:spPr>
          <a:xfrm>
            <a:off x="2862072" y="4288536"/>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862072" y="4288536"/>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935224" y="4352544"/>
            <a:ext cx="2167128" cy="310896"/>
          </a:xfrm>
          <a:prstGeom prst="rect">
            <a:avLst/>
          </a:prstGeom>
          <a:noFill/>
        </p:spPr>
        <p:txBody>
          <a:bodyPr wrap="square">
            <a:spAutoFit/>
          </a:bodyPr>
          <a:lstStyle/>
          <a:p>
            <a:pPr algn="l"/>
            <a:r>
              <a:rPr sz="1100" b="0" i="0">
                <a:solidFill>
                  <a:srgbClr val="1C3880"/>
                </a:solidFill>
                <a:latin typeface="Segoe UI"/>
              </a:rPr>
              <a:t>SIU</a:t>
            </a:r>
          </a:p>
        </p:txBody>
      </p:sp>
      <p:sp>
        <p:nvSpPr>
          <p:cNvPr id="75" name="Rectangle 74"/>
          <p:cNvSpPr/>
          <p:nvPr/>
        </p:nvSpPr>
        <p:spPr>
          <a:xfrm>
            <a:off x="5266944" y="4288536"/>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266944" y="4288536"/>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340096" y="4352544"/>
            <a:ext cx="2167128" cy="310896"/>
          </a:xfrm>
          <a:prstGeom prst="rect">
            <a:avLst/>
          </a:prstGeom>
          <a:noFill/>
        </p:spPr>
        <p:txBody>
          <a:bodyPr wrap="square">
            <a:spAutoFit/>
          </a:bodyPr>
          <a:lstStyle/>
          <a:p>
            <a:pPr algn="l"/>
            <a:r>
              <a:rPr sz="1100" b="0" i="0">
                <a:solidFill>
                  <a:srgbClr val="1C3880"/>
                </a:solidFill>
                <a:latin typeface="Segoe UI"/>
              </a:rPr>
              <a:t>GDoH</a:t>
            </a:r>
          </a:p>
        </p:txBody>
      </p:sp>
      <p:sp>
        <p:nvSpPr>
          <p:cNvPr id="78" name="Rectangle 77"/>
          <p:cNvSpPr/>
          <p:nvPr/>
        </p:nvSpPr>
        <p:spPr>
          <a:xfrm>
            <a:off x="7671816" y="4288536"/>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671816" y="4288536"/>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44968" y="4352544"/>
            <a:ext cx="2167128" cy="310896"/>
          </a:xfrm>
          <a:prstGeom prst="rect">
            <a:avLst/>
          </a:prstGeom>
          <a:noFill/>
        </p:spPr>
        <p:txBody>
          <a:bodyPr wrap="square">
            <a:spAutoFit/>
          </a:bodyPr>
          <a:lstStyle/>
          <a:p>
            <a:pPr algn="l"/>
            <a:r>
              <a:rPr sz="1100" b="0" i="0">
                <a:solidFill>
                  <a:srgbClr val="1C3880"/>
                </a:solidFill>
                <a:latin typeface="Segoe UI"/>
              </a:rPr>
              <a:t>DIRCO</a:t>
            </a:r>
          </a:p>
        </p:txBody>
      </p:sp>
      <p:sp>
        <p:nvSpPr>
          <p:cNvPr id="81" name="Rectangle 80"/>
          <p:cNvSpPr/>
          <p:nvPr/>
        </p:nvSpPr>
        <p:spPr>
          <a:xfrm>
            <a:off x="10076688" y="4288536"/>
            <a:ext cx="2240280" cy="384048"/>
          </a:xfrm>
          <a:prstGeom prst="rect">
            <a:avLst/>
          </a:prstGeom>
          <a:solidFill>
            <a:srgbClr val="F4F6FA"/>
          </a:solidFill>
          <a:ln w="7620">
            <a:solidFill>
              <a:srgbClr val="2544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076688" y="4288536"/>
            <a:ext cx="36576" cy="384048"/>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149840" y="4352544"/>
            <a:ext cx="2167128" cy="310896"/>
          </a:xfrm>
          <a:prstGeom prst="rect">
            <a:avLst/>
          </a:prstGeom>
          <a:noFill/>
        </p:spPr>
        <p:txBody>
          <a:bodyPr wrap="square">
            <a:spAutoFit/>
          </a:bodyPr>
          <a:lstStyle/>
          <a:p>
            <a:pPr algn="l"/>
            <a:r>
              <a:rPr sz="1100" b="0" i="0">
                <a:solidFill>
                  <a:srgbClr val="1C3880"/>
                </a:solidFill>
                <a:latin typeface="Segoe UI"/>
              </a:rPr>
              <a:t>CP JHB / W JHB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71016"/>
            <a:ext cx="12188952" cy="54864"/>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11155680" cy="640080"/>
          </a:xfrm>
          <a:prstGeom prst="rect">
            <a:avLst/>
          </a:prstGeom>
          <a:noFill/>
        </p:spPr>
        <p:txBody>
          <a:bodyPr wrap="square">
            <a:spAutoFit/>
          </a:bodyPr>
          <a:lstStyle/>
          <a:p>
            <a:pPr algn="l"/>
            <a:r>
              <a:rPr sz="2800" b="1" i="0">
                <a:solidFill>
                  <a:srgbClr val="FFFFFF"/>
                </a:solidFill>
                <a:latin typeface="Segoe UI"/>
              </a:rPr>
              <a:t>Technical Stack</a:t>
            </a:r>
          </a:p>
        </p:txBody>
      </p:sp>
      <p:sp>
        <p:nvSpPr>
          <p:cNvPr id="5" name="TextBox 4"/>
          <p:cNvSpPr txBox="1"/>
          <p:nvPr/>
        </p:nvSpPr>
        <p:spPr>
          <a:xfrm>
            <a:off x="502920" y="749808"/>
            <a:ext cx="11155680" cy="365760"/>
          </a:xfrm>
          <a:prstGeom prst="rect">
            <a:avLst/>
          </a:prstGeom>
          <a:noFill/>
        </p:spPr>
        <p:txBody>
          <a:bodyPr wrap="square">
            <a:spAutoFit/>
          </a:bodyPr>
          <a:lstStyle/>
          <a:p>
            <a:pPr algn="l"/>
            <a:r>
              <a:rPr sz="1400" b="0" i="1">
                <a:solidFill>
                  <a:srgbClr val="F5A000"/>
                </a:solidFill>
                <a:latin typeface="Segoe UI"/>
              </a:rPr>
              <a:t>Built on proven, open-source Python libraries</a:t>
            </a:r>
          </a:p>
        </p:txBody>
      </p:sp>
      <p:sp>
        <p:nvSpPr>
          <p:cNvPr id="6" name="Rectangle 5"/>
          <p:cNvSpPr/>
          <p:nvPr/>
        </p:nvSpPr>
        <p:spPr>
          <a:xfrm>
            <a:off x="0" y="6565392"/>
            <a:ext cx="12188952" cy="292608"/>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spAutoFit/>
          </a:bodyPr>
          <a:lstStyle/>
          <a:p>
            <a:pPr algn="l"/>
            <a:r>
              <a:rPr sz="900" b="0" i="0">
                <a:solidFill>
                  <a:srgbClr val="F4F6FA"/>
                </a:solidFill>
                <a:latin typeface="Segoe UI"/>
              </a:rPr>
              <a:t>Amidel (Pty) Ltd  |  Beyond Technology  |  eTender Scraper</a:t>
            </a:r>
          </a:p>
        </p:txBody>
      </p:sp>
      <p:sp>
        <p:nvSpPr>
          <p:cNvPr id="8" name="TextBox 7"/>
          <p:cNvSpPr txBox="1"/>
          <p:nvPr/>
        </p:nvSpPr>
        <p:spPr>
          <a:xfrm>
            <a:off x="11430000" y="6574536"/>
            <a:ext cx="640080" cy="274320"/>
          </a:xfrm>
          <a:prstGeom prst="rect">
            <a:avLst/>
          </a:prstGeom>
          <a:noFill/>
        </p:spPr>
        <p:txBody>
          <a:bodyPr wrap="square">
            <a:spAutoFit/>
          </a:bodyPr>
          <a:lstStyle/>
          <a:p>
            <a:pPr algn="r"/>
            <a:r>
              <a:rPr sz="900" b="0" i="0">
                <a:solidFill>
                  <a:srgbClr val="F5A000"/>
                </a:solidFill>
                <a:latin typeface="Segoe UI"/>
              </a:rPr>
              <a:t>9 / 10</a:t>
            </a:r>
          </a:p>
        </p:txBody>
      </p:sp>
      <p:sp>
        <p:nvSpPr>
          <p:cNvPr id="9" name="Rectangle 8"/>
          <p:cNvSpPr/>
          <p:nvPr/>
        </p:nvSpPr>
        <p:spPr>
          <a:xfrm>
            <a:off x="384048" y="1508760"/>
            <a:ext cx="3520440" cy="201168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84048" y="1508760"/>
            <a:ext cx="54864" cy="201168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36776"/>
            <a:ext cx="3291840" cy="411480"/>
          </a:xfrm>
          <a:prstGeom prst="rect">
            <a:avLst/>
          </a:prstGeom>
          <a:noFill/>
        </p:spPr>
        <p:txBody>
          <a:bodyPr wrap="square">
            <a:spAutoFit/>
          </a:bodyPr>
          <a:lstStyle/>
          <a:p>
            <a:pPr algn="l"/>
            <a:r>
              <a:rPr sz="1700" b="1" i="0">
                <a:solidFill>
                  <a:srgbClr val="1C3880"/>
                </a:solidFill>
                <a:latin typeface="Segoe UI"/>
              </a:rPr>
              <a:t>Python 3</a:t>
            </a:r>
          </a:p>
        </p:txBody>
      </p:sp>
      <p:sp>
        <p:nvSpPr>
          <p:cNvPr id="12" name="TextBox 11"/>
          <p:cNvSpPr txBox="1"/>
          <p:nvPr/>
        </p:nvSpPr>
        <p:spPr>
          <a:xfrm>
            <a:off x="548640" y="2039112"/>
            <a:ext cx="3291840" cy="274320"/>
          </a:xfrm>
          <a:prstGeom prst="rect">
            <a:avLst/>
          </a:prstGeom>
          <a:noFill/>
        </p:spPr>
        <p:txBody>
          <a:bodyPr wrap="square">
            <a:spAutoFit/>
          </a:bodyPr>
          <a:lstStyle/>
          <a:p>
            <a:pPr algn="l"/>
            <a:r>
              <a:rPr sz="1100" b="1" i="1">
                <a:solidFill>
                  <a:srgbClr val="F5A000"/>
                </a:solidFill>
                <a:latin typeface="Segoe UI"/>
              </a:rPr>
              <a:t>Core language</a:t>
            </a:r>
          </a:p>
        </p:txBody>
      </p:sp>
      <p:sp>
        <p:nvSpPr>
          <p:cNvPr id="13" name="TextBox 12"/>
          <p:cNvSpPr txBox="1"/>
          <p:nvPr/>
        </p:nvSpPr>
        <p:spPr>
          <a:xfrm>
            <a:off x="548640" y="2331720"/>
            <a:ext cx="3291840" cy="1005840"/>
          </a:xfrm>
          <a:prstGeom prst="rect">
            <a:avLst/>
          </a:prstGeom>
          <a:noFill/>
        </p:spPr>
        <p:txBody>
          <a:bodyPr wrap="square">
            <a:spAutoFit/>
          </a:bodyPr>
          <a:lstStyle/>
          <a:p>
            <a:pPr algn="l"/>
            <a:r>
              <a:rPr sz="1200" b="0" i="0">
                <a:solidFill>
                  <a:srgbClr val="333344"/>
                </a:solidFill>
                <a:latin typeface="Segoe UI"/>
              </a:rPr>
              <a:t>Clean, maintainable codebase with no compiled dependencies.</a:t>
            </a:r>
          </a:p>
        </p:txBody>
      </p:sp>
      <p:sp>
        <p:nvSpPr>
          <p:cNvPr id="14" name="Rectangle 13"/>
          <p:cNvSpPr/>
          <p:nvPr/>
        </p:nvSpPr>
        <p:spPr>
          <a:xfrm>
            <a:off x="4178808" y="1508760"/>
            <a:ext cx="3520440" cy="201168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78808" y="1508760"/>
            <a:ext cx="54864" cy="201168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1636776"/>
            <a:ext cx="3291840" cy="411480"/>
          </a:xfrm>
          <a:prstGeom prst="rect">
            <a:avLst/>
          </a:prstGeom>
          <a:noFill/>
        </p:spPr>
        <p:txBody>
          <a:bodyPr wrap="square">
            <a:spAutoFit/>
          </a:bodyPr>
          <a:lstStyle/>
          <a:p>
            <a:pPr algn="l"/>
            <a:r>
              <a:rPr sz="1700" b="1" i="0">
                <a:solidFill>
                  <a:srgbClr val="1C3880"/>
                </a:solidFill>
                <a:latin typeface="Segoe UI"/>
              </a:rPr>
              <a:t>Tkinter + tkcalendar</a:t>
            </a:r>
          </a:p>
        </p:txBody>
      </p:sp>
      <p:sp>
        <p:nvSpPr>
          <p:cNvPr id="17" name="TextBox 16"/>
          <p:cNvSpPr txBox="1"/>
          <p:nvPr/>
        </p:nvSpPr>
        <p:spPr>
          <a:xfrm>
            <a:off x="4343400" y="2039112"/>
            <a:ext cx="3291840" cy="274320"/>
          </a:xfrm>
          <a:prstGeom prst="rect">
            <a:avLst/>
          </a:prstGeom>
          <a:noFill/>
        </p:spPr>
        <p:txBody>
          <a:bodyPr wrap="square">
            <a:spAutoFit/>
          </a:bodyPr>
          <a:lstStyle/>
          <a:p>
            <a:pPr algn="l"/>
            <a:r>
              <a:rPr sz="1100" b="1" i="1">
                <a:solidFill>
                  <a:srgbClr val="F5A000"/>
                </a:solidFill>
                <a:latin typeface="Segoe UI"/>
              </a:rPr>
              <a:t>GUI framework</a:t>
            </a:r>
          </a:p>
        </p:txBody>
      </p:sp>
      <p:sp>
        <p:nvSpPr>
          <p:cNvPr id="18" name="TextBox 17"/>
          <p:cNvSpPr txBox="1"/>
          <p:nvPr/>
        </p:nvSpPr>
        <p:spPr>
          <a:xfrm>
            <a:off x="4343400" y="2331720"/>
            <a:ext cx="3291840" cy="1005840"/>
          </a:xfrm>
          <a:prstGeom prst="rect">
            <a:avLst/>
          </a:prstGeom>
          <a:noFill/>
        </p:spPr>
        <p:txBody>
          <a:bodyPr wrap="square">
            <a:spAutoFit/>
          </a:bodyPr>
          <a:lstStyle/>
          <a:p>
            <a:pPr algn="l"/>
            <a:r>
              <a:rPr sz="1200" b="0" i="0">
                <a:solidFill>
                  <a:srgbClr val="333344"/>
                </a:solidFill>
                <a:latin typeface="Segoe UI"/>
              </a:rPr>
              <a:t>Native desktop window with branded colours, calendar popup, and live log panel.</a:t>
            </a:r>
          </a:p>
        </p:txBody>
      </p:sp>
      <p:sp>
        <p:nvSpPr>
          <p:cNvPr id="19" name="Rectangle 18"/>
          <p:cNvSpPr/>
          <p:nvPr/>
        </p:nvSpPr>
        <p:spPr>
          <a:xfrm>
            <a:off x="7973568" y="1508760"/>
            <a:ext cx="3520440" cy="201168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8" y="1508760"/>
            <a:ext cx="54864" cy="201168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1636776"/>
            <a:ext cx="3291840" cy="411480"/>
          </a:xfrm>
          <a:prstGeom prst="rect">
            <a:avLst/>
          </a:prstGeom>
          <a:noFill/>
        </p:spPr>
        <p:txBody>
          <a:bodyPr wrap="square">
            <a:spAutoFit/>
          </a:bodyPr>
          <a:lstStyle/>
          <a:p>
            <a:pPr algn="l"/>
            <a:r>
              <a:rPr sz="1700" b="1" i="0">
                <a:solidFill>
                  <a:srgbClr val="1C3880"/>
                </a:solidFill>
                <a:latin typeface="Segoe UI"/>
              </a:rPr>
              <a:t>Selenium + ChromeDriver</a:t>
            </a:r>
          </a:p>
        </p:txBody>
      </p:sp>
      <p:sp>
        <p:nvSpPr>
          <p:cNvPr id="22" name="TextBox 21"/>
          <p:cNvSpPr txBox="1"/>
          <p:nvPr/>
        </p:nvSpPr>
        <p:spPr>
          <a:xfrm>
            <a:off x="8138160" y="2039112"/>
            <a:ext cx="3291840" cy="274320"/>
          </a:xfrm>
          <a:prstGeom prst="rect">
            <a:avLst/>
          </a:prstGeom>
          <a:noFill/>
        </p:spPr>
        <p:txBody>
          <a:bodyPr wrap="square">
            <a:spAutoFit/>
          </a:bodyPr>
          <a:lstStyle/>
          <a:p>
            <a:pPr algn="l"/>
            <a:r>
              <a:rPr sz="1100" b="1" i="1">
                <a:solidFill>
                  <a:srgbClr val="F5A000"/>
                </a:solidFill>
                <a:latin typeface="Segoe UI"/>
              </a:rPr>
              <a:t>Web automation</a:t>
            </a:r>
          </a:p>
        </p:txBody>
      </p:sp>
      <p:sp>
        <p:nvSpPr>
          <p:cNvPr id="23" name="TextBox 22"/>
          <p:cNvSpPr txBox="1"/>
          <p:nvPr/>
        </p:nvSpPr>
        <p:spPr>
          <a:xfrm>
            <a:off x="8138160" y="2331720"/>
            <a:ext cx="3291840" cy="1005840"/>
          </a:xfrm>
          <a:prstGeom prst="rect">
            <a:avLst/>
          </a:prstGeom>
          <a:noFill/>
        </p:spPr>
        <p:txBody>
          <a:bodyPr wrap="square">
            <a:spAutoFit/>
          </a:bodyPr>
          <a:lstStyle/>
          <a:p>
            <a:pPr algn="l"/>
            <a:r>
              <a:rPr sz="1200" b="0" i="0">
                <a:solidFill>
                  <a:srgbClr val="333344"/>
                </a:solidFill>
                <a:latin typeface="Segoe UI"/>
              </a:rPr>
              <a:t>Drives Chrome headlessly or visibly. Automatically manages ChromeDriver version.</a:t>
            </a:r>
          </a:p>
        </p:txBody>
      </p:sp>
      <p:sp>
        <p:nvSpPr>
          <p:cNvPr id="24" name="Rectangle 23"/>
          <p:cNvSpPr/>
          <p:nvPr/>
        </p:nvSpPr>
        <p:spPr>
          <a:xfrm>
            <a:off x="384048" y="3703320"/>
            <a:ext cx="3520440" cy="201168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048" y="3703320"/>
            <a:ext cx="54864" cy="201168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831336"/>
            <a:ext cx="3291840" cy="411480"/>
          </a:xfrm>
          <a:prstGeom prst="rect">
            <a:avLst/>
          </a:prstGeom>
          <a:noFill/>
        </p:spPr>
        <p:txBody>
          <a:bodyPr wrap="square">
            <a:spAutoFit/>
          </a:bodyPr>
          <a:lstStyle/>
          <a:p>
            <a:pPr algn="l"/>
            <a:r>
              <a:rPr sz="1700" b="1" i="0">
                <a:solidFill>
                  <a:srgbClr val="1C3880"/>
                </a:solidFill>
                <a:latin typeface="Segoe UI"/>
              </a:rPr>
              <a:t>pandas</a:t>
            </a:r>
          </a:p>
        </p:txBody>
      </p:sp>
      <p:sp>
        <p:nvSpPr>
          <p:cNvPr id="27" name="TextBox 26"/>
          <p:cNvSpPr txBox="1"/>
          <p:nvPr/>
        </p:nvSpPr>
        <p:spPr>
          <a:xfrm>
            <a:off x="548640" y="4233672"/>
            <a:ext cx="3291840" cy="274320"/>
          </a:xfrm>
          <a:prstGeom prst="rect">
            <a:avLst/>
          </a:prstGeom>
          <a:noFill/>
        </p:spPr>
        <p:txBody>
          <a:bodyPr wrap="square">
            <a:spAutoFit/>
          </a:bodyPr>
          <a:lstStyle/>
          <a:p>
            <a:pPr algn="l"/>
            <a:r>
              <a:rPr sz="1100" b="1" i="1">
                <a:solidFill>
                  <a:srgbClr val="F5A000"/>
                </a:solidFill>
                <a:latin typeface="Segoe UI"/>
              </a:rPr>
              <a:t>Data processing</a:t>
            </a:r>
          </a:p>
        </p:txBody>
      </p:sp>
      <p:sp>
        <p:nvSpPr>
          <p:cNvPr id="28" name="TextBox 27"/>
          <p:cNvSpPr txBox="1"/>
          <p:nvPr/>
        </p:nvSpPr>
        <p:spPr>
          <a:xfrm>
            <a:off x="548640" y="4526280"/>
            <a:ext cx="3291840" cy="1005840"/>
          </a:xfrm>
          <a:prstGeom prst="rect">
            <a:avLst/>
          </a:prstGeom>
          <a:noFill/>
        </p:spPr>
        <p:txBody>
          <a:bodyPr wrap="square">
            <a:spAutoFit/>
          </a:bodyPr>
          <a:lstStyle/>
          <a:p>
            <a:pPr algn="l"/>
            <a:r>
              <a:rPr sz="1200" b="0" i="0">
                <a:solidFill>
                  <a:srgbClr val="333344"/>
                </a:solidFill>
                <a:latin typeface="Segoe UI"/>
              </a:rPr>
              <a:t>DataFrame operations for deduplication, merging, and column transformations.</a:t>
            </a:r>
          </a:p>
        </p:txBody>
      </p:sp>
      <p:sp>
        <p:nvSpPr>
          <p:cNvPr id="29" name="Rectangle 28"/>
          <p:cNvSpPr/>
          <p:nvPr/>
        </p:nvSpPr>
        <p:spPr>
          <a:xfrm>
            <a:off x="4178808" y="3703320"/>
            <a:ext cx="3520440" cy="201168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78808" y="3703320"/>
            <a:ext cx="54864" cy="201168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831336"/>
            <a:ext cx="3291840" cy="411480"/>
          </a:xfrm>
          <a:prstGeom prst="rect">
            <a:avLst/>
          </a:prstGeom>
          <a:noFill/>
        </p:spPr>
        <p:txBody>
          <a:bodyPr wrap="square">
            <a:spAutoFit/>
          </a:bodyPr>
          <a:lstStyle/>
          <a:p>
            <a:pPr algn="l"/>
            <a:r>
              <a:rPr sz="1700" b="1" i="0">
                <a:solidFill>
                  <a:srgbClr val="1C3880"/>
                </a:solidFill>
                <a:latin typeface="Segoe UI"/>
              </a:rPr>
              <a:t>openpyxl</a:t>
            </a:r>
          </a:p>
        </p:txBody>
      </p:sp>
      <p:sp>
        <p:nvSpPr>
          <p:cNvPr id="32" name="TextBox 31"/>
          <p:cNvSpPr txBox="1"/>
          <p:nvPr/>
        </p:nvSpPr>
        <p:spPr>
          <a:xfrm>
            <a:off x="4343400" y="4233672"/>
            <a:ext cx="3291840" cy="274320"/>
          </a:xfrm>
          <a:prstGeom prst="rect">
            <a:avLst/>
          </a:prstGeom>
          <a:noFill/>
        </p:spPr>
        <p:txBody>
          <a:bodyPr wrap="square">
            <a:spAutoFit/>
          </a:bodyPr>
          <a:lstStyle/>
          <a:p>
            <a:pPr algn="l"/>
            <a:r>
              <a:rPr sz="1100" b="1" i="1">
                <a:solidFill>
                  <a:srgbClr val="F5A000"/>
                </a:solidFill>
                <a:latin typeface="Segoe UI"/>
              </a:rPr>
              <a:t>Excel generation</a:t>
            </a:r>
          </a:p>
        </p:txBody>
      </p:sp>
      <p:sp>
        <p:nvSpPr>
          <p:cNvPr id="33" name="TextBox 32"/>
          <p:cNvSpPr txBox="1"/>
          <p:nvPr/>
        </p:nvSpPr>
        <p:spPr>
          <a:xfrm>
            <a:off x="4343400" y="4526280"/>
            <a:ext cx="3291840" cy="1005840"/>
          </a:xfrm>
          <a:prstGeom prst="rect">
            <a:avLst/>
          </a:prstGeom>
          <a:noFill/>
        </p:spPr>
        <p:txBody>
          <a:bodyPr wrap="square">
            <a:spAutoFit/>
          </a:bodyPr>
          <a:lstStyle/>
          <a:p>
            <a:pPr algn="l"/>
            <a:r>
              <a:rPr sz="1200" b="0" i="0">
                <a:solidFill>
                  <a:srgbClr val="333344"/>
                </a:solidFill>
                <a:latin typeface="Segoe UI"/>
              </a:rPr>
              <a:t>Writes formatted .xlsx files with styled headers, borders, and hyperlinks.</a:t>
            </a:r>
          </a:p>
        </p:txBody>
      </p:sp>
      <p:sp>
        <p:nvSpPr>
          <p:cNvPr id="34" name="Rectangle 33"/>
          <p:cNvSpPr/>
          <p:nvPr/>
        </p:nvSpPr>
        <p:spPr>
          <a:xfrm>
            <a:off x="7973568" y="3703320"/>
            <a:ext cx="3520440" cy="2011680"/>
          </a:xfrm>
          <a:prstGeom prst="rect">
            <a:avLst/>
          </a:prstGeom>
          <a:solidFill>
            <a:srgbClr val="F4F6FA"/>
          </a:solidFill>
          <a:ln w="9525">
            <a:solidFill>
              <a:srgbClr val="E0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73568" y="3703320"/>
            <a:ext cx="54864" cy="201168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38160" y="3831336"/>
            <a:ext cx="3291840" cy="411480"/>
          </a:xfrm>
          <a:prstGeom prst="rect">
            <a:avLst/>
          </a:prstGeom>
          <a:noFill/>
        </p:spPr>
        <p:txBody>
          <a:bodyPr wrap="square">
            <a:spAutoFit/>
          </a:bodyPr>
          <a:lstStyle/>
          <a:p>
            <a:pPr algn="l"/>
            <a:r>
              <a:rPr sz="1700" b="1" i="0">
                <a:solidFill>
                  <a:srgbClr val="1C3880"/>
                </a:solidFill>
                <a:latin typeface="Segoe UI"/>
              </a:rPr>
              <a:t>OneDrive</a:t>
            </a:r>
          </a:p>
        </p:txBody>
      </p:sp>
      <p:sp>
        <p:nvSpPr>
          <p:cNvPr id="37" name="TextBox 36"/>
          <p:cNvSpPr txBox="1"/>
          <p:nvPr/>
        </p:nvSpPr>
        <p:spPr>
          <a:xfrm>
            <a:off x="8138160" y="4233672"/>
            <a:ext cx="3291840" cy="274320"/>
          </a:xfrm>
          <a:prstGeom prst="rect">
            <a:avLst/>
          </a:prstGeom>
          <a:noFill/>
        </p:spPr>
        <p:txBody>
          <a:bodyPr wrap="square">
            <a:spAutoFit/>
          </a:bodyPr>
          <a:lstStyle/>
          <a:p>
            <a:pPr algn="l"/>
            <a:r>
              <a:rPr sz="1100" b="1" i="1">
                <a:solidFill>
                  <a:srgbClr val="F5A000"/>
                </a:solidFill>
                <a:latin typeface="Segoe UI"/>
              </a:rPr>
              <a:t>File sync</a:t>
            </a:r>
          </a:p>
        </p:txBody>
      </p:sp>
      <p:sp>
        <p:nvSpPr>
          <p:cNvPr id="38" name="TextBox 37"/>
          <p:cNvSpPr txBox="1"/>
          <p:nvPr/>
        </p:nvSpPr>
        <p:spPr>
          <a:xfrm>
            <a:off x="8138160" y="4526280"/>
            <a:ext cx="3291840" cy="1005840"/>
          </a:xfrm>
          <a:prstGeom prst="rect">
            <a:avLst/>
          </a:prstGeom>
          <a:noFill/>
        </p:spPr>
        <p:txBody>
          <a:bodyPr wrap="square">
            <a:spAutoFit/>
          </a:bodyPr>
          <a:lstStyle/>
          <a:p>
            <a:pPr algn="l"/>
            <a:r>
              <a:rPr sz="1200" b="0" i="0">
                <a:solidFill>
                  <a:srgbClr val="333344"/>
                </a:solidFill>
                <a:latin typeface="Segoe UI"/>
              </a:rPr>
              <a:t>Equation file lives in OneDrive — updates are automatically available to all team members.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3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88952" cy="45720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079992" y="0"/>
            <a:ext cx="3108960" cy="6400800"/>
          </a:xfrm>
          <a:prstGeom prst="rect">
            <a:avLst/>
          </a:prstGeom>
          <a:solidFill>
            <a:srgbClr val="2544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79992" y="0"/>
            <a:ext cx="50292" cy="6400800"/>
          </a:xfrm>
          <a:prstGeom prst="rect">
            <a:avLst/>
          </a:prstGeom>
          <a:solidFill>
            <a:srgbClr val="F5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22960"/>
            <a:ext cx="7772400" cy="640080"/>
          </a:xfrm>
          <a:prstGeom prst="rect">
            <a:avLst/>
          </a:prstGeom>
          <a:noFill/>
        </p:spPr>
        <p:txBody>
          <a:bodyPr wrap="square">
            <a:spAutoFit/>
          </a:bodyPr>
          <a:lstStyle/>
          <a:p>
            <a:pPr algn="l"/>
            <a:r>
              <a:rPr sz="4000" b="1" i="0">
                <a:solidFill>
                  <a:srgbClr val="FFFFFF"/>
                </a:solidFill>
                <a:latin typeface="Segoe UI"/>
              </a:rPr>
              <a:t>Summary</a:t>
            </a:r>
          </a:p>
        </p:txBody>
      </p:sp>
      <p:sp>
        <p:nvSpPr>
          <p:cNvPr id="7" name="TextBox 6"/>
          <p:cNvSpPr txBox="1"/>
          <p:nvPr/>
        </p:nvSpPr>
        <p:spPr>
          <a:xfrm>
            <a:off x="640080" y="1463040"/>
            <a:ext cx="7772400" cy="365760"/>
          </a:xfrm>
          <a:prstGeom prst="rect">
            <a:avLst/>
          </a:prstGeom>
          <a:noFill/>
        </p:spPr>
        <p:txBody>
          <a:bodyPr wrap="square">
            <a:spAutoFit/>
          </a:bodyPr>
          <a:lstStyle/>
          <a:p>
            <a:pPr algn="l"/>
            <a:r>
              <a:rPr sz="1500" b="0" i="1">
                <a:solidFill>
                  <a:srgbClr val="F5A000"/>
                </a:solidFill>
                <a:latin typeface="Segoe UI"/>
              </a:rPr>
              <a:t>What the Amidel eTender Scraper delivers</a:t>
            </a:r>
          </a:p>
        </p:txBody>
      </p:sp>
      <p:sp>
        <p:nvSpPr>
          <p:cNvPr id="8" name="TextBox 7"/>
          <p:cNvSpPr txBox="1"/>
          <p:nvPr/>
        </p:nvSpPr>
        <p:spPr>
          <a:xfrm>
            <a:off x="777240" y="2057400"/>
            <a:ext cx="7772400" cy="502920"/>
          </a:xfrm>
          <a:prstGeom prst="rect">
            <a:avLst/>
          </a:prstGeom>
          <a:noFill/>
        </p:spPr>
        <p:txBody>
          <a:bodyPr wrap="square">
            <a:spAutoFit/>
          </a:bodyPr>
          <a:lstStyle/>
          <a:p>
            <a:pPr algn="l"/>
            <a:r>
              <a:rPr sz="1400" b="0" i="0">
                <a:solidFill>
                  <a:srgbClr val="FFFFFF"/>
                </a:solidFill>
                <a:latin typeface="Segoe UI"/>
              </a:rPr>
              <a:t>✓  Saves hours of manual tender checking every batch week</a:t>
            </a:r>
          </a:p>
        </p:txBody>
      </p:sp>
      <p:sp>
        <p:nvSpPr>
          <p:cNvPr id="9" name="TextBox 8"/>
          <p:cNvSpPr txBox="1"/>
          <p:nvPr/>
        </p:nvSpPr>
        <p:spPr>
          <a:xfrm>
            <a:off x="777240" y="2624328"/>
            <a:ext cx="7772400" cy="502920"/>
          </a:xfrm>
          <a:prstGeom prst="rect">
            <a:avLst/>
          </a:prstGeom>
          <a:noFill/>
        </p:spPr>
        <p:txBody>
          <a:bodyPr wrap="square">
            <a:spAutoFit/>
          </a:bodyPr>
          <a:lstStyle/>
          <a:p>
            <a:pPr algn="l"/>
            <a:r>
              <a:rPr sz="1400" b="0" i="0">
                <a:solidFill>
                  <a:srgbClr val="FFFFFF"/>
                </a:solidFill>
                <a:latin typeface="Segoe UI"/>
              </a:rPr>
              <a:t>✓  Produces consistently formatted, audit-ready Excel files</a:t>
            </a:r>
          </a:p>
        </p:txBody>
      </p:sp>
      <p:sp>
        <p:nvSpPr>
          <p:cNvPr id="10" name="TextBox 9"/>
          <p:cNvSpPr txBox="1"/>
          <p:nvPr/>
        </p:nvSpPr>
        <p:spPr>
          <a:xfrm>
            <a:off x="777240" y="3191256"/>
            <a:ext cx="7772400" cy="502920"/>
          </a:xfrm>
          <a:prstGeom prst="rect">
            <a:avLst/>
          </a:prstGeom>
          <a:noFill/>
        </p:spPr>
        <p:txBody>
          <a:bodyPr wrap="square">
            <a:spAutoFit/>
          </a:bodyPr>
          <a:lstStyle/>
          <a:p>
            <a:pPr algn="l"/>
            <a:r>
              <a:rPr sz="1400" b="0" i="0">
                <a:solidFill>
                  <a:srgbClr val="FFFFFF"/>
                </a:solidFill>
                <a:latin typeface="Segoe UI"/>
              </a:rPr>
              <a:t>✓  Tracks NNT / ICT / RFQ counts across 6 rolling batches</a:t>
            </a:r>
          </a:p>
        </p:txBody>
      </p:sp>
      <p:sp>
        <p:nvSpPr>
          <p:cNvPr id="11" name="TextBox 10"/>
          <p:cNvSpPr txBox="1"/>
          <p:nvPr/>
        </p:nvSpPr>
        <p:spPr>
          <a:xfrm>
            <a:off x="777240" y="3758184"/>
            <a:ext cx="7772400" cy="502920"/>
          </a:xfrm>
          <a:prstGeom prst="rect">
            <a:avLst/>
          </a:prstGeom>
          <a:noFill/>
        </p:spPr>
        <p:txBody>
          <a:bodyPr wrap="square">
            <a:spAutoFit/>
          </a:bodyPr>
          <a:lstStyle/>
          <a:p>
            <a:pPr algn="l"/>
            <a:r>
              <a:rPr sz="1400" b="0" i="0">
                <a:solidFill>
                  <a:srgbClr val="FFFFFF"/>
                </a:solidFill>
                <a:latin typeface="Segoe UI"/>
              </a:rPr>
              <a:t>✓  Monitors 25 departments and organs of state automatically</a:t>
            </a:r>
          </a:p>
        </p:txBody>
      </p:sp>
      <p:sp>
        <p:nvSpPr>
          <p:cNvPr id="12" name="TextBox 11"/>
          <p:cNvSpPr txBox="1"/>
          <p:nvPr/>
        </p:nvSpPr>
        <p:spPr>
          <a:xfrm>
            <a:off x="777240" y="4325112"/>
            <a:ext cx="7772400" cy="502920"/>
          </a:xfrm>
          <a:prstGeom prst="rect">
            <a:avLst/>
          </a:prstGeom>
          <a:noFill/>
        </p:spPr>
        <p:txBody>
          <a:bodyPr wrap="square">
            <a:spAutoFit/>
          </a:bodyPr>
          <a:lstStyle/>
          <a:p>
            <a:pPr algn="l"/>
            <a:r>
              <a:rPr sz="1400" b="0" i="0">
                <a:solidFill>
                  <a:srgbClr val="FFFFFF"/>
                </a:solidFill>
                <a:latin typeface="Segoe UI"/>
              </a:rPr>
              <a:t>✓  One-click operation — no technical knowledge required</a:t>
            </a:r>
          </a:p>
        </p:txBody>
      </p:sp>
      <p:sp>
        <p:nvSpPr>
          <p:cNvPr id="13" name="TextBox 12"/>
          <p:cNvSpPr txBox="1"/>
          <p:nvPr/>
        </p:nvSpPr>
        <p:spPr>
          <a:xfrm>
            <a:off x="777240" y="4892040"/>
            <a:ext cx="7772400" cy="502920"/>
          </a:xfrm>
          <a:prstGeom prst="rect">
            <a:avLst/>
          </a:prstGeom>
          <a:noFill/>
        </p:spPr>
        <p:txBody>
          <a:bodyPr wrap="square">
            <a:spAutoFit/>
          </a:bodyPr>
          <a:lstStyle/>
          <a:p>
            <a:pPr algn="l"/>
            <a:r>
              <a:rPr sz="1400" b="0" i="0">
                <a:solidFill>
                  <a:srgbClr val="FFFFFF"/>
                </a:solidFill>
                <a:latin typeface="Segoe UI"/>
              </a:rPr>
              <a:t>✓  Runs on any Windows machine with Chrome installed</a:t>
            </a:r>
          </a:p>
        </p:txBody>
      </p:sp>
      <p:sp>
        <p:nvSpPr>
          <p:cNvPr id="14" name="TextBox 13"/>
          <p:cNvSpPr txBox="1"/>
          <p:nvPr/>
        </p:nvSpPr>
        <p:spPr>
          <a:xfrm>
            <a:off x="9262872" y="1371600"/>
            <a:ext cx="2743200" cy="1005840"/>
          </a:xfrm>
          <a:prstGeom prst="rect">
            <a:avLst/>
          </a:prstGeom>
          <a:noFill/>
        </p:spPr>
        <p:txBody>
          <a:bodyPr wrap="square">
            <a:spAutoFit/>
          </a:bodyPr>
          <a:lstStyle/>
          <a:p>
            <a:pPr algn="ctr"/>
            <a:r>
              <a:rPr sz="2200" b="1" i="0">
                <a:solidFill>
                  <a:srgbClr val="FFFFFF"/>
                </a:solidFill>
                <a:latin typeface="Segoe UI"/>
              </a:rPr>
              <a:t>Get
Started</a:t>
            </a:r>
          </a:p>
        </p:txBody>
      </p:sp>
      <p:sp>
        <p:nvSpPr>
          <p:cNvPr id="15" name="TextBox 14"/>
          <p:cNvSpPr txBox="1"/>
          <p:nvPr/>
        </p:nvSpPr>
        <p:spPr>
          <a:xfrm>
            <a:off x="9308592" y="2468880"/>
            <a:ext cx="2651760" cy="2743200"/>
          </a:xfrm>
          <a:prstGeom prst="rect">
            <a:avLst/>
          </a:prstGeom>
          <a:noFill/>
        </p:spPr>
        <p:txBody>
          <a:bodyPr wrap="square">
            <a:spAutoFit/>
          </a:bodyPr>
          <a:lstStyle/>
          <a:p>
            <a:pPr algn="l">
              <a:spcBef>
                <a:spcPts val="600"/>
              </a:spcBef>
            </a:pPr>
            <a:r>
              <a:rPr sz="1100" b="1">
                <a:solidFill>
                  <a:srgbClr val="F5A000"/>
                </a:solidFill>
                <a:latin typeface="Consolas"/>
              </a:rPr>
              <a:t>1.  pip install -r requirements.txt</a:t>
            </a:r>
          </a:p>
          <a:p>
            <a:pPr algn="l">
              <a:spcBef>
                <a:spcPts val="600"/>
              </a:spcBef>
            </a:pPr>
            <a:r>
              <a:rPr sz="1100" b="0">
                <a:solidFill>
                  <a:srgbClr val="E0E4EE"/>
                </a:solidFill>
                <a:latin typeface="Consolas"/>
              </a:rPr>
              <a:t>2.  python main.py</a:t>
            </a:r>
          </a:p>
          <a:p>
            <a:pPr algn="l">
              <a:spcBef>
                <a:spcPts val="600"/>
              </a:spcBef>
            </a:pPr>
            <a:r>
              <a:rPr sz="1100" b="0">
                <a:solidFill>
                  <a:srgbClr val="E0E4EE"/>
                </a:solidFill>
                <a:latin typeface="Segoe UI"/>
              </a:rPr>
              <a:t>3.  Pick batch type &amp; week</a:t>
            </a:r>
          </a:p>
          <a:p>
            <a:pPr algn="l">
              <a:spcBef>
                <a:spcPts val="600"/>
              </a:spcBef>
            </a:pPr>
            <a:r>
              <a:rPr sz="1100" b="0">
                <a:solidFill>
                  <a:srgbClr val="E0E4EE"/>
                </a:solidFill>
                <a:latin typeface="Segoe UI"/>
              </a:rPr>
              <a:t>4.  Click Run Scraper</a:t>
            </a:r>
          </a:p>
        </p:txBody>
      </p:sp>
      <p:sp>
        <p:nvSpPr>
          <p:cNvPr id="16" name="TextBox 15"/>
          <p:cNvSpPr txBox="1"/>
          <p:nvPr/>
        </p:nvSpPr>
        <p:spPr>
          <a:xfrm>
            <a:off x="640080" y="6437376"/>
            <a:ext cx="8229600" cy="365760"/>
          </a:xfrm>
          <a:prstGeom prst="rect">
            <a:avLst/>
          </a:prstGeom>
          <a:noFill/>
        </p:spPr>
        <p:txBody>
          <a:bodyPr wrap="square">
            <a:spAutoFit/>
          </a:bodyPr>
          <a:lstStyle/>
          <a:p>
            <a:pPr algn="l"/>
            <a:r>
              <a:rPr sz="1000" b="0" i="0">
                <a:solidFill>
                  <a:srgbClr val="FFFFFF"/>
                </a:solidFill>
                <a:latin typeface="Segoe UI"/>
              </a:rPr>
              <a:t>Amidel (Pty) Ltd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